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205faab5fcd495c" /><Relationship Type="http://schemas.openxmlformats.org/officeDocument/2006/relationships/extended-properties" Target="/docProps/app.xml" Id="R37e7f96e2fc84941" /><Relationship Type="http://schemas.openxmlformats.org/officeDocument/2006/relationships/officeDocument" Target="/ppt/presentation.xml" Id="R04e08f3e0580465e" /></Relationships>
</file>

<file path=ppt/presentation.xml><?xml version="1.0" encoding="utf-8"?>
<p:presentation xmlns:p="http://schemas.openxmlformats.org/presentationml/2006/main">
  <p:sldMasterIdLst>
    <p:sldMasterId xmlns:r="http://schemas.openxmlformats.org/officeDocument/2006/relationships" id="2147483648" r:id="Recd9444655ab499e"/>
  </p:sldMasterIdLst>
  <p:notesMasterIdLst>
    <p:notesMasterId xmlns:r="http://schemas.openxmlformats.org/officeDocument/2006/relationships" r:id="R355ec138ebf84610"/>
  </p:notesMasterIdLst>
  <p:sldIdLst>
    <p:sldId xmlns:r="http://schemas.openxmlformats.org/officeDocument/2006/relationships" id="256" r:id="Rdfd72492d5cd41e1"/>
    <p:sldId xmlns:r="http://schemas.openxmlformats.org/officeDocument/2006/relationships" id="257" r:id="R5b4f5e7d0c7f4c4a"/>
    <p:sldId xmlns:r="http://schemas.openxmlformats.org/officeDocument/2006/relationships" id="258" r:id="R0870b9872f17408f"/>
    <p:sldId xmlns:r="http://schemas.openxmlformats.org/officeDocument/2006/relationships" id="259" r:id="R119489ab03004a27"/>
    <p:sldId xmlns:r="http://schemas.openxmlformats.org/officeDocument/2006/relationships" id="260" r:id="R1ea6f4984e134896"/>
    <p:sldId xmlns:r="http://schemas.openxmlformats.org/officeDocument/2006/relationships" id="261" r:id="R7344478ebfa24ef0"/>
    <p:sldId xmlns:r="http://schemas.openxmlformats.org/officeDocument/2006/relationships" id="262" r:id="R4f9432d7ebc5459f"/>
    <p:sldId xmlns:r="http://schemas.openxmlformats.org/officeDocument/2006/relationships" id="263" r:id="R81d0e4806ad14d17"/>
    <p:sldId xmlns:r="http://schemas.openxmlformats.org/officeDocument/2006/relationships" id="264" r:id="Ra2b07d1f62df4f90"/>
    <p:sldId xmlns:r="http://schemas.openxmlformats.org/officeDocument/2006/relationships" id="265" r:id="R1713330515794cbe"/>
    <p:sldId xmlns:r="http://schemas.openxmlformats.org/officeDocument/2006/relationships" id="266" r:id="R35c4a2777a45455d"/>
    <p:sldId xmlns:r="http://schemas.openxmlformats.org/officeDocument/2006/relationships" id="267" r:id="R13cd09b023404d7f"/>
    <p:sldId xmlns:r="http://schemas.openxmlformats.org/officeDocument/2006/relationships" id="268" r:id="R1e72cdcfc5db4288"/>
    <p:sldId xmlns:r="http://schemas.openxmlformats.org/officeDocument/2006/relationships" id="269" r:id="R3320a657013b4c8a"/>
    <p:sldId xmlns:r="http://schemas.openxmlformats.org/officeDocument/2006/relationships" id="270" r:id="R8fae12d6cc0744ed"/>
    <p:sldId xmlns:r="http://schemas.openxmlformats.org/officeDocument/2006/relationships" id="271" r:id="Ra86c2b8e18894596"/>
    <p:sldId xmlns:r="http://schemas.openxmlformats.org/officeDocument/2006/relationships" id="272" r:id="Rea846123efb24910"/>
    <p:sldId xmlns:r="http://schemas.openxmlformats.org/officeDocument/2006/relationships" id="273" r:id="R62ab1b72718e4a17"/>
    <p:sldId xmlns:r="http://schemas.openxmlformats.org/officeDocument/2006/relationships" id="274" r:id="R37338727fae94661"/>
    <p:sldId xmlns:r="http://schemas.openxmlformats.org/officeDocument/2006/relationships" id="275" r:id="R6d487d02366040b8"/>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f507124291f44d4" /><Relationship Type="http://schemas.openxmlformats.org/officeDocument/2006/relationships/slideMaster" Target="/ppt/slideMasters/slideMaster1.xml" Id="Recd9444655ab499e" /><Relationship Type="http://schemas.openxmlformats.org/officeDocument/2006/relationships/notesMaster" Target="/ppt/notesMasters/notesMaster1.xml" Id="R355ec138ebf84610" /><Relationship Type="http://schemas.openxmlformats.org/officeDocument/2006/relationships/presProps" Target="/ppt/presProps.xml" Id="R8cc59f6b6a2a4b0e" /><Relationship Type="http://schemas.openxmlformats.org/officeDocument/2006/relationships/viewProps" Target="/ppt/viewProps.xml" Id="Rb38e196c0d614b02" /><Relationship Type="http://schemas.openxmlformats.org/officeDocument/2006/relationships/tableStyles" Target="/ppt/tableStyles.xml" Id="Rd3dc270e51f1409b" /><Relationship Type="http://schemas.openxmlformats.org/officeDocument/2006/relationships/slide" Target="/ppt/slides/slide1.xml" Id="Rdfd72492d5cd41e1" /><Relationship Type="http://schemas.openxmlformats.org/officeDocument/2006/relationships/slide" Target="/ppt/slides/slide2.xml" Id="R5b4f5e7d0c7f4c4a" /><Relationship Type="http://schemas.openxmlformats.org/officeDocument/2006/relationships/slide" Target="/ppt/slides/slide3.xml" Id="R0870b9872f17408f" /><Relationship Type="http://schemas.openxmlformats.org/officeDocument/2006/relationships/slide" Target="/ppt/slides/slide4.xml" Id="R119489ab03004a27" /><Relationship Type="http://schemas.openxmlformats.org/officeDocument/2006/relationships/slide" Target="/ppt/slides/slide5.xml" Id="R1ea6f4984e134896" /><Relationship Type="http://schemas.openxmlformats.org/officeDocument/2006/relationships/slide" Target="/ppt/slides/slide6.xml" Id="R7344478ebfa24ef0" /><Relationship Type="http://schemas.openxmlformats.org/officeDocument/2006/relationships/slide" Target="/ppt/slides/slide7.xml" Id="R4f9432d7ebc5459f" /><Relationship Type="http://schemas.openxmlformats.org/officeDocument/2006/relationships/slide" Target="/ppt/slides/slide8.xml" Id="R81d0e4806ad14d17" /><Relationship Type="http://schemas.openxmlformats.org/officeDocument/2006/relationships/slide" Target="/ppt/slides/slide9.xml" Id="Ra2b07d1f62df4f90" /><Relationship Type="http://schemas.openxmlformats.org/officeDocument/2006/relationships/slide" Target="/ppt/slides/slide10.xml" Id="R1713330515794cbe" /><Relationship Type="http://schemas.openxmlformats.org/officeDocument/2006/relationships/slide" Target="/ppt/slides/slide11.xml" Id="R35c4a2777a45455d" /><Relationship Type="http://schemas.openxmlformats.org/officeDocument/2006/relationships/slide" Target="/ppt/slides/slide12.xml" Id="R13cd09b023404d7f" /><Relationship Type="http://schemas.openxmlformats.org/officeDocument/2006/relationships/slide" Target="/ppt/slides/slide13.xml" Id="R1e72cdcfc5db4288" /><Relationship Type="http://schemas.openxmlformats.org/officeDocument/2006/relationships/slide" Target="/ppt/slides/slide14.xml" Id="R3320a657013b4c8a" /><Relationship Type="http://schemas.openxmlformats.org/officeDocument/2006/relationships/slide" Target="/ppt/slides/slide15.xml" Id="R8fae12d6cc0744ed" /><Relationship Type="http://schemas.openxmlformats.org/officeDocument/2006/relationships/slide" Target="/ppt/slides/slide16.xml" Id="Ra86c2b8e18894596" /><Relationship Type="http://schemas.openxmlformats.org/officeDocument/2006/relationships/slide" Target="/ppt/slides/slide17.xml" Id="Rea846123efb24910" /><Relationship Type="http://schemas.openxmlformats.org/officeDocument/2006/relationships/slide" Target="/ppt/slides/slide18.xml" Id="R62ab1b72718e4a17" /><Relationship Type="http://schemas.openxmlformats.org/officeDocument/2006/relationships/slide" Target="/ppt/slides/slide19.xml" Id="R37338727fae94661" /><Relationship Type="http://schemas.openxmlformats.org/officeDocument/2006/relationships/slide" Target="/ppt/slides/slide20.xml" Id="R6d487d02366040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495218d9a144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47337973c149d7" /><Relationship Type="http://schemas.openxmlformats.org/officeDocument/2006/relationships/notesMaster" Target="/ppt/notesMasters/notesMaster1.xml" Id="Rd3251f0fd1d540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8bce2a1baa4a08" /><Relationship Type="http://schemas.openxmlformats.org/officeDocument/2006/relationships/notesMaster" Target="/ppt/notesMasters/notesMaster1.xml" Id="Rf281049fd05a48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8127bf166c4730" /><Relationship Type="http://schemas.openxmlformats.org/officeDocument/2006/relationships/notesMaster" Target="/ppt/notesMasters/notesMaster1.xml" Id="R4f89fbea8a434a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013023a1044767" /><Relationship Type="http://schemas.openxmlformats.org/officeDocument/2006/relationships/notesMaster" Target="/ppt/notesMasters/notesMaster1.xml" Id="R45f3ed05bcc141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f6fdc518274c70" /><Relationship Type="http://schemas.openxmlformats.org/officeDocument/2006/relationships/notesMaster" Target="/ppt/notesMasters/notesMaster1.xml" Id="R6a706a8a34d642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72825cbb8a415a" /><Relationship Type="http://schemas.openxmlformats.org/officeDocument/2006/relationships/notesMaster" Target="/ppt/notesMasters/notesMaster1.xml" Id="R1652627200ab4b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ca350935004c8d" /><Relationship Type="http://schemas.openxmlformats.org/officeDocument/2006/relationships/notesMaster" Target="/ppt/notesMasters/notesMaster1.xml" Id="R80f59e337ee84f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ee62df4ba04937" /><Relationship Type="http://schemas.openxmlformats.org/officeDocument/2006/relationships/notesMaster" Target="/ppt/notesMasters/notesMaster1.xml" Id="Rf0c30894c2dd4c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f17c93eded48a4" /><Relationship Type="http://schemas.openxmlformats.org/officeDocument/2006/relationships/notesMaster" Target="/ppt/notesMasters/notesMaster1.xml" Id="R690af8bc7c504a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df927a9165408b" /><Relationship Type="http://schemas.openxmlformats.org/officeDocument/2006/relationships/notesMaster" Target="/ppt/notesMasters/notesMaster1.xml" Id="Rda207627d61c46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7de43c1637407d" /><Relationship Type="http://schemas.openxmlformats.org/officeDocument/2006/relationships/notesMaster" Target="/ppt/notesMasters/notesMaster1.xml" Id="Rbe49eea4d548403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c2dd9aabbb34214" /><Relationship Type="http://schemas.openxmlformats.org/officeDocument/2006/relationships/notesMaster" Target="/ppt/notesMasters/notesMaster1.xml" Id="R32f732300b394a7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957bc0a30fe4e16" /><Relationship Type="http://schemas.openxmlformats.org/officeDocument/2006/relationships/notesMaster" Target="/ppt/notesMasters/notesMaster1.xml" Id="R62c1fb3e66f54f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f91e07e44e4ec7" /><Relationship Type="http://schemas.openxmlformats.org/officeDocument/2006/relationships/notesMaster" Target="/ppt/notesMasters/notesMaster1.xml" Id="R7ca0201d99c04f4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73ed0fa320e4e1a" /><Relationship Type="http://schemas.openxmlformats.org/officeDocument/2006/relationships/notesMaster" Target="/ppt/notesMasters/notesMaster1.xml" Id="Re558fa28b65c409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21f1561d771482d" /><Relationship Type="http://schemas.openxmlformats.org/officeDocument/2006/relationships/notesMaster" Target="/ppt/notesMasters/notesMaster1.xml" Id="R4146f4540f89459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d726e6cf6f41bd" /><Relationship Type="http://schemas.openxmlformats.org/officeDocument/2006/relationships/notesMaster" Target="/ppt/notesMasters/notesMaster1.xml" Id="Rbd57c3d015d1458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572e3b3e3d548a0" /><Relationship Type="http://schemas.openxmlformats.org/officeDocument/2006/relationships/notesMaster" Target="/ppt/notesMasters/notesMaster1.xml" Id="R4153f0116014467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85b0f6524c64996" /><Relationship Type="http://schemas.openxmlformats.org/officeDocument/2006/relationships/notesMaster" Target="/ppt/notesMasters/notesMaster1.xml" Id="Rc2f907d939544e3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b1fc843d1de4623" /><Relationship Type="http://schemas.openxmlformats.org/officeDocument/2006/relationships/notesMaster" Target="/ppt/notesMasters/notesMaster1.xml" Id="Rbc63cc6b47934e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project implementation and evaluation metadata; reference numbers match the full project report. Detailed speaker notes are supplied as a separate Word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8690c0d47a4a4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9e4e0e6953545e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6a5da58eacf4d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8be5623ba924aa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2b7e57f620346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dee2755c1ad4df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885e5a737e44e7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dcaf7ce76434e1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3af9fc320f842b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497df01632e408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8a0a10634c2417f"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E3D18BD-70AD-AFC6-0B39-017FAFD28BB4}"/>
              </a:ext>
            </a:extLst>
          </p:cNvPr>
          <p:cNvSpPr>
            <a:spLocks xmlns:a="http://schemas.openxmlformats.org/drawingml/2006/main" noGrp="1"/>
          </p:cNvSpPr>
          <p:nvPr>
            <p:ph type="ctrTitle" idx="0" hasCustomPrompt="1"/>
          </p:nvPr>
        </p:nvSpPr>
        <p:spPr>
          <a:xfrm xmlns:a="http://schemas.openxmlformats.org/drawingml/2006/main">
            <a:off x="526473" y="267855"/>
            <a:ext cx="11065163" cy="1348509"/>
          </a:xfrm>
        </p:spPr>
        <p:txBody>
          <a:bodyPr xmlns:a="http://schemas.openxmlformats.org/drawingml/2006/main" anchor="b"/>
          <a:lstStyle xmlns:a="http://schemas.openxmlformats.org/drawingml/2006/main">
            <a:lvl1pPr algn="ctr">
              <a:buNone/>
              <a:defRPr sz="2800">
                <a:latin typeface="Bookman Old Style"/>
                <a:ea typeface="Bookman Old Style"/>
                <a:cs typeface="Bookman Old Style"/>
              </a:defRPr>
            </a:lvl1pPr>
          </a:lstStyle>
          <a:p xmlns:a="http://schemas.openxmlformats.org/drawingml/2006/main">
            <a:r>
              <a:t>Title of the project</a:t>
            </a:r>
          </a:p>
        </p:txBody>
      </p:sp>
      <p:sp>
        <p:nvSpPr>
          <p:cNvPr id="4" name="Date Placeholder 3">
            <a:extLst xmlns:a="http://schemas.openxmlformats.org/drawingml/2006/main">
              <a:ext uri="{FF2B5EF4-FFF2-40B4-BE49-F238E27FC236}">
                <a16:creationId xmlns:a16="http://schemas.microsoft.com/office/drawing/2014/main" id="{A464B6FC-2EBA-32DA-4444-59F239AF93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C735CBE-52C8-4ECE-A4EA-7C44DF72E64B}" type="datetimeFigureOut">
              <a:t>23-10-2026</a:t>
            </a:fld>
            <a:endParaRPr/>
          </a:p>
        </p:txBody>
      </p:sp>
      <p:sp>
        <p:nvSpPr>
          <p:cNvPr id="5" name="Footer Placeholder 4">
            <a:extLst xmlns:a="http://schemas.openxmlformats.org/drawingml/2006/main">
              <a:ext uri="{FF2B5EF4-FFF2-40B4-BE49-F238E27FC236}">
                <a16:creationId xmlns:a16="http://schemas.microsoft.com/office/drawing/2014/main" id="{EEC9EEE7-5598-C67C-5A7E-699909EBCD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658B4B5-D33A-FB88-07A6-042713FE125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9539A9-7AB4-43B3-97E2-E7143D49A774}" type="slidenum">
              <a:t>‹#›</a:t>
            </a:fld>
            <a:endParaRPr/>
          </a:p>
        </p:txBody>
      </p:sp>
      <p:graphicFrame>
        <p:nvGraphicFramePr>
          <p:cNvPr id="7" name="Table 6">
            <a:extLst xmlns:a="http://schemas.openxmlformats.org/drawingml/2006/main">
              <a:ext uri="{FF2B5EF4-FFF2-40B4-BE49-F238E27FC236}">
                <a16:creationId xmlns:a16="http://schemas.microsoft.com/office/drawing/2014/main" id="{57D4BD4A-940F-4A69-A153-51D2C74BE13F}"/>
              </a:ext>
            </a:extLst>
          </p:cNvPr>
          <p:cNvGraphicFramePr/>
          <p:nvPr/>
        </p:nvGraphicFramePr>
        <p:xfrm>
          <a:off xmlns:a="http://schemas.openxmlformats.org/drawingml/2006/main" x="526472" y="2050877"/>
          <a:ext xmlns:a="http://schemas.openxmlformats.org/drawingml/2006/main" cx="11065163" cy="3870960"/>
        </p:xfrm>
        <a:graphic xmlns:a="http://schemas.openxmlformats.org/drawingml/2006/main">
          <a:graphicData uri="http://schemas.openxmlformats.org/drawingml/2006/table">
            <a:tbl>
              <a:tblPr firstRow="1" bandRow="1">
                <a:tableStyleId>{5940675A-B579-460E-94D1-54222C63F5DA}</a:tableStyleId>
              </a:tblPr>
              <a:tblGrid>
                <a:gridCol w="1708727"/>
                <a:gridCol w="3118812"/>
                <a:gridCol w="3118812"/>
                <a:gridCol w="3118812"/>
              </a:tblGrid>
              <a:tr h="370840">
                <a:tc>
                  <a:txBody>
                    <a:bodyPr/>
                    <a:lstStyle/>
                    <a:p>
                      <a:r>
                        <a:rPr sz="2000" b="1">
                          <a:latin typeface="Times New Roman"/>
                          <a:ea typeface="Times New Roman"/>
                          <a:cs typeface="Times New Roman"/>
                        </a:rPr>
                        <a:t>Batch No: 22</a:t>
                      </a:r>
                      <a:endParaRPr sz="2000" b="1">
                        <a:latin typeface="Times New Roman"/>
                        <a:ea typeface="Times New Roman"/>
                        <a:cs typeface="Times New Roman"/>
                      </a:endParaRPr>
                    </a:p>
                  </a:txBody>
                  <a:tcPr/>
                </a:tc>
                <a:tc>
                  <a:txBody>
                    <a:bodyPr/>
                    <a:lstStyle/>
                    <a:p>
                      <a:pPr algn="ctr">
                        <a:buNone/>
                      </a:pPr>
                      <a:r>
                        <a:rPr sz="2000" b="1">
                          <a:latin typeface="Times New Roman"/>
                          <a:ea typeface="Times New Roman"/>
                          <a:cs typeface="Times New Roman"/>
                        </a:rPr>
                        <a:t>Student 1</a:t>
                      </a:r>
                      <a:endParaRPr sz="2000" b="1">
                        <a:latin typeface="Times New Roman"/>
                        <a:ea typeface="Times New Roman"/>
                        <a:cs typeface="Times New Roman"/>
                      </a:endParaRPr>
                    </a:p>
                  </a:txBody>
                  <a:tcPr/>
                </a:tc>
                <a:tc>
                  <a:txBody>
                    <a:bodyPr/>
                    <a:lstStyle/>
                    <a:p>
                      <a:pPr algn="ctr">
                        <a:buNone/>
                      </a:pPr>
                      <a:r>
                        <a:rPr sz="2000" b="1">
                          <a:latin typeface="Times New Roman"/>
                          <a:ea typeface="Times New Roman"/>
                          <a:cs typeface="Times New Roman"/>
                        </a:rPr>
                        <a:t>Student 2</a:t>
                      </a:r>
                      <a:endParaRPr sz="2000" b="1">
                        <a:latin typeface="Times New Roman"/>
                        <a:ea typeface="Times New Roman"/>
                        <a:cs typeface="Times New Roman"/>
                      </a:endParaRPr>
                    </a:p>
                  </a:txBody>
                  <a:tcPr/>
                </a:tc>
                <a:tc>
                  <a:txBody>
                    <a:bodyPr/>
                    <a:lstStyle/>
                    <a:p>
                      <a:pPr algn="ctr">
                        <a:buNone/>
                      </a:pPr>
                      <a:r>
                        <a:rPr sz="2000" b="1">
                          <a:latin typeface="Times New Roman"/>
                          <a:ea typeface="Times New Roman"/>
                          <a:cs typeface="Times New Roman"/>
                        </a:rPr>
                        <a:t>Student 3</a:t>
                      </a:r>
                      <a:endParaRPr sz="2000" b="1">
                        <a:latin typeface="Times New Roman"/>
                        <a:ea typeface="Times New Roman"/>
                        <a:cs typeface="Times New Roman"/>
                      </a:endParaRPr>
                    </a:p>
                  </a:txBody>
                  <a:tcPr/>
                </a:tc>
              </a:tr>
              <a:tr h="370840">
                <a:tc>
                  <a:txBody>
                    <a:bodyPr/>
                    <a:lstStyle/>
                    <a:p>
                      <a:r>
                        <a:rPr sz="2000" b="1">
                          <a:latin typeface="Times New Roman"/>
                          <a:ea typeface="Times New Roman"/>
                          <a:cs typeface="Times New Roman"/>
                        </a:rPr>
                        <a:t>Name</a:t>
                      </a:r>
                      <a:endParaRPr sz="2000" b="1">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r>
              <a:tr h="370840">
                <a:tc>
                  <a:txBody>
                    <a:bodyPr/>
                    <a:lstStyle/>
                    <a:p>
                      <a:r>
                        <a:rPr sz="2000" b="1">
                          <a:latin typeface="Times New Roman"/>
                          <a:ea typeface="Times New Roman"/>
                          <a:cs typeface="Times New Roman"/>
                        </a:rPr>
                        <a:t>Reg. No</a:t>
                      </a:r>
                      <a:endParaRPr sz="2000" b="1">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r>
              <a:tr h="370840">
                <a:tc>
                  <a:txBody>
                    <a:bodyPr/>
                    <a:lstStyle/>
                    <a:p>
                      <a:r>
                        <a:rPr sz="2000" b="1">
                          <a:latin typeface="Times New Roman"/>
                          <a:ea typeface="Times New Roman"/>
                          <a:cs typeface="Times New Roman"/>
                        </a:rPr>
                        <a:t>S. No</a:t>
                      </a:r>
                      <a:endParaRPr sz="2000" b="1">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r>
              <a:tr h="370840">
                <a:tc>
                  <a:txBody>
                    <a:bodyPr/>
                    <a:lstStyle/>
                    <a:p>
                      <a:r>
                        <a:rPr sz="2000" b="1">
                          <a:latin typeface="Times New Roman"/>
                          <a:ea typeface="Times New Roman"/>
                          <a:cs typeface="Times New Roman"/>
                        </a:rPr>
                        <a:t>Branch</a:t>
                      </a:r>
                      <a:endParaRPr sz="2000" b="1">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r>
              <a:tr h="370840">
                <a:tc>
                  <a:txBody>
                    <a:bodyPr/>
                    <a:lstStyle/>
                    <a:p>
                      <a:r>
                        <a:rPr sz="2000" b="1">
                          <a:latin typeface="Times New Roman"/>
                          <a:ea typeface="Times New Roman"/>
                          <a:cs typeface="Times New Roman"/>
                        </a:rPr>
                        <a:t>Specialization</a:t>
                      </a:r>
                    </a:p>
                  </a:txBody>
                  <a:tcPr/>
                </a:tc>
                <a:tc>
                  <a:txBody>
                    <a:bodyPr/>
                    <a:lstStyle/>
                    <a:p>
                      <a:endParaRPr sz="2000">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r>
              <a:tr h="370840">
                <a:tc>
                  <a:txBody>
                    <a:bodyPr/>
                    <a:lstStyle/>
                    <a:p>
                      <a:r>
                        <a:rPr sz="2000" b="1">
                          <a:latin typeface="Times New Roman"/>
                          <a:ea typeface="Times New Roman"/>
                          <a:cs typeface="Times New Roman"/>
                        </a:rPr>
                        <a:t>Section</a:t>
                      </a:r>
                      <a:endParaRPr sz="2000" b="1">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r>
              <a:tr h="370840">
                <a:tc>
                  <a:txBody>
                    <a:bodyPr/>
                    <a:lstStyle/>
                    <a:p>
                      <a:r>
                        <a:rPr sz="2000" b="1">
                          <a:latin typeface="Times New Roman"/>
                          <a:ea typeface="Times New Roman"/>
                          <a:cs typeface="Times New Roman"/>
                        </a:rPr>
                        <a:t>SRM email ID</a:t>
                      </a:r>
                      <a:endParaRPr sz="2000" b="1">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r>
              <a:tr h="370840">
                <a:tc>
                  <a:txBody>
                    <a:bodyPr/>
                    <a:lstStyle/>
                    <a:p>
                      <a:r>
                        <a:rPr sz="2000" b="1">
                          <a:latin typeface="Times New Roman"/>
                          <a:ea typeface="Times New Roman"/>
                          <a:cs typeface="Times New Roman"/>
                        </a:rPr>
                        <a:t>Mobile No</a:t>
                      </a:r>
                      <a:endParaRPr sz="2000" b="1">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c>
                  <a:txBody>
                    <a:bodyPr/>
                    <a:lstStyle/>
                    <a:p>
                      <a:endParaRPr sz="2000">
                        <a:latin typeface="Times New Roman"/>
                        <a:ea typeface="Times New Roman"/>
                        <a:cs typeface="Times New Roman"/>
                      </a:endParaRPr>
                    </a:p>
                  </a:txBody>
                  <a:tcPr/>
                </a:tc>
              </a:tr>
            </a:tbl>
          </a:graphicData>
        </a:graphic>
      </p:graphicFrame>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5C6C525-3B90-D76C-A090-FB4C8595EE06}"/>
              </a:ext>
            </a:extLst>
          </p:cNvPr>
          <p:cNvSpPr>
            <a:spLocks xmlns:a="http://schemas.openxmlformats.org/drawingml/2006/main" noGrp="1"/>
          </p:cNvSpPr>
          <p:nvPr>
            <p:ph type="title" idx="0"/>
          </p:nvPr>
        </p:nvSpPr>
        <p:spPr>
          <a:xfrm xmlns:a="http://schemas.openxmlformats.org/drawingml/2006/main">
            <a:off x="387927" y="275431"/>
            <a:ext cx="11379200" cy="900257"/>
          </a:xfrm>
        </p:spPr>
        <p:txBody>
          <a:bodyPr xmlns:a="http://schemas.openxmlformats.org/drawingml/2006/main"/>
          <a:lstStyle xmlns:a="http://schemas.openxmlformats.org/drawingml/2006/main">
            <a:lvl1pPr>
              <a:buNone/>
              <a:defRPr>
                <a:latin typeface="Bookman Old Style"/>
                <a:ea typeface="Bookman Old Style"/>
                <a:cs typeface="Bookman Old Style"/>
              </a:defRPr>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FC9D717-39B8-8C59-B927-2704FD267909}"/>
              </a:ext>
            </a:extLst>
          </p:cNvPr>
          <p:cNvSpPr>
            <a:spLocks xmlns:a="http://schemas.openxmlformats.org/drawingml/2006/main" noGrp="1"/>
          </p:cNvSpPr>
          <p:nvPr>
            <p:ph idx="1"/>
          </p:nvPr>
        </p:nvSpPr>
        <p:spPr>
          <a:xfrm xmlns:a="http://schemas.openxmlformats.org/drawingml/2006/main">
            <a:off x="387927" y="1265382"/>
            <a:ext cx="11379200" cy="4911581"/>
          </a:xfrm>
        </p:spPr>
        <p:txBody>
          <a:bodyPr xmlns:a="http://schemas.openxmlformats.org/drawingml/2006/main"/>
          <a:lstStyle xmlns:a="http://schemas.openxmlformats.org/drawingml/2006/main">
            <a:lvl1pPr>
              <a:buFont typeface="+mj-lt"/>
              <a:buNone/>
              <a:defRPr>
                <a:latin typeface="Times New Roman"/>
                <a:ea typeface="Times New Roman"/>
                <a:cs typeface="Times New Roman"/>
              </a:defRPr>
            </a:lvl1pPr>
            <a:lvl2pPr>
              <a:buFont typeface="+mj-lt"/>
              <a:buNone/>
              <a:defRPr>
                <a:latin typeface="Times New Roman"/>
                <a:ea typeface="Times New Roman"/>
                <a:cs typeface="Times New Roman"/>
              </a:defRPr>
            </a:lvl2pPr>
            <a:lvl3pPr>
              <a:buFont typeface="+mj-lt"/>
              <a:buNone/>
              <a:defRPr>
                <a:latin typeface="Times New Roman"/>
                <a:ea typeface="Times New Roman"/>
                <a:cs typeface="Times New Roman"/>
              </a:defRPr>
            </a:lvl3pPr>
            <a:lvl4pPr>
              <a:buFont typeface="+mj-lt"/>
              <a:buNone/>
              <a:defRPr>
                <a:latin typeface="Times New Roman"/>
                <a:ea typeface="Times New Roman"/>
                <a:cs typeface="Times New Roman"/>
              </a:defRPr>
            </a:lvl4pPr>
            <a:lvl5pPr>
              <a:buFont typeface="+mj-lt"/>
              <a:buNone/>
              <a:defRPr>
                <a:latin typeface="Times New Roman"/>
                <a:ea typeface="Times New Roman"/>
                <a:cs typeface="Times New Roman"/>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943EC87-F215-839C-CA49-3B38E526442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C735CBE-52C8-4ECE-A4EA-7C44DF72E64B}" type="datetimeFigureOut">
              <a:t>23-10-2026</a:t>
            </a:fld>
            <a:endParaRPr/>
          </a:p>
        </p:txBody>
      </p:sp>
      <p:sp>
        <p:nvSpPr>
          <p:cNvPr id="5" name="Footer Placeholder 4">
            <a:extLst xmlns:a="http://schemas.openxmlformats.org/drawingml/2006/main">
              <a:ext uri="{FF2B5EF4-FFF2-40B4-BE49-F238E27FC236}">
                <a16:creationId xmlns:a16="http://schemas.microsoft.com/office/drawing/2014/main" id="{931C9032-EC2C-9BBE-3A24-75A99D83AF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CA07AF5-1837-CA02-1723-3CA587BA0C9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9539A9-7AB4-43B3-97E2-E7143D49A774}"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DEEC1B4-268C-997E-8DA4-25D24EF70640}"/>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D25D70A-39B1-8360-E88B-6908C493E81D}"/>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6C6746A-6461-E5CC-9554-26D86F7C52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C735CBE-52C8-4ECE-A4EA-7C44DF72E64B}" type="datetimeFigureOut">
              <a:t>23-10-2026</a:t>
            </a:fld>
            <a:endParaRPr/>
          </a:p>
        </p:txBody>
      </p:sp>
      <p:sp>
        <p:nvSpPr>
          <p:cNvPr id="5" name="Footer Placeholder 4">
            <a:extLst xmlns:a="http://schemas.openxmlformats.org/drawingml/2006/main">
              <a:ext uri="{FF2B5EF4-FFF2-40B4-BE49-F238E27FC236}">
                <a16:creationId xmlns:a16="http://schemas.microsoft.com/office/drawing/2014/main" id="{F0931EC1-4573-540C-60E4-68547DEFB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3979A89-F206-0FA5-F01E-909B1FB953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9539A9-7AB4-43B3-97E2-E7143D49A774}"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DDFE9B4-EE73-59FC-B644-A16F8827C30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0A39D0A2-5815-B700-83F2-39836011B5F2}"/>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CB58C5E4-6DC9-9463-002D-10EF4CD4395B}"/>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C5BFD97-03BF-F7EC-F7E1-85BFAA7292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C735CBE-52C8-4ECE-A4EA-7C44DF72E64B}" type="datetimeFigureOut">
              <a:t>23-10-2026</a:t>
            </a:fld>
            <a:endParaRPr/>
          </a:p>
        </p:txBody>
      </p:sp>
      <p:sp>
        <p:nvSpPr>
          <p:cNvPr id="6" name="Footer Placeholder 5">
            <a:extLst xmlns:a="http://schemas.openxmlformats.org/drawingml/2006/main">
              <a:ext uri="{FF2B5EF4-FFF2-40B4-BE49-F238E27FC236}">
                <a16:creationId xmlns:a16="http://schemas.microsoft.com/office/drawing/2014/main" id="{E8A58744-35D9-DCB8-AEC3-84E65F712C4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EF94469-BD17-C3AB-54C8-6B7D959874C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9539A9-7AB4-43B3-97E2-E7143D49A774}"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C66509F-4201-43E2-EBF4-88CED7B5C868}"/>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DDAE382-155E-06DC-2443-F9EB5413E0D4}"/>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4611F241-C40E-40C7-2349-121999E98E03}"/>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97E7F04C-943C-87BE-C946-6E4183EAC88B}"/>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2F1115DF-4309-0FA9-5731-7CD985ACF8E6}"/>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B838AE8D-B6C8-26F2-6C57-68C24BD9928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C735CBE-52C8-4ECE-A4EA-7C44DF72E64B}" type="datetimeFigureOut">
              <a:t>23-10-2026</a:t>
            </a:fld>
            <a:endParaRPr/>
          </a:p>
        </p:txBody>
      </p:sp>
      <p:sp>
        <p:nvSpPr>
          <p:cNvPr id="8" name="Footer Placeholder 7">
            <a:extLst xmlns:a="http://schemas.openxmlformats.org/drawingml/2006/main">
              <a:ext uri="{FF2B5EF4-FFF2-40B4-BE49-F238E27FC236}">
                <a16:creationId xmlns:a16="http://schemas.microsoft.com/office/drawing/2014/main" id="{50F48782-A34E-CEC2-CEBE-0B3130A3531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2F9FBFD6-2EFF-49DF-92AC-26788ED60B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9539A9-7AB4-43B3-97E2-E7143D49A77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910D704-DA34-E81D-DA34-FC49D4A8266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B52E3830-9B26-BC94-3F98-3F6884266E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C735CBE-52C8-4ECE-A4EA-7C44DF72E64B}" type="datetimeFigureOut">
              <a:t>23-10-2026</a:t>
            </a:fld>
            <a:endParaRPr/>
          </a:p>
        </p:txBody>
      </p:sp>
      <p:sp>
        <p:nvSpPr>
          <p:cNvPr id="4" name="Footer Placeholder 3">
            <a:extLst xmlns:a="http://schemas.openxmlformats.org/drawingml/2006/main">
              <a:ext uri="{FF2B5EF4-FFF2-40B4-BE49-F238E27FC236}">
                <a16:creationId xmlns:a16="http://schemas.microsoft.com/office/drawing/2014/main" id="{7501E1B4-443B-DA9F-8FC3-1633C8DDC30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3021004-A0A5-2AB3-5D71-34971AD096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9539A9-7AB4-43B3-97E2-E7143D49A774}"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735C8F98-3547-D744-940B-4C31B6E692B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C735CBE-52C8-4ECE-A4EA-7C44DF72E64B}" type="datetimeFigureOut">
              <a:t>23-10-2026</a:t>
            </a:fld>
            <a:endParaRPr/>
          </a:p>
        </p:txBody>
      </p:sp>
      <p:sp>
        <p:nvSpPr>
          <p:cNvPr id="3" name="Footer Placeholder 2">
            <a:extLst xmlns:a="http://schemas.openxmlformats.org/drawingml/2006/main">
              <a:ext uri="{FF2B5EF4-FFF2-40B4-BE49-F238E27FC236}">
                <a16:creationId xmlns:a16="http://schemas.microsoft.com/office/drawing/2014/main" id="{142EDA92-C260-7BAE-40A7-7F65C8F97F9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98FC9EC3-14EA-0C9C-69B2-306FF5A858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9539A9-7AB4-43B3-97E2-E7143D49A774}"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33B4F0-02AC-97C8-0C99-B819E0849A07}"/>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8BD1D1A-6CD6-55E4-A624-7DB7309C29A6}"/>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2D26A11D-891D-05C6-B1CD-16B08226F3F1}"/>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ADF5B3A-C094-A685-CCC1-CB8AB0E1980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C735CBE-52C8-4ECE-A4EA-7C44DF72E64B}" type="datetimeFigureOut">
              <a:t>23-10-2026</a:t>
            </a:fld>
            <a:endParaRPr/>
          </a:p>
        </p:txBody>
      </p:sp>
      <p:sp>
        <p:nvSpPr>
          <p:cNvPr id="6" name="Footer Placeholder 5">
            <a:extLst xmlns:a="http://schemas.openxmlformats.org/drawingml/2006/main">
              <a:ext uri="{FF2B5EF4-FFF2-40B4-BE49-F238E27FC236}">
                <a16:creationId xmlns:a16="http://schemas.microsoft.com/office/drawing/2014/main" id="{3709FAA6-645A-4751-BCB6-84DC29CBCA9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A97419B-CD64-7D88-5248-C692C26162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9539A9-7AB4-43B3-97E2-E7143D49A774}"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A2DA0E3-BD56-A9EC-A4B2-15A463A790D9}"/>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C1A6CC18-4723-09AD-4ADD-1DE13FF28645}"/>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333E1C0B-E34A-87CF-47DD-E7B0C25B1330}"/>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E5BCF35-D503-1BF8-3279-C75482C650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C735CBE-52C8-4ECE-A4EA-7C44DF72E64B}" type="datetimeFigureOut">
              <a:t>23-10-2026</a:t>
            </a:fld>
            <a:endParaRPr/>
          </a:p>
        </p:txBody>
      </p:sp>
      <p:sp>
        <p:nvSpPr>
          <p:cNvPr id="6" name="Footer Placeholder 5">
            <a:extLst xmlns:a="http://schemas.openxmlformats.org/drawingml/2006/main">
              <a:ext uri="{FF2B5EF4-FFF2-40B4-BE49-F238E27FC236}">
                <a16:creationId xmlns:a16="http://schemas.microsoft.com/office/drawing/2014/main" id="{BE38AFCC-2421-21BC-F515-F4A009DE00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85CA31A-A552-54F1-C9D1-D7D49D404F3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9539A9-7AB4-43B3-97E2-E7143D49A774}"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FF2BA29-4F9D-728E-3854-F2D05BDA3B8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4061C91-5429-C2B5-C111-A33C14481AF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401B8B9-95EB-3726-25C3-AA7409CA0DC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C735CBE-52C8-4ECE-A4EA-7C44DF72E64B}" type="datetimeFigureOut">
              <a:t>23-10-2026</a:t>
            </a:fld>
            <a:endParaRPr/>
          </a:p>
        </p:txBody>
      </p:sp>
      <p:sp>
        <p:nvSpPr>
          <p:cNvPr id="5" name="Footer Placeholder 4">
            <a:extLst xmlns:a="http://schemas.openxmlformats.org/drawingml/2006/main">
              <a:ext uri="{FF2B5EF4-FFF2-40B4-BE49-F238E27FC236}">
                <a16:creationId xmlns:a16="http://schemas.microsoft.com/office/drawing/2014/main" id="{6DF268E8-E78E-6F27-E533-6AE9542AD24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740F336-549C-819E-6A3C-8465182599F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9539A9-7AB4-43B3-97E2-E7143D49A774}"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71BA095-54CD-571E-7812-F1E94C8F8227}"/>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EEB5FB26-783C-31D2-6F9B-A26DF9BF8495}"/>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38D4379-3B2C-6916-9D2B-D44FE756172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C735CBE-52C8-4ECE-A4EA-7C44DF72E64B}" type="datetimeFigureOut">
              <a:t>23-10-2026</a:t>
            </a:fld>
            <a:endParaRPr/>
          </a:p>
        </p:txBody>
      </p:sp>
      <p:sp>
        <p:nvSpPr>
          <p:cNvPr id="5" name="Footer Placeholder 4">
            <a:extLst xmlns:a="http://schemas.openxmlformats.org/drawingml/2006/main">
              <a:ext uri="{FF2B5EF4-FFF2-40B4-BE49-F238E27FC236}">
                <a16:creationId xmlns:a16="http://schemas.microsoft.com/office/drawing/2014/main" id="{4DB54D11-DD41-D9F3-63C7-81CE5F116D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25EEF6F-05ED-6F9C-2F92-77ADAE1F5F9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B9539A9-7AB4-43B3-97E2-E7143D49A77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f2406623e84a45" /><Relationship Type="http://schemas.openxmlformats.org/officeDocument/2006/relationships/slideLayout" Target="/ppt/slideLayouts/slideLayout1.xml" Id="Ref840d35b1b3483e" /><Relationship Type="http://schemas.openxmlformats.org/officeDocument/2006/relationships/slideLayout" Target="/ppt/slideLayouts/slideLayout2.xml" Id="Reaf4b43f53bd4330" /><Relationship Type="http://schemas.openxmlformats.org/officeDocument/2006/relationships/slideLayout" Target="/ppt/slideLayouts/slideLayout3.xml" Id="R412a6e07d3494f61" /><Relationship Type="http://schemas.openxmlformats.org/officeDocument/2006/relationships/slideLayout" Target="/ppt/slideLayouts/slideLayout4.xml" Id="Rbf3c3d57f0374dca" /><Relationship Type="http://schemas.openxmlformats.org/officeDocument/2006/relationships/slideLayout" Target="/ppt/slideLayouts/slideLayout5.xml" Id="R910cf006726a4791" /><Relationship Type="http://schemas.openxmlformats.org/officeDocument/2006/relationships/slideLayout" Target="/ppt/slideLayouts/slideLayout6.xml" Id="R162f5fbef7d1434d" /><Relationship Type="http://schemas.openxmlformats.org/officeDocument/2006/relationships/slideLayout" Target="/ppt/slideLayouts/slideLayout7.xml" Id="Rbd4d81f3ff5842e6" /><Relationship Type="http://schemas.openxmlformats.org/officeDocument/2006/relationships/slideLayout" Target="/ppt/slideLayouts/slideLayout8.xml" Id="R35cf555de4fc434f" /><Relationship Type="http://schemas.openxmlformats.org/officeDocument/2006/relationships/slideLayout" Target="/ppt/slideLayouts/slideLayout9.xml" Id="Red576ae38d824d1b" /><Relationship Type="http://schemas.openxmlformats.org/officeDocument/2006/relationships/slideLayout" Target="/ppt/slideLayouts/slideLayout10.xml" Id="R6d26b015e46c49dd" /><Relationship Type="http://schemas.openxmlformats.org/officeDocument/2006/relationships/slideLayout" Target="/ppt/slideLayouts/slideLayout11.xml" Id="R5d2a68b8b7a34eb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9B05D4B-A498-A497-03EE-D8AE49C2A23B}"/>
              </a:ext>
            </a:extLst>
          </p:cNvPr>
          <p:cNvSpPr>
            <a:spLocks xmlns:a="http://schemas.openxmlformats.org/drawingml/2006/main" noGrp="1"/>
          </p:cNvSpPr>
          <p:nvPr>
            <p:ph type="title" idx="0"/>
          </p:nvPr>
        </p:nvSpPr>
        <p:spPr>
          <a:xfrm xmlns:a="http://schemas.openxmlformats.org/drawingml/2006/main">
            <a:off x="369455" y="275431"/>
            <a:ext cx="11490036" cy="900257"/>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167D6B4-BB9D-5841-F803-C7DC66182390}"/>
              </a:ext>
            </a:extLst>
          </p:cNvPr>
          <p:cNvSpPr>
            <a:spLocks xmlns:a="http://schemas.openxmlformats.org/drawingml/2006/main" noGrp="1"/>
          </p:cNvSpPr>
          <p:nvPr>
            <p:ph type="body" idx="1"/>
          </p:nvPr>
        </p:nvSpPr>
        <p:spPr>
          <a:xfrm xmlns:a="http://schemas.openxmlformats.org/drawingml/2006/main">
            <a:off x="369455" y="1265382"/>
            <a:ext cx="11490036" cy="4911581"/>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CD06F01-546D-F76F-E845-DD962E780E0E}"/>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6C735CBE-52C8-4ECE-A4EA-7C44DF72E64B}" type="datetimeFigureOut">
              <a:t>23-10-2026</a:t>
            </a:fld>
            <a:endParaRPr/>
          </a:p>
        </p:txBody>
      </p:sp>
      <p:sp>
        <p:nvSpPr>
          <p:cNvPr id="5" name="Footer Placeholder 4">
            <a:extLst xmlns:a="http://schemas.openxmlformats.org/drawingml/2006/main">
              <a:ext uri="{FF2B5EF4-FFF2-40B4-BE49-F238E27FC236}">
                <a16:creationId xmlns:a16="http://schemas.microsoft.com/office/drawing/2014/main" id="{3B9AF7E1-3212-ECA3-5334-A45284DFAA12}"/>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C03C22E-6A60-E505-E096-45B0A6653D97}"/>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AB9539A9-7AB4-43B3-97E2-E7143D49A774}"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840d35b1b3483e"/>
    <p:sldLayoutId xmlns:r="http://schemas.openxmlformats.org/officeDocument/2006/relationships" id="2147483650" r:id="Reaf4b43f53bd4330"/>
    <p:sldLayoutId xmlns:r="http://schemas.openxmlformats.org/officeDocument/2006/relationships" id="2147483651" r:id="R412a6e07d3494f61"/>
    <p:sldLayoutId xmlns:r="http://schemas.openxmlformats.org/officeDocument/2006/relationships" id="2147483652" r:id="Rbf3c3d57f0374dca"/>
    <p:sldLayoutId xmlns:r="http://schemas.openxmlformats.org/officeDocument/2006/relationships" id="2147483653" r:id="R910cf006726a4791"/>
    <p:sldLayoutId xmlns:r="http://schemas.openxmlformats.org/officeDocument/2006/relationships" id="2147483654" r:id="R162f5fbef7d1434d"/>
    <p:sldLayoutId xmlns:r="http://schemas.openxmlformats.org/officeDocument/2006/relationships" id="2147483655" r:id="Rbd4d81f3ff5842e6"/>
    <p:sldLayoutId xmlns:r="http://schemas.openxmlformats.org/officeDocument/2006/relationships" id="2147483656" r:id="R35cf555de4fc434f"/>
    <p:sldLayoutId xmlns:r="http://schemas.openxmlformats.org/officeDocument/2006/relationships" id="2147483657" r:id="Red576ae38d824d1b"/>
    <p:sldLayoutId xmlns:r="http://schemas.openxmlformats.org/officeDocument/2006/relationships" id="2147483658" r:id="R6d26b015e46c49dd"/>
    <p:sldLayoutId xmlns:r="http://schemas.openxmlformats.org/officeDocument/2006/relationships" id="2147483659" r:id="R5d2a68b8b7a34ebf"/>
  </p:sldLayoutIdLst>
  <p:txStyles>
    <p:titleStyle>
      <a:lvl1pPr xmlns:a="http://schemas.openxmlformats.org/drawingml/2006/main" algn="l" defTabSz="914400">
        <a:lnSpc>
          <a:spcPct val="90000"/>
        </a:lnSpc>
        <a:spcBef>
          <a:spcPct val="0"/>
        </a:spcBef>
        <a:buNone/>
        <a:defRPr sz="2400" b="1" kern="1200">
          <a:solidFill>
            <a:srgbClr val="0070C0"/>
          </a:solidFill>
          <a:latin typeface="+mj-lt"/>
          <a:ea typeface="+mj-lt"/>
          <a:cs typeface="+mj-lt"/>
        </a:defRPr>
      </a:lvl1pPr>
    </p:titleStyle>
    <p:bodyStyle>
      <a:lvl1pPr xmlns:a="http://schemas.openxmlformats.org/drawingml/2006/main" marL="228600" indent="-228600" algn="just" defTabSz="914400">
        <a:lnSpc>
          <a:spcPct val="90000"/>
        </a:lnSpc>
        <a:spcBef>
          <a:spcPts val="1000"/>
        </a:spcBef>
        <a:buFont typeface="Arial"/>
        <a:buChar char="•"/>
        <a:defRPr sz="2000" kern="1200">
          <a:solidFill>
            <a:schemeClr val="tx1"/>
          </a:solidFill>
          <a:latin typeface="+mn-lt"/>
          <a:ea typeface="+mn-lt"/>
          <a:cs typeface="+mn-lt"/>
        </a:defRPr>
      </a:lvl1pPr>
      <a:lvl2pPr xmlns:a="http://schemas.openxmlformats.org/drawingml/2006/main" marL="685800" indent="-228600" algn="just"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just"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just" defTabSz="914400">
        <a:lnSpc>
          <a:spcPct val="90000"/>
        </a:lnSpc>
        <a:spcBef>
          <a:spcPts val="500"/>
        </a:spcBef>
        <a:buFont typeface="Arial"/>
        <a:buChar char="•"/>
        <a:defRPr sz="2000" kern="1200">
          <a:solidFill>
            <a:schemeClr val="tx1"/>
          </a:solidFill>
          <a:latin typeface="+mn-lt"/>
          <a:ea typeface="+mn-lt"/>
          <a:cs typeface="+mn-lt"/>
        </a:defRPr>
      </a:lvl4pPr>
      <a:lvl5pPr xmlns:a="http://schemas.openxmlformats.org/drawingml/2006/main" marL="2057400" indent="-228600" algn="just" defTabSz="914400">
        <a:lnSpc>
          <a:spcPct val="90000"/>
        </a:lnSpc>
        <a:spcBef>
          <a:spcPts val="5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5a5daf31933a48f7" /><Relationship Type="http://schemas.openxmlformats.org/officeDocument/2006/relationships/notesSlide" Target="/ppt/notesSlides/notesSlide1.xml" Id="R5f549e26f3dd41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93f3737b2c149f2" /><Relationship Type="http://schemas.openxmlformats.org/officeDocument/2006/relationships/notesSlide" Target="/ppt/notesSlides/notesSlide2.xml" Id="Rc117caf083b04b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c41fc566d394ecf" /><Relationship Type="http://schemas.openxmlformats.org/officeDocument/2006/relationships/notesSlide" Target="/ppt/notesSlides/notesSlide3.xml" Id="R36012593e3c646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e1a3403edb54beb" /><Relationship Type="http://schemas.openxmlformats.org/officeDocument/2006/relationships/notesSlide" Target="/ppt/notesSlides/notesSlide4.xml" Id="Rd171c1f3d2b84d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595d03d83884ea5" /><Relationship Type="http://schemas.openxmlformats.org/officeDocument/2006/relationships/notesSlide" Target="/ppt/notesSlides/notesSlide5.xml" Id="R9522538c3fa64d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074546875a84bfa" /><Relationship Type="http://schemas.openxmlformats.org/officeDocument/2006/relationships/notesSlide" Target="/ppt/notesSlides/notesSlide6.xml" Id="R3952be441dea45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8b485f6e61941dd" /><Relationship Type="http://schemas.openxmlformats.org/officeDocument/2006/relationships/notesSlide" Target="/ppt/notesSlides/notesSlide7.xml" Id="R8399c1e06a034d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39be330a451b4893" /><Relationship Type="http://schemas.openxmlformats.org/officeDocument/2006/relationships/notesSlide" Target="/ppt/notesSlides/notesSlide8.xml" Id="R54aa378fc26a4d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9305cab56f484a80" /><Relationship Type="http://schemas.openxmlformats.org/officeDocument/2006/relationships/notesSlide" Target="/ppt/notesSlides/notesSlide9.xml" Id="R665948afc7b840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b12ffb2689c4ca1" /><Relationship Type="http://schemas.openxmlformats.org/officeDocument/2006/relationships/notesSlide" Target="/ppt/notesSlides/notesSlide10.xml" Id="R3ce00d3f4db848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cf6e4065c24b43f5" /><Relationship Type="http://schemas.openxmlformats.org/officeDocument/2006/relationships/notesSlide" Target="/ppt/notesSlides/notesSlide11.xml" Id="R3d1ab123ab1446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f4ebb7a359e4426e" /><Relationship Type="http://schemas.openxmlformats.org/officeDocument/2006/relationships/notesSlide" Target="/ppt/notesSlides/notesSlide12.xml" Id="R591f1e93f7a345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a3dd2b5a8f044775" /><Relationship Type="http://schemas.openxmlformats.org/officeDocument/2006/relationships/chart" Target="/ppt/slides/charts/chart1.xml" Id="Rd41ed317ec5f496c" /><Relationship Type="http://schemas.openxmlformats.org/officeDocument/2006/relationships/notesSlide" Target="/ppt/notesSlides/notesSlide13.xml" Id="R373bf3e11a794a4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42bc3b5b27b34756" /><Relationship Type="http://schemas.openxmlformats.org/officeDocument/2006/relationships/notesSlide" Target="/ppt/notesSlides/notesSlide14.xml" Id="R45aabe91c68b41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972b87a5248e438a" /><Relationship Type="http://schemas.openxmlformats.org/officeDocument/2006/relationships/notesSlide" Target="/ppt/notesSlides/notesSlide15.xml" Id="R02a70af8a12746a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bdb6f12755c48ce" /><Relationship Type="http://schemas.openxmlformats.org/officeDocument/2006/relationships/notesSlide" Target="/ppt/notesSlides/notesSlide16.xml" Id="R8959b4628db443a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eb65f22f0d294e65" /><Relationship Type="http://schemas.openxmlformats.org/officeDocument/2006/relationships/notesSlide" Target="/ppt/notesSlides/notesSlide17.xml" Id="R77678832176a43d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3da2c75cc7924c5d" /><Relationship Type="http://schemas.openxmlformats.org/officeDocument/2006/relationships/notesSlide" Target="/ppt/notesSlides/notesSlide18.xml" Id="Raeeb99c949f948f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0501913aa66b4c73" /><Relationship Type="http://schemas.openxmlformats.org/officeDocument/2006/relationships/notesSlide" Target="/ppt/notesSlides/notesSlide19.xml" Id="R048897f06b4c483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580872df1bed484c" /><Relationship Type="http://schemas.openxmlformats.org/officeDocument/2006/relationships/notesSlide" Target="/ppt/notesSlides/notesSlide20.xml" Id="Rfeb78414afc4490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Noise-free nominal simulator</c:v>
          </c:tx>
          <c:spPr>
            <a:ln xmlns:a="http://schemas.openxmlformats.org/drawingml/2006/main" w="19050">
              <a:solidFill>
                <a:srgbClr val="777777"/>
              </a:solidFill>
            </a:ln>
          </c:spPr>
          <c:marker>
            <c:symbol val="none"/>
          </c:marker>
          <c:cat>
            <c:numRef>
              <c:f>'Chart Data'!$A$2:$A$47</c:f>
              <c:numCache>
                <c:formatCode>General</c:formatCode>
                <c:ptCount val="4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numCache>
            </c:numRef>
          </c:cat>
          <c:val>
            <c:numRef>
              <c:f>'Chart Data'!$B$2:$B$47</c:f>
              <c:numCache>
                <c:formatCode>General</c:formatCode>
                <c:ptCount val="46"/>
                <c:pt idx="0">
                  <c:v>801.5575</c:v>
                </c:pt>
                <c:pt idx="1">
                  <c:v>777.4777</c:v>
                </c:pt>
                <c:pt idx="2">
                  <c:v>716.4115</c:v>
                </c:pt>
                <c:pt idx="3">
                  <c:v>640.2385</c:v>
                </c:pt>
                <c:pt idx="4">
                  <c:v>565.2678</c:v>
                </c:pt>
                <c:pt idx="5">
                  <c:v>498.7048</c:v>
                </c:pt>
                <c:pt idx="6">
                  <c:v>442.11</c:v>
                </c:pt>
                <c:pt idx="7">
                  <c:v>394.6967</c:v>
                </c:pt>
                <c:pt idx="8">
                  <c:v>355.0233</c:v>
                </c:pt>
                <c:pt idx="9">
                  <c:v>321.6576</c:v>
                </c:pt>
                <c:pt idx="10">
                  <c:v>293.3786</c:v>
                </c:pt>
                <c:pt idx="11">
                  <c:v>269.2026</c:v>
                </c:pt>
                <c:pt idx="12">
                  <c:v>248.3537</c:v>
                </c:pt>
                <c:pt idx="13">
                  <c:v>230.224</c:v>
                </c:pt>
                <c:pt idx="14">
                  <c:v>214.3357</c:v>
                </c:pt>
                <c:pt idx="15">
                  <c:v>200.3117</c:v>
                </c:pt>
                <c:pt idx="16">
                  <c:v>187.8519</c:v>
                </c:pt>
                <c:pt idx="17">
                  <c:v>176.7154</c:v>
                </c:pt>
                <c:pt idx="18">
                  <c:v>166.7075</c:v>
                </c:pt>
                <c:pt idx="19">
                  <c:v>157.6692</c:v>
                </c:pt>
                <c:pt idx="20">
                  <c:v>149.4696</c:v>
                </c:pt>
                <c:pt idx="21">
                  <c:v>142.0005</c:v>
                </c:pt>
                <c:pt idx="22">
                  <c:v>135.1713</c:v>
                </c:pt>
                <c:pt idx="23">
                  <c:v>128.9057</c:v>
                </c:pt>
                <c:pt idx="24">
                  <c:v>123.1394</c:v>
                </c:pt>
                <c:pt idx="25">
                  <c:v>117.8173</c:v>
                </c:pt>
                <c:pt idx="26">
                  <c:v>112.8925</c:v>
                </c:pt>
                <c:pt idx="27">
                  <c:v>108.3241</c:v>
                </c:pt>
                <c:pt idx="28">
                  <c:v>104.0772</c:v>
                </c:pt>
                <c:pt idx="29">
                  <c:v>100.121</c:v>
                </c:pt>
                <c:pt idx="30">
                  <c:v>96.4287</c:v>
                </c:pt>
                <c:pt idx="31">
                  <c:v>92.9768</c:v>
                </c:pt>
                <c:pt idx="32">
                  <c:v>89.7444</c:v>
                </c:pt>
                <c:pt idx="33">
                  <c:v>86.7132</c:v>
                </c:pt>
                <c:pt idx="34">
                  <c:v>83.8667</c:v>
                </c:pt>
                <c:pt idx="35">
                  <c:v>81.1904</c:v>
                </c:pt>
                <c:pt idx="36">
                  <c:v>78.671</c:v>
                </c:pt>
                <c:pt idx="37">
                  <c:v>76.2968</c:v>
                </c:pt>
                <c:pt idx="38">
                  <c:v>74.0573</c:v>
                </c:pt>
                <c:pt idx="39">
                  <c:v>71.9428</c:v>
                </c:pt>
                <c:pt idx="40">
                  <c:v>69.9447</c:v>
                </c:pt>
                <c:pt idx="41">
                  <c:v>68.055</c:v>
                </c:pt>
                <c:pt idx="42">
                  <c:v>66.2666</c:v>
                </c:pt>
                <c:pt idx="43">
                  <c:v>64.5729</c:v>
                </c:pt>
                <c:pt idx="44">
                  <c:v>62.968</c:v>
                </c:pt>
                <c:pt idx="45">
                  <c:v>61.4463</c:v>
                </c:pt>
              </c:numCache>
            </c:numRef>
          </c:val>
        </c:ser>
        <c:ser>
          <c:idx val="1"/>
          <c:order val="1"/>
          <c:tx>
            <c:v>Random Forest surrogate</c:v>
          </c:tx>
          <c:spPr>
            <a:ln xmlns:a="http://schemas.openxmlformats.org/drawingml/2006/main" w="19050">
              <a:solidFill>
                <a:srgbClr val="0070C0"/>
              </a:solidFill>
            </a:ln>
          </c:spPr>
          <c:marker>
            <c:symbol val="none"/>
          </c:marker>
          <c:cat>
            <c:numRef>
              <c:f>'Chart Data'!$C$2:$C$47</c:f>
              <c:numCache>
                <c:formatCode>General</c:formatCode>
                <c:ptCount val="4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numCache>
            </c:numRef>
          </c:cat>
          <c:val>
            <c:numRef>
              <c:f>'Chart Data'!$D$2:$D$47</c:f>
              <c:numCache>
                <c:formatCode>General</c:formatCode>
                <c:ptCount val="46"/>
                <c:pt idx="0">
                  <c:v>756.0729</c:v>
                </c:pt>
                <c:pt idx="1">
                  <c:v>755.2137</c:v>
                </c:pt>
                <c:pt idx="2">
                  <c:v>714.5365</c:v>
                </c:pt>
                <c:pt idx="3">
                  <c:v>643.4445</c:v>
                </c:pt>
                <c:pt idx="4">
                  <c:v>572.5728</c:v>
                </c:pt>
                <c:pt idx="5">
                  <c:v>481.1972</c:v>
                </c:pt>
                <c:pt idx="6">
                  <c:v>444.4728</c:v>
                </c:pt>
                <c:pt idx="7">
                  <c:v>419.9721</c:v>
                </c:pt>
                <c:pt idx="8">
                  <c:v>356.9238</c:v>
                </c:pt>
                <c:pt idx="9">
                  <c:v>316.4132</c:v>
                </c:pt>
                <c:pt idx="10">
                  <c:v>291.4967</c:v>
                </c:pt>
                <c:pt idx="11">
                  <c:v>265.612</c:v>
                </c:pt>
                <c:pt idx="12">
                  <c:v>229.1632</c:v>
                </c:pt>
                <c:pt idx="13">
                  <c:v>226.6272</c:v>
                </c:pt>
                <c:pt idx="14">
                  <c:v>217.125</c:v>
                </c:pt>
                <c:pt idx="15">
                  <c:v>193.2228</c:v>
                </c:pt>
                <c:pt idx="16">
                  <c:v>184.6876</c:v>
                </c:pt>
                <c:pt idx="17">
                  <c:v>179.8034</c:v>
                </c:pt>
                <c:pt idx="18">
                  <c:v>170.1861</c:v>
                </c:pt>
                <c:pt idx="19">
                  <c:v>156.0629</c:v>
                </c:pt>
                <c:pt idx="20">
                  <c:v>148.6802</c:v>
                </c:pt>
                <c:pt idx="21">
                  <c:v>142.7603</c:v>
                </c:pt>
                <c:pt idx="22">
                  <c:v>141.147</c:v>
                </c:pt>
                <c:pt idx="23">
                  <c:v>129.8332</c:v>
                </c:pt>
                <c:pt idx="24">
                  <c:v>123.948</c:v>
                </c:pt>
                <c:pt idx="25">
                  <c:v>116.7919</c:v>
                </c:pt>
                <c:pt idx="26">
                  <c:v>117.4549</c:v>
                </c:pt>
                <c:pt idx="27">
                  <c:v>111.3234</c:v>
                </c:pt>
                <c:pt idx="28">
                  <c:v>103.1833</c:v>
                </c:pt>
                <c:pt idx="29">
                  <c:v>101.3927</c:v>
                </c:pt>
                <c:pt idx="30">
                  <c:v>99.7817</c:v>
                </c:pt>
                <c:pt idx="31">
                  <c:v>92.4906</c:v>
                </c:pt>
                <c:pt idx="32">
                  <c:v>87.8198</c:v>
                </c:pt>
                <c:pt idx="33">
                  <c:v>88.7248</c:v>
                </c:pt>
                <c:pt idx="34">
                  <c:v>83.4756</c:v>
                </c:pt>
                <c:pt idx="35">
                  <c:v>79.7326</c:v>
                </c:pt>
                <c:pt idx="36">
                  <c:v>78.4904</c:v>
                </c:pt>
                <c:pt idx="37">
                  <c:v>74.574</c:v>
                </c:pt>
                <c:pt idx="38">
                  <c:v>74.7302</c:v>
                </c:pt>
                <c:pt idx="39">
                  <c:v>73.1445</c:v>
                </c:pt>
                <c:pt idx="40">
                  <c:v>68.9838</c:v>
                </c:pt>
                <c:pt idx="41">
                  <c:v>68.7701</c:v>
                </c:pt>
                <c:pt idx="42">
                  <c:v>66.5337</c:v>
                </c:pt>
                <c:pt idx="43">
                  <c:v>64.7444</c:v>
                </c:pt>
                <c:pt idx="44">
                  <c:v>61.2377</c:v>
                </c:pt>
                <c:pt idx="45">
                  <c:v>60.8691</c:v>
                </c:pt>
              </c:numCache>
            </c:numRef>
          </c:val>
        </c:ser>
        <c:dLbls>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Fibre/load angle (degrees)</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Times New Roman"/>
                <a:ea typeface="Times New Roman"/>
                <a:cs typeface="Times New Roman"/>
              </a:defRPr>
            </a:pPr>
          </a:p>
        </c:txPr>
        <c:crossAx val="48672768"/>
      </c:catAx>
      <c:valAx>
        <c:axId val="48672768"/>
        <c:scaling>
          <c:orientation val="minMax"/>
          <c:min val="0"/>
        </c:scaling>
        <c:delete val="0"/>
        <c:axPos val="l"/>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Strength estimate (MPa)</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Times New Roman"/>
                <a:ea typeface="Times New Roman"/>
                <a:cs typeface="Times New Roman"/>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Times New Roman"/>
              <a:ea typeface="Times New Roman"/>
              <a:cs typeface="Times New Roman"/>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523875" y="285750"/>
            <a:ext cx="11144250" cy="1428750"/>
          </a:xfrm>
        </p:spPr>
        <p:txBody>
          <a:bodyPr xmlns:a="http://schemas.openxmlformats.org/drawingml/2006/main"/>
          <a:lstStyle xmlns:a="http://schemas.openxmlformats.org/drawingml/2006/main">
            <a:defPPr algn="ctr">
              <a:defRPr sz="2800" b="1">
                <a:solidFill>
                  <a:srgbClr val="0070C0"/>
                </a:solidFill>
                <a:latin typeface="Bookman Old Style"/>
                <a:ea typeface="Bookman Old Style"/>
                <a:cs typeface="Bookman Old Style"/>
              </a:defRPr>
            </a:defPPr>
            <a:lvl1pPr algn="ctr">
              <a:defRPr sz="2800" b="1">
                <a:solidFill>
                  <a:srgbClr val="0070C0"/>
                </a:solidFill>
                <a:latin typeface="Bookman Old Style"/>
                <a:ea typeface="Bookman Old Style"/>
                <a:cs typeface="Bookman Old Style"/>
              </a:defRPr>
            </a:lvl1pPr>
            <a:lvl2pPr algn="ctr">
              <a:defRPr sz="2800" b="1">
                <a:solidFill>
                  <a:srgbClr val="0070C0"/>
                </a:solidFill>
                <a:latin typeface="Bookman Old Style"/>
                <a:ea typeface="Bookman Old Style"/>
                <a:cs typeface="Bookman Old Style"/>
              </a:defRPr>
            </a:lvl2pPr>
            <a:lvl3pPr algn="ctr">
              <a:defRPr sz="2800" b="1">
                <a:solidFill>
                  <a:srgbClr val="0070C0"/>
                </a:solidFill>
                <a:latin typeface="Bookman Old Style"/>
                <a:ea typeface="Bookman Old Style"/>
                <a:cs typeface="Bookman Old Style"/>
              </a:defRPr>
            </a:lvl3pPr>
            <a:lvl4pPr algn="ctr">
              <a:defRPr sz="2800" b="1">
                <a:solidFill>
                  <a:srgbClr val="0070C0"/>
                </a:solidFill>
                <a:latin typeface="Bookman Old Style"/>
                <a:ea typeface="Bookman Old Style"/>
                <a:cs typeface="Bookman Old Style"/>
              </a:defRPr>
            </a:lvl4pPr>
            <a:lvl5pPr algn="ctr">
              <a:defRPr sz="2800" b="1">
                <a:solidFill>
                  <a:srgbClr val="0070C0"/>
                </a:solidFill>
                <a:latin typeface="Bookman Old Style"/>
                <a:ea typeface="Bookman Old Style"/>
                <a:cs typeface="Bookman Old Style"/>
              </a:defRPr>
            </a:lvl5pPr>
            <a:lvl6pPr algn="ctr">
              <a:defRPr sz="2800" b="1">
                <a:solidFill>
                  <a:srgbClr val="0070C0"/>
                </a:solidFill>
                <a:latin typeface="Bookman Old Style"/>
                <a:ea typeface="Bookman Old Style"/>
                <a:cs typeface="Bookman Old Style"/>
              </a:defRPr>
            </a:lvl6pPr>
            <a:lvl7pPr algn="ctr">
              <a:defRPr sz="2800" b="1">
                <a:solidFill>
                  <a:srgbClr val="0070C0"/>
                </a:solidFill>
                <a:latin typeface="Bookman Old Style"/>
                <a:ea typeface="Bookman Old Style"/>
                <a:cs typeface="Bookman Old Style"/>
              </a:defRPr>
            </a:lvl7pPr>
            <a:lvl8pPr algn="ctr">
              <a:defRPr sz="2800" b="1">
                <a:solidFill>
                  <a:srgbClr val="0070C0"/>
                </a:solidFill>
                <a:latin typeface="Bookman Old Style"/>
                <a:ea typeface="Bookman Old Style"/>
                <a:cs typeface="Bookman Old Style"/>
              </a:defRPr>
            </a:lvl8pPr>
            <a:lvl9pPr algn="ctr">
              <a:defRPr sz="2800" b="1">
                <a:solidFill>
                  <a:srgbClr val="0070C0"/>
                </a:solidFill>
                <a:latin typeface="Bookman Old Style"/>
                <a:ea typeface="Bookman Old Style"/>
                <a:cs typeface="Bookman Old Style"/>
              </a:defRPr>
            </a:lvl9pPr>
          </a:lstStyle>
          <a:p xmlns:a="http://schemas.openxmlformats.org/drawingml/2006/main">
            <a:pPr algn="ctr">
              <a:defRPr sz="2800" b="1">
                <a:solidFill>
                  <a:srgbClr val="0070C0"/>
                </a:solidFill>
                <a:latin typeface="Bookman Old Style"/>
                <a:ea typeface="Bookman Old Style"/>
                <a:cs typeface="Bookman Old Style"/>
              </a:defRPr>
            </a:pPr>
            <a:r>
              <a:rPr sz="2800" b="1">
                <a:solidFill>
                  <a:srgbClr val="0070C0"/>
                </a:solidFill>
                <a:latin typeface="Bookman Old Style"/>
                <a:ea typeface="Bookman Old Style"/>
                <a:cs typeface="Bookman Old Style"/>
              </a:rPr>
              <a:t>Defect-Aware ML for Predicting Tensile Strength of E-Glass/Epoxy Composites</a:t>
            </a:r>
            <a:endParaRPr/>
          </a:p>
        </p:txBody>
      </p:sp>
      <p:sp>
        <p:nvSpPr>
          <p:cNvPr id="3" name="">
            <a:extLst xmlns:a="http://schemas.openxmlformats.org/drawingml/2006/main">
              <a:ext uri="{FF2B5EF4-FFF2-40B4-BE49-F238E27FC236}">
                <a16:creationId xmlns:a16="http://schemas.microsoft.com/office/drawing/2014/main" id="{FED8A521-490F-4A79-8201-6930BAE60B96}"/>
              </a:ext>
            </a:extLst>
          </p:cNvPr>
          <p:cNvSpPr>
            <a:spLocks xmlns:a="http://schemas.openxmlformats.org/drawingml/2006/main" noGrp="1"/>
          </p:cNvSpPr>
          <p:nvPr/>
        </p:nvSpPr>
        <p:spPr>
          <a:xfrm xmlns:a="http://schemas.openxmlformats.org/drawingml/2006/main">
            <a:off x="571500" y="19050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000000"/>
                </a:solidFill>
                <a:latin typeface="Times New Roman"/>
                <a:ea typeface="Times New Roman"/>
                <a:cs typeface="Times New Roman"/>
              </a:defRPr>
            </a:defPPr>
            <a:lvl1pPr algn="ctr">
              <a:defRPr sz="1800" b="1">
                <a:solidFill>
                  <a:srgbClr val="000000"/>
                </a:solidFill>
                <a:latin typeface="Times New Roman"/>
                <a:ea typeface="Times New Roman"/>
                <a:cs typeface="Times New Roman"/>
              </a:defRPr>
            </a:lvl1pPr>
            <a:lvl2pPr algn="ctr">
              <a:defRPr sz="1800" b="1">
                <a:solidFill>
                  <a:srgbClr val="000000"/>
                </a:solidFill>
                <a:latin typeface="Times New Roman"/>
                <a:ea typeface="Times New Roman"/>
                <a:cs typeface="Times New Roman"/>
              </a:defRPr>
            </a:lvl2pPr>
            <a:lvl3pPr algn="ctr">
              <a:defRPr sz="1800" b="1">
                <a:solidFill>
                  <a:srgbClr val="000000"/>
                </a:solidFill>
                <a:latin typeface="Times New Roman"/>
                <a:ea typeface="Times New Roman"/>
                <a:cs typeface="Times New Roman"/>
              </a:defRPr>
            </a:lvl3pPr>
            <a:lvl4pPr algn="ctr">
              <a:defRPr sz="1800" b="1">
                <a:solidFill>
                  <a:srgbClr val="000000"/>
                </a:solidFill>
                <a:latin typeface="Times New Roman"/>
                <a:ea typeface="Times New Roman"/>
                <a:cs typeface="Times New Roman"/>
              </a:defRPr>
            </a:lvl4pPr>
            <a:lvl5pPr algn="ctr">
              <a:defRPr sz="1800" b="1">
                <a:solidFill>
                  <a:srgbClr val="000000"/>
                </a:solidFill>
                <a:latin typeface="Times New Roman"/>
                <a:ea typeface="Times New Roman"/>
                <a:cs typeface="Times New Roman"/>
              </a:defRPr>
            </a:lvl5pPr>
            <a:lvl6pPr algn="ctr">
              <a:defRPr sz="1800" b="1">
                <a:solidFill>
                  <a:srgbClr val="000000"/>
                </a:solidFill>
                <a:latin typeface="Times New Roman"/>
                <a:ea typeface="Times New Roman"/>
                <a:cs typeface="Times New Roman"/>
              </a:defRPr>
            </a:lvl6pPr>
            <a:lvl7pPr algn="ctr">
              <a:defRPr sz="1800" b="1">
                <a:solidFill>
                  <a:srgbClr val="000000"/>
                </a:solidFill>
                <a:latin typeface="Times New Roman"/>
                <a:ea typeface="Times New Roman"/>
                <a:cs typeface="Times New Roman"/>
              </a:defRPr>
            </a:lvl7pPr>
            <a:lvl8pPr algn="ctr">
              <a:defRPr sz="1800" b="1">
                <a:solidFill>
                  <a:srgbClr val="000000"/>
                </a:solidFill>
                <a:latin typeface="Times New Roman"/>
                <a:ea typeface="Times New Roman"/>
                <a:cs typeface="Times New Roman"/>
              </a:defRPr>
            </a:lvl8pPr>
            <a:lvl9pPr algn="ctr">
              <a:defRPr sz="1800" b="1">
                <a:solidFill>
                  <a:srgbClr val="000000"/>
                </a:solidFill>
                <a:latin typeface="Times New Roman"/>
                <a:ea typeface="Times New Roman"/>
                <a:cs typeface="Times New Roman"/>
              </a:defRPr>
            </a:lvl9pPr>
          </a:lstStyle>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SIMULATION-BASED PROTOTYPE</a:t>
            </a:r>
          </a:p>
        </p:txBody>
      </p:sp>
      <p:graphicFrame>
        <p:nvGraphicFramePr>
          <p:cNvPr id="4" name="">
            <a:extLst xmlns:a="http://schemas.openxmlformats.org/drawingml/2006/main">
              <a:ext uri="{FF2B5EF4-FFF2-40B4-BE49-F238E27FC236}">
                <a16:creationId xmlns:a16="http://schemas.microsoft.com/office/drawing/2014/main" id="{D395079E-ACED-4987-9D4C-F00D75747938}"/>
              </a:ext>
            </a:extLst>
          </p:cNvPr>
          <p:cNvGraphicFramePr/>
          <p:nvPr/>
        </p:nvGraphicFramePr>
        <p:xfrm>
          <a:off xmlns:a="http://schemas.openxmlformats.org/drawingml/2006/main" x="400050" y="2619375"/>
          <a:ext xmlns:a="http://schemas.openxmlformats.org/drawingml/2006/main" cx="11372850" cy="1428750"/>
        </p:xfrm>
        <a:graphic xmlns:a="http://schemas.openxmlformats.org/drawingml/2006/main">
          <a:graphicData uri="http://schemas.openxmlformats.org/drawingml/2006/table">
            <a:tbl>
              <a:tblPr firstRow="1" bandRow="0"/>
              <a:tblGrid>
                <a:gridCol w="5686425"/>
                <a:gridCol w="5686425"/>
              </a:tblGrid>
              <a:tr h="476250">
                <a:tc>
                  <a:txBody>
                    <a:bodyPr/>
                    <a:lstStyle/>
                    <a:p>
                      <a:pPr algn="l"/>
                      <a:r>
                        <a:rPr sz="2025" b="1">
                          <a:solidFill>
                            <a:srgbClr val="000000"/>
                          </a:solidFill>
                          <a:latin typeface="Times New Roman"/>
                          <a:ea typeface="Times New Roman"/>
                          <a:cs typeface="Times New Roman"/>
                        </a:rPr>
                        <a:t>Student</a:t>
                      </a:r>
                    </a:p>
                  </a:txBody>
                  <a:tcPr marL="91440" marR="91440" marT="45720" marB="45720">
                    <a:lnL w="6668">
                      <a:solidFill>
                        <a:srgbClr val="AAAAAA"/>
                      </a:solidFill>
                      <a:prstDash val="solid"/>
                    </a:lnL>
                    <a:lnR w="6668">
                      <a:solidFill>
                        <a:srgbClr val="AAAAAA"/>
                      </a:solidFill>
                      <a:prstDash val="solid"/>
                    </a:lnR>
                    <a:lnT w="6668">
                      <a:solidFill>
                        <a:srgbClr val="AAAAAA"/>
                      </a:solidFill>
                      <a:prstDash val="solid"/>
                    </a:lnT>
                    <a:lnB w="6668">
                      <a:solidFill>
                        <a:srgbClr val="AAAAAA"/>
                      </a:solidFill>
                      <a:prstDash val="solid"/>
                    </a:lnB>
                    <a:solidFill>
                      <a:srgbClr val="EFF5FA"/>
                    </a:solidFill>
                  </a:tcPr>
                </a:tc>
                <a:tc>
                  <a:txBody>
                    <a:bodyPr/>
                    <a:lstStyle/>
                    <a:p>
                      <a:pPr algn="ctr"/>
                      <a:r>
                        <a:rPr sz="2025" b="1">
                          <a:solidFill>
                            <a:srgbClr val="000000"/>
                          </a:solidFill>
                          <a:latin typeface="Times New Roman"/>
                          <a:ea typeface="Times New Roman"/>
                          <a:cs typeface="Times New Roman"/>
                        </a:rPr>
                        <a:t>Register number</a:t>
                      </a:r>
                    </a:p>
                  </a:txBody>
                  <a:tcPr marL="91440" marR="91440" marT="45720" marB="45720">
                    <a:lnR w="6668">
                      <a:solidFill>
                        <a:srgbClr val="AAAAAA"/>
                      </a:solidFill>
                      <a:prstDash val="solid"/>
                    </a:lnR>
                    <a:lnT w="6668">
                      <a:solidFill>
                        <a:srgbClr val="AAAAAA"/>
                      </a:solidFill>
                      <a:prstDash val="solid"/>
                    </a:lnT>
                    <a:lnB w="6668">
                      <a:solidFill>
                        <a:srgbClr val="AAAAAA"/>
                      </a:solidFill>
                      <a:prstDash val="solid"/>
                    </a:lnB>
                    <a:solidFill>
                      <a:srgbClr val="EFF5FA"/>
                    </a:solidFill>
                  </a:tcPr>
                </a:tc>
              </a:tr>
              <a:tr h="476250">
                <a:tc>
                  <a:txBody>
                    <a:bodyPr/>
                    <a:lstStyle/>
                    <a:p>
                      <a:pPr algn="l"/>
                      <a:r>
                        <a:rPr sz="2025" b="0">
                          <a:solidFill>
                            <a:srgbClr val="000000"/>
                          </a:solidFill>
                          <a:latin typeface="Times New Roman"/>
                          <a:ea typeface="Times New Roman"/>
                          <a:cs typeface="Times New Roman"/>
                        </a:rPr>
                        <a:t>Jishnu Narayanan</a:t>
                      </a:r>
                    </a:p>
                  </a:txBody>
                  <a:tcPr marL="91440" marR="91440" marT="45720" marB="45720">
                    <a:lnL w="6668">
                      <a:solidFill>
                        <a:srgbClr val="AAAAAA"/>
                      </a:solidFill>
                      <a:prstDash val="solid"/>
                    </a:lnL>
                    <a:lnR w="6668">
                      <a:solidFill>
                        <a:srgbClr val="AAAAAA"/>
                      </a:solidFill>
                      <a:prstDash val="solid"/>
                    </a:lnR>
                    <a:lnB w="6668">
                      <a:solidFill>
                        <a:srgbClr val="AAAAAA"/>
                      </a:solidFill>
                      <a:prstDash val="solid"/>
                    </a:lnB>
                    <a:solidFill>
                      <a:srgbClr val="FFFFFF"/>
                    </a:solidFill>
                  </a:tcPr>
                </a:tc>
                <a:tc>
                  <a:txBody>
                    <a:bodyPr/>
                    <a:lstStyle/>
                    <a:p>
                      <a:pPr algn="ctr"/>
                      <a:r>
                        <a:rPr sz="2025" b="0">
                          <a:solidFill>
                            <a:srgbClr val="000000"/>
                          </a:solidFill>
                          <a:latin typeface="Times New Roman"/>
                          <a:ea typeface="Times New Roman"/>
                          <a:cs typeface="Times New Roman"/>
                        </a:rPr>
                        <a:t>RA2411026010650</a:t>
                      </a:r>
                    </a:p>
                  </a:txBody>
                  <a:tcPr marL="91440" marR="91440" marT="45720" marB="45720">
                    <a:lnR w="6668">
                      <a:solidFill>
                        <a:srgbClr val="AAAAAA"/>
                      </a:solidFill>
                      <a:prstDash val="solid"/>
                    </a:lnR>
                    <a:lnB w="6668">
                      <a:solidFill>
                        <a:srgbClr val="AAAAAA"/>
                      </a:solidFill>
                      <a:prstDash val="solid"/>
                    </a:lnB>
                    <a:solidFill>
                      <a:srgbClr val="FFFFFF"/>
                    </a:solidFill>
                  </a:tcPr>
                </a:tc>
              </a:tr>
              <a:tr h="476250">
                <a:tc>
                  <a:txBody>
                    <a:bodyPr/>
                    <a:lstStyle/>
                    <a:p>
                      <a:pPr algn="l"/>
                      <a:r>
                        <a:rPr sz="2025" b="0">
                          <a:solidFill>
                            <a:srgbClr val="000000"/>
                          </a:solidFill>
                          <a:latin typeface="Times New Roman"/>
                          <a:ea typeface="Times New Roman"/>
                          <a:cs typeface="Times New Roman"/>
                        </a:rPr>
                        <a:t>Edson Thomas</a:t>
                      </a:r>
                    </a:p>
                  </a:txBody>
                  <a:tcPr marL="91440" marR="91440" marT="45720" marB="45720">
                    <a:lnL w="6668">
                      <a:solidFill>
                        <a:srgbClr val="AAAAAA"/>
                      </a:solidFill>
                      <a:prstDash val="solid"/>
                    </a:lnL>
                    <a:lnR w="6668">
                      <a:solidFill>
                        <a:srgbClr val="AAAAAA"/>
                      </a:solidFill>
                      <a:prstDash val="solid"/>
                    </a:lnR>
                    <a:lnB w="6668">
                      <a:solidFill>
                        <a:srgbClr val="AAAAAA"/>
                      </a:solidFill>
                      <a:prstDash val="solid"/>
                    </a:lnB>
                    <a:solidFill>
                      <a:srgbClr val="FFFFFF"/>
                    </a:solidFill>
                  </a:tcPr>
                </a:tc>
                <a:tc>
                  <a:txBody>
                    <a:bodyPr/>
                    <a:lstStyle/>
                    <a:p>
                      <a:pPr algn="ctr"/>
                      <a:r>
                        <a:rPr sz="2025" b="0">
                          <a:solidFill>
                            <a:srgbClr val="000000"/>
                          </a:solidFill>
                          <a:latin typeface="Times New Roman"/>
                          <a:ea typeface="Times New Roman"/>
                          <a:cs typeface="Times New Roman"/>
                        </a:rPr>
                        <a:t>RA2411026010634</a:t>
                      </a:r>
                    </a:p>
                  </a:txBody>
                  <a:tcPr marL="91440" marR="91440" marT="45720" marB="45720">
                    <a:lnR w="6668">
                      <a:solidFill>
                        <a:srgbClr val="AAAAAA"/>
                      </a:solidFill>
                      <a:prstDash val="solid"/>
                    </a:lnR>
                    <a:lnB w="6668">
                      <a:solidFill>
                        <a:srgbClr val="AAAAAA"/>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CE92F1B-E120-44FB-AE59-063B0191AACE}"/>
              </a:ext>
            </a:extLst>
          </p:cNvPr>
          <p:cNvSpPr>
            <a:spLocks xmlns:a="http://schemas.openxmlformats.org/drawingml/2006/main" noGrp="1"/>
          </p:cNvSpPr>
          <p:nvPr/>
        </p:nvSpPr>
        <p:spPr>
          <a:xfrm xmlns:a="http://schemas.openxmlformats.org/drawingml/2006/main">
            <a:off x="571500" y="46672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000000"/>
                </a:solidFill>
                <a:latin typeface="Times New Roman"/>
                <a:ea typeface="Times New Roman"/>
                <a:cs typeface="Times New Roman"/>
              </a:defRPr>
            </a:defPPr>
            <a:lvl1pPr algn="ctr">
              <a:defRPr sz="2025" b="1">
                <a:solidFill>
                  <a:srgbClr val="000000"/>
                </a:solidFill>
                <a:latin typeface="Times New Roman"/>
                <a:ea typeface="Times New Roman"/>
                <a:cs typeface="Times New Roman"/>
              </a:defRPr>
            </a:lvl1pPr>
            <a:lvl2pPr algn="ctr">
              <a:defRPr sz="2025" b="1">
                <a:solidFill>
                  <a:srgbClr val="000000"/>
                </a:solidFill>
                <a:latin typeface="Times New Roman"/>
                <a:ea typeface="Times New Roman"/>
                <a:cs typeface="Times New Roman"/>
              </a:defRPr>
            </a:lvl2pPr>
            <a:lvl3pPr algn="ctr">
              <a:defRPr sz="2025" b="1">
                <a:solidFill>
                  <a:srgbClr val="000000"/>
                </a:solidFill>
                <a:latin typeface="Times New Roman"/>
                <a:ea typeface="Times New Roman"/>
                <a:cs typeface="Times New Roman"/>
              </a:defRPr>
            </a:lvl3pPr>
            <a:lvl4pPr algn="ctr">
              <a:defRPr sz="2025" b="1">
                <a:solidFill>
                  <a:srgbClr val="000000"/>
                </a:solidFill>
                <a:latin typeface="Times New Roman"/>
                <a:ea typeface="Times New Roman"/>
                <a:cs typeface="Times New Roman"/>
              </a:defRPr>
            </a:lvl4pPr>
            <a:lvl5pPr algn="ctr">
              <a:defRPr sz="2025" b="1">
                <a:solidFill>
                  <a:srgbClr val="000000"/>
                </a:solidFill>
                <a:latin typeface="Times New Roman"/>
                <a:ea typeface="Times New Roman"/>
                <a:cs typeface="Times New Roman"/>
              </a:defRPr>
            </a:lvl5pPr>
            <a:lvl6pPr algn="ctr">
              <a:defRPr sz="2025" b="1">
                <a:solidFill>
                  <a:srgbClr val="000000"/>
                </a:solidFill>
                <a:latin typeface="Times New Roman"/>
                <a:ea typeface="Times New Roman"/>
                <a:cs typeface="Times New Roman"/>
              </a:defRPr>
            </a:lvl6pPr>
            <a:lvl7pPr algn="ctr">
              <a:defRPr sz="2025" b="1">
                <a:solidFill>
                  <a:srgbClr val="000000"/>
                </a:solidFill>
                <a:latin typeface="Times New Roman"/>
                <a:ea typeface="Times New Roman"/>
                <a:cs typeface="Times New Roman"/>
              </a:defRPr>
            </a:lvl7pPr>
            <a:lvl8pPr algn="ctr">
              <a:defRPr sz="2025" b="1">
                <a:solidFill>
                  <a:srgbClr val="000000"/>
                </a:solidFill>
                <a:latin typeface="Times New Roman"/>
                <a:ea typeface="Times New Roman"/>
                <a:cs typeface="Times New Roman"/>
              </a:defRPr>
            </a:lvl8pPr>
            <a:lvl9pPr algn="ctr">
              <a:defRPr sz="2025" b="1">
                <a:solidFill>
                  <a:srgbClr val="000000"/>
                </a:solidFill>
                <a:latin typeface="Times New Roman"/>
                <a:ea typeface="Times New Roman"/>
                <a:cs typeface="Times New Roman"/>
              </a:defRPr>
            </a:lvl9pPr>
          </a:lstStyle>
          <a:p xmlns:a="http://schemas.openxmlformats.org/drawingml/2006/main">
            <a:pPr algn="ctr">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Department of CINTEL</a:t>
            </a:r>
          </a:p>
          <a:p xmlns:a="http://schemas.openxmlformats.org/drawingml/2006/main">
            <a:pPr algn="ctr">
              <a:defRPr sz="2025" b="1">
                <a:solidFill>
                  <a:srgbClr val="000000"/>
                </a:solidFill>
                <a:latin typeface="Times New Roman"/>
                <a:ea typeface="Times New Roman"/>
                <a:cs typeface="Times New Roman"/>
              </a:defRPr>
            </a:pPr>
            <a:r>
              <a:rPr sz="2025" b="1">
                <a:solidFill>
                  <a:srgbClr val="000000"/>
                </a:solidFill>
                <a:latin typeface="Times New Roman"/>
                <a:ea typeface="Times New Roman"/>
                <a:cs typeface="Times New Roman"/>
              </a:rPr>
              <a:t>SRM INSTITUTE OF SCIENCE AND TECHNOLOGY</a:t>
            </a:r>
          </a:p>
        </p:txBody>
      </p:sp>
    </p:spTree>
    <p:extLst>
      <p:ext uri="{BB962C8B-B14F-4D97-AF65-F5344CB8AC3E}">
        <p14:creationId xmlns:p14="http://schemas.microsoft.com/office/powerpoint/2010/main" val="144106105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Introduction and application</a:t>
            </a:r>
            <a:endParaRPr/>
          </a:p>
        </p:txBody>
      </p:sp>
      <p:sp>
        <p:nvSpPr>
          <p:cNvPr id="3" name="">
            <a:extLst xmlns:a="http://schemas.openxmlformats.org/drawingml/2006/main">
              <a:ext uri="{FF2B5EF4-FFF2-40B4-BE49-F238E27FC236}">
                <a16:creationId xmlns:a16="http://schemas.microsoft.com/office/drawing/2014/main" id="{DEE55436-B821-4D3A-BF44-AD5BA7D44AC9}"/>
              </a:ext>
            </a:extLst>
          </p:cNvPr>
          <p:cNvSpPr>
            <a:spLocks xmlns:a="http://schemas.openxmlformats.org/drawingml/2006/main" noGrp="1"/>
          </p:cNvSpPr>
          <p:nvPr/>
        </p:nvSpPr>
        <p:spPr>
          <a:xfrm xmlns:a="http://schemas.openxmlformats.org/drawingml/2006/main">
            <a:off x="400050" y="13335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Unidirectional E-glass fibres reinforce epoxy and carry load mainly along the fibre direction.</a:t>
            </a:r>
          </a:p>
        </p:txBody>
      </p:sp>
      <p:sp>
        <p:nvSpPr>
          <p:cNvPr id="4" name="">
            <a:extLst xmlns:a="http://schemas.openxmlformats.org/drawingml/2006/main">
              <a:ext uri="{FF2B5EF4-FFF2-40B4-BE49-F238E27FC236}">
                <a16:creationId xmlns:a16="http://schemas.microsoft.com/office/drawing/2014/main" id="{D943F590-300B-48AD-B711-DDA1EC41FDDC}"/>
              </a:ext>
            </a:extLst>
          </p:cNvPr>
          <p:cNvSpPr>
            <a:spLocks xmlns:a="http://schemas.openxmlformats.org/drawingml/2006/main" noGrp="1"/>
          </p:cNvSpPr>
          <p:nvPr/>
        </p:nvSpPr>
        <p:spPr>
          <a:xfrm xmlns:a="http://schemas.openxmlformats.org/drawingml/2006/main">
            <a:off x="400050" y="234315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Tensile strength is the maximum tensile stress before failure. 1 MPa = 1 N/mm².</a:t>
            </a:r>
          </a:p>
        </p:txBody>
      </p:sp>
      <p:sp>
        <p:nvSpPr>
          <p:cNvPr id="5" name="">
            <a:extLst xmlns:a="http://schemas.openxmlformats.org/drawingml/2006/main">
              <a:ext uri="{FF2B5EF4-FFF2-40B4-BE49-F238E27FC236}">
                <a16:creationId xmlns:a16="http://schemas.microsoft.com/office/drawing/2014/main" id="{48E5A966-ED04-4F1F-AE0B-A3456E202290}"/>
              </a:ext>
            </a:extLst>
          </p:cNvPr>
          <p:cNvSpPr>
            <a:spLocks xmlns:a="http://schemas.openxmlformats.org/drawingml/2006/main" noGrp="1"/>
          </p:cNvSpPr>
          <p:nvPr/>
        </p:nvSpPr>
        <p:spPr>
          <a:xfrm xmlns:a="http://schemas.openxmlformats.org/drawingml/2006/main">
            <a:off x="400050" y="33528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We explore how fibre fraction, voids and fibre/load angle affect an assumed nominal response.</a:t>
            </a:r>
          </a:p>
        </p:txBody>
      </p:sp>
      <p:sp>
        <p:nvSpPr>
          <p:cNvPr id="6" name="">
            <a:extLst xmlns:a="http://schemas.openxmlformats.org/drawingml/2006/main">
              <a:ext uri="{FF2B5EF4-FFF2-40B4-BE49-F238E27FC236}">
                <a16:creationId xmlns:a16="http://schemas.microsoft.com/office/drawing/2014/main" id="{91C0B6A4-D676-438D-B00A-4471663F44D1}"/>
              </a:ext>
            </a:extLst>
          </p:cNvPr>
          <p:cNvSpPr>
            <a:spLocks xmlns:a="http://schemas.openxmlformats.org/drawingml/2006/main" noGrp="1"/>
          </p:cNvSpPr>
          <p:nvPr/>
        </p:nvSpPr>
        <p:spPr>
          <a:xfrm xmlns:a="http://schemas.openxmlformats.org/drawingml/2006/main">
            <a:off x="400050" y="436245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Application: educational scenario comparison, sensitivity studies and regression evaluation.</a:t>
            </a:r>
          </a:p>
        </p:txBody>
      </p:sp>
      <p:sp>
        <p:nvSpPr>
          <p:cNvPr id="7" name="">
            <a:extLst xmlns:a="http://schemas.openxmlformats.org/drawingml/2006/main">
              <a:ext uri="{FF2B5EF4-FFF2-40B4-BE49-F238E27FC236}">
                <a16:creationId xmlns:a16="http://schemas.microsoft.com/office/drawing/2014/main" id="{18246133-2D81-446B-911E-839E9A9CD8AA}"/>
              </a:ext>
            </a:extLst>
          </p:cNvPr>
          <p:cNvSpPr>
            <a:spLocks xmlns:a="http://schemas.openxmlformats.org/drawingml/2006/main" noGrp="1"/>
          </p:cNvSpPr>
          <p:nvPr/>
        </p:nvSpPr>
        <p:spPr>
          <a:xfrm xmlns:a="http://schemas.openxmlformats.org/drawingml/2006/main">
            <a:off x="400050" y="53721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Scope: a simulator-surrogate prototype. Material qualification and structural design require independent evidence.</a:t>
            </a:r>
          </a:p>
        </p:txBody>
      </p:sp>
    </p:spTree>
    <p:extLst>
      <p:ext uri="{BB962C8B-B14F-4D97-AF65-F5344CB8AC3E}">
        <p14:creationId xmlns:p14="http://schemas.microsoft.com/office/powerpoint/2010/main" val="144106105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Problem identification research gap and objectives</a:t>
            </a:r>
            <a:endParaRPr/>
          </a:p>
        </p:txBody>
      </p:sp>
      <p:sp>
        <p:nvSpPr>
          <p:cNvPr id="3" name="">
            <a:extLst xmlns:a="http://schemas.openxmlformats.org/drawingml/2006/main">
              <a:ext uri="{FF2B5EF4-FFF2-40B4-BE49-F238E27FC236}">
                <a16:creationId xmlns:a16="http://schemas.microsoft.com/office/drawing/2014/main" id="{1B5B3D07-5A5E-4A10-A44A-1BF234F5CDCB}"/>
              </a:ext>
            </a:extLst>
          </p:cNvPr>
          <p:cNvSpPr>
            <a:spLocks xmlns:a="http://schemas.openxmlformats.org/drawingml/2006/main" noGrp="1"/>
          </p:cNvSpPr>
          <p:nvPr/>
        </p:nvSpPr>
        <p:spPr>
          <a:xfrm xmlns:a="http://schemas.openxmlformats.org/drawingml/2006/main">
            <a:off x="400050" y="13335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Problem: the supplied papers do not give a complete compatible three-input tensile dataset. Missing void fractions cannot be replaced with zero.</a:t>
            </a:r>
          </a:p>
        </p:txBody>
      </p:sp>
      <p:sp>
        <p:nvSpPr>
          <p:cNvPr id="4" name="">
            <a:extLst xmlns:a="http://schemas.openxmlformats.org/drawingml/2006/main">
              <a:ext uri="{FF2B5EF4-FFF2-40B4-BE49-F238E27FC236}">
                <a16:creationId xmlns:a16="http://schemas.microsoft.com/office/drawing/2014/main" id="{F32AC0A3-7B85-44F7-84D2-9C1A68AE2441}"/>
              </a:ext>
            </a:extLst>
          </p:cNvPr>
          <p:cNvSpPr>
            <a:spLocks xmlns:a="http://schemas.openxmlformats.org/drawingml/2006/main" noGrp="1"/>
          </p:cNvSpPr>
          <p:nvPr/>
        </p:nvSpPr>
        <p:spPr>
          <a:xfrm xmlns:a="http://schemas.openxmlformats.org/drawingml/2006/main">
            <a:off x="400050" y="234315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Project gap: a transparent local workflow that keeps simulated training and literature evidence separate.</a:t>
            </a:r>
          </a:p>
        </p:txBody>
      </p:sp>
      <p:sp>
        <p:nvSpPr>
          <p:cNvPr id="5" name="">
            <a:extLst xmlns:a="http://schemas.openxmlformats.org/drawingml/2006/main">
              <a:ext uri="{FF2B5EF4-FFF2-40B4-BE49-F238E27FC236}">
                <a16:creationId xmlns:a16="http://schemas.microsoft.com/office/drawing/2014/main" id="{746CC3FA-1EA8-4A73-9C7F-44EBC678AAE2}"/>
              </a:ext>
            </a:extLst>
          </p:cNvPr>
          <p:cNvSpPr>
            <a:spLocks xmlns:a="http://schemas.openxmlformats.org/drawingml/2006/main" noGrp="1"/>
          </p:cNvSpPr>
          <p:nvPr/>
        </p:nvSpPr>
        <p:spPr>
          <a:xfrm xmlns:a="http://schemas.openxmlformats.org/drawingml/2006/main">
            <a:off x="400050" y="33528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Objectives: implement explicit physics, generate reproducible data, compare two regressors and demonstrate checked predictions.</a:t>
            </a:r>
          </a:p>
        </p:txBody>
      </p:sp>
      <p:sp>
        <p:nvSpPr>
          <p:cNvPr id="6" name="">
            <a:extLst xmlns:a="http://schemas.openxmlformats.org/drawingml/2006/main">
              <a:ext uri="{FF2B5EF4-FFF2-40B4-BE49-F238E27FC236}">
                <a16:creationId xmlns:a16="http://schemas.microsoft.com/office/drawing/2014/main" id="{1613A054-EEA3-4E48-9F44-F97A70DBB1FD}"/>
              </a:ext>
            </a:extLst>
          </p:cNvPr>
          <p:cNvSpPr>
            <a:spLocks xmlns:a="http://schemas.openxmlformats.org/drawingml/2006/main" noGrp="1"/>
          </p:cNvSpPr>
          <p:nvPr/>
        </p:nvSpPr>
        <p:spPr>
          <a:xfrm xmlns:a="http://schemas.openxmlformats.org/drawingml/2006/main">
            <a:off x="400050" y="436245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Assess a random holdout and a separate fibre-fraction region shift.</a:t>
            </a:r>
          </a:p>
        </p:txBody>
      </p:sp>
      <p:sp>
        <p:nvSpPr>
          <p:cNvPr id="7" name="">
            <a:extLst xmlns:a="http://schemas.openxmlformats.org/drawingml/2006/main">
              <a:ext uri="{FF2B5EF4-FFF2-40B4-BE49-F238E27FC236}">
                <a16:creationId xmlns:a16="http://schemas.microsoft.com/office/drawing/2014/main" id="{2FC56456-391D-4AD1-B892-231D01A3D835}"/>
              </a:ext>
            </a:extLst>
          </p:cNvPr>
          <p:cNvSpPr>
            <a:spLocks xmlns:a="http://schemas.openxmlformats.org/drawingml/2006/main" noGrp="1"/>
          </p:cNvSpPr>
          <p:nvPr/>
        </p:nvSpPr>
        <p:spPr>
          <a:xfrm xmlns:a="http://schemas.openxmlformats.org/drawingml/2006/main">
            <a:off x="400050" y="53721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The contribution is an educational implementation. Scientific novelty and real-laminate accuracy remain unestablished.</a:t>
            </a:r>
          </a:p>
        </p:txBody>
      </p:sp>
    </p:spTree>
    <p:extLst>
      <p:ext uri="{BB962C8B-B14F-4D97-AF65-F5344CB8AC3E}">
        <p14:creationId xmlns:p14="http://schemas.microsoft.com/office/powerpoint/2010/main" val="144106105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Literature review and main findings</a:t>
            </a:r>
            <a:endParaRPr/>
          </a:p>
        </p:txBody>
      </p:sp>
      <p:sp>
        <p:nvSpPr>
          <p:cNvPr id="3" name="">
            <a:extLst xmlns:a="http://schemas.openxmlformats.org/drawingml/2006/main">
              <a:ext uri="{FF2B5EF4-FFF2-40B4-BE49-F238E27FC236}">
                <a16:creationId xmlns:a16="http://schemas.microsoft.com/office/drawing/2014/main" id="{14C22039-5907-42FC-949D-69AA4E7A1A85}"/>
              </a:ext>
            </a:extLst>
          </p:cNvPr>
          <p:cNvSpPr>
            <a:spLocks xmlns:a="http://schemas.openxmlformats.org/drawingml/2006/main" noGrp="1"/>
          </p:cNvSpPr>
          <p:nvPr/>
        </p:nvSpPr>
        <p:spPr>
          <a:xfrm xmlns:a="http://schemas.openxmlformats.org/drawingml/2006/main">
            <a:off x="400050" y="13335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35 selected sources: 30 research/data articles and five reviews. 32 are from 2020 onward.</a:t>
            </a:r>
          </a:p>
        </p:txBody>
      </p:sp>
      <p:sp>
        <p:nvSpPr>
          <p:cNvPr id="4" name="">
            <a:extLst xmlns:a="http://schemas.openxmlformats.org/drawingml/2006/main">
              <a:ext uri="{FF2B5EF4-FFF2-40B4-BE49-F238E27FC236}">
                <a16:creationId xmlns:a16="http://schemas.microsoft.com/office/drawing/2014/main" id="{8694F6A5-2274-4515-80F3-79A71ACD4FF3}"/>
              </a:ext>
            </a:extLst>
          </p:cNvPr>
          <p:cNvSpPr>
            <a:spLocks xmlns:a="http://schemas.openxmlformats.org/drawingml/2006/main" noGrp="1"/>
          </p:cNvSpPr>
          <p:nvPr/>
        </p:nvSpPr>
        <p:spPr>
          <a:xfrm xmlns:a="http://schemas.openxmlformats.org/drawingml/2006/main">
            <a:off x="400050" y="234315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Architecture and direction: Turaka (2024) [1] and Siddgonde (2024) [5] require separate UD and woven interpretations.</a:t>
            </a:r>
          </a:p>
        </p:txBody>
      </p:sp>
      <p:sp>
        <p:nvSpPr>
          <p:cNvPr id="5" name="">
            <a:extLst xmlns:a="http://schemas.openxmlformats.org/drawingml/2006/main">
              <a:ext uri="{FF2B5EF4-FFF2-40B4-BE49-F238E27FC236}">
                <a16:creationId xmlns:a16="http://schemas.microsoft.com/office/drawing/2014/main" id="{3C35BB17-1EAC-44A9-BD0D-D079B8059109}"/>
              </a:ext>
            </a:extLst>
          </p:cNvPr>
          <p:cNvSpPr>
            <a:spLocks xmlns:a="http://schemas.openxmlformats.org/drawingml/2006/main" noGrp="1"/>
          </p:cNvSpPr>
          <p:nvPr/>
        </p:nvSpPr>
        <p:spPr>
          <a:xfrm xmlns:a="http://schemas.openxmlformats.org/drawingml/2006/main">
            <a:off x="400050" y="33528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Void effects: Ayanoglu (2023) [3] and Hanafiah (2024) [7] show why conditioning, property and void morphology matter.</a:t>
            </a:r>
          </a:p>
        </p:txBody>
      </p:sp>
      <p:sp>
        <p:nvSpPr>
          <p:cNvPr id="6" name="">
            <a:extLst xmlns:a="http://schemas.openxmlformats.org/drawingml/2006/main">
              <a:ext uri="{FF2B5EF4-FFF2-40B4-BE49-F238E27FC236}">
                <a16:creationId xmlns:a16="http://schemas.microsoft.com/office/drawing/2014/main" id="{16C859EA-A425-445D-B5BC-1D35C4414680}"/>
              </a:ext>
            </a:extLst>
          </p:cNvPr>
          <p:cNvSpPr>
            <a:spLocks xmlns:a="http://schemas.openxmlformats.org/drawingml/2006/main" noGrp="1"/>
          </p:cNvSpPr>
          <p:nvPr/>
        </p:nvSpPr>
        <p:spPr>
          <a:xfrm xmlns:a="http://schemas.openxmlformats.org/drawingml/2006/main">
            <a:off x="400050" y="436245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Surrogates: Mendikute (2023) [11] and Li (2022) [16] motivate simulation-based learning within a defined scope.</a:t>
            </a:r>
          </a:p>
        </p:txBody>
      </p:sp>
      <p:sp>
        <p:nvSpPr>
          <p:cNvPr id="7" name="">
            <a:extLst xmlns:a="http://schemas.openxmlformats.org/drawingml/2006/main">
              <a:ext uri="{FF2B5EF4-FFF2-40B4-BE49-F238E27FC236}">
                <a16:creationId xmlns:a16="http://schemas.microsoft.com/office/drawing/2014/main" id="{227895FD-24F9-42AC-9BB5-498A70592DED}"/>
              </a:ext>
            </a:extLst>
          </p:cNvPr>
          <p:cNvSpPr>
            <a:spLocks xmlns:a="http://schemas.openxmlformats.org/drawingml/2006/main" noGrp="1"/>
          </p:cNvSpPr>
          <p:nvPr/>
        </p:nvSpPr>
        <p:spPr>
          <a:xfrm xmlns:a="http://schemas.openxmlformats.org/drawingml/2006/main">
            <a:off x="400050" y="53721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Finding: compatible inputs, target property and independent validation matter more than a high isolated score. Full 35-paper matrix and IEEE bibliography are in the report.</a:t>
            </a:r>
          </a:p>
        </p:txBody>
      </p:sp>
    </p:spTree>
    <p:extLst>
      <p:ext uri="{BB962C8B-B14F-4D97-AF65-F5344CB8AC3E}">
        <p14:creationId xmlns:p14="http://schemas.microsoft.com/office/powerpoint/2010/main" val="144106105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Materials and methods input features</a:t>
            </a:r>
            <a:endParaRPr/>
          </a:p>
        </p:txBody>
      </p:sp>
      <p:graphicFrame>
        <p:nvGraphicFramePr>
          <p:cNvPr id="3" name="">
            <a:extLst xmlns:a="http://schemas.openxmlformats.org/drawingml/2006/main">
              <a:ext uri="{FF2B5EF4-FFF2-40B4-BE49-F238E27FC236}">
                <a16:creationId xmlns:a16="http://schemas.microsoft.com/office/drawing/2014/main" id="{6304F9B4-B790-4AAD-A414-F8B077212C9D}"/>
              </a:ext>
            </a:extLst>
          </p:cNvPr>
          <p:cNvGraphicFramePr/>
          <p:nvPr/>
        </p:nvGraphicFramePr>
        <p:xfrm>
          <a:off xmlns:a="http://schemas.openxmlformats.org/drawingml/2006/main" x="400050" y="1381125"/>
          <a:ext xmlns:a="http://schemas.openxmlformats.org/drawingml/2006/main" cx="11372850" cy="2190750"/>
        </p:xfrm>
        <a:graphic xmlns:a="http://schemas.openxmlformats.org/drawingml/2006/main">
          <a:graphicData uri="http://schemas.openxmlformats.org/drawingml/2006/table">
            <a:tbl>
              <a:tblPr firstRow="1" bandRow="0"/>
              <a:tblGrid>
                <a:gridCol w="5810250"/>
                <a:gridCol w="1905000"/>
                <a:gridCol w="3657600"/>
              </a:tblGrid>
              <a:tr h="547688">
                <a:tc>
                  <a:txBody>
                    <a:bodyPr/>
                    <a:lstStyle/>
                    <a:p>
                      <a:pPr algn="l"/>
                      <a:r>
                        <a:rPr sz="1875" b="1">
                          <a:solidFill>
                            <a:srgbClr val="000000"/>
                          </a:solidFill>
                          <a:latin typeface="Times New Roman"/>
                          <a:ea typeface="Times New Roman"/>
                          <a:cs typeface="Times New Roman"/>
                        </a:rPr>
                        <a:t>Feature</a:t>
                      </a:r>
                    </a:p>
                  </a:txBody>
                  <a:tcPr marL="91440" marR="91440" marT="45720" marB="45720">
                    <a:lnL w="6668">
                      <a:solidFill>
                        <a:srgbClr val="AAAAAA"/>
                      </a:solidFill>
                      <a:prstDash val="solid"/>
                    </a:lnL>
                    <a:lnR w="6668">
                      <a:solidFill>
                        <a:srgbClr val="AAAAAA"/>
                      </a:solidFill>
                      <a:prstDash val="solid"/>
                    </a:lnR>
                    <a:lnT w="6668">
                      <a:solidFill>
                        <a:srgbClr val="AAAAAA"/>
                      </a:solidFill>
                      <a:prstDash val="solid"/>
                    </a:lnT>
                    <a:lnB w="6668">
                      <a:solidFill>
                        <a:srgbClr val="AAAAAA"/>
                      </a:solidFill>
                      <a:prstDash val="solid"/>
                    </a:lnB>
                    <a:solidFill>
                      <a:srgbClr val="EFF5FA"/>
                    </a:solidFill>
                  </a:tcPr>
                </a:tc>
                <a:tc>
                  <a:txBody>
                    <a:bodyPr/>
                    <a:lstStyle/>
                    <a:p>
                      <a:pPr algn="ctr"/>
                      <a:r>
                        <a:rPr sz="1875" b="1">
                          <a:solidFill>
                            <a:srgbClr val="000000"/>
                          </a:solidFill>
                          <a:latin typeface="Times New Roman"/>
                          <a:ea typeface="Times New Roman"/>
                          <a:cs typeface="Times New Roman"/>
                        </a:rPr>
                        <a:t>Unit</a:t>
                      </a:r>
                    </a:p>
                  </a:txBody>
                  <a:tcPr marL="91440" marR="91440" marT="45720" marB="45720">
                    <a:lnR w="6668">
                      <a:solidFill>
                        <a:srgbClr val="AAAAAA"/>
                      </a:solidFill>
                      <a:prstDash val="solid"/>
                    </a:lnR>
                    <a:lnT w="6668">
                      <a:solidFill>
                        <a:srgbClr val="AAAAAA"/>
                      </a:solidFill>
                      <a:prstDash val="solid"/>
                    </a:lnT>
                    <a:lnB w="6668">
                      <a:solidFill>
                        <a:srgbClr val="AAAAAA"/>
                      </a:solidFill>
                      <a:prstDash val="solid"/>
                    </a:lnB>
                    <a:solidFill>
                      <a:srgbClr val="EFF5FA"/>
                    </a:solidFill>
                  </a:tcPr>
                </a:tc>
                <a:tc>
                  <a:txBody>
                    <a:bodyPr/>
                    <a:lstStyle/>
                    <a:p>
                      <a:pPr algn="ctr"/>
                      <a:r>
                        <a:rPr sz="1875" b="1">
                          <a:solidFill>
                            <a:srgbClr val="000000"/>
                          </a:solidFill>
                          <a:latin typeface="Times New Roman"/>
                          <a:ea typeface="Times New Roman"/>
                          <a:cs typeface="Times New Roman"/>
                        </a:rPr>
                        <a:t>Supported range</a:t>
                      </a:r>
                    </a:p>
                  </a:txBody>
                  <a:tcPr marL="91440" marR="91440" marT="45720" marB="45720">
                    <a:lnR w="6668">
                      <a:solidFill>
                        <a:srgbClr val="AAAAAA"/>
                      </a:solidFill>
                      <a:prstDash val="solid"/>
                    </a:lnR>
                    <a:lnT w="6668">
                      <a:solidFill>
                        <a:srgbClr val="AAAAAA"/>
                      </a:solidFill>
                      <a:prstDash val="solid"/>
                    </a:lnT>
                    <a:lnB w="6668">
                      <a:solidFill>
                        <a:srgbClr val="AAAAAA"/>
                      </a:solidFill>
                      <a:prstDash val="solid"/>
                    </a:lnB>
                    <a:solidFill>
                      <a:srgbClr val="EFF5FA"/>
                    </a:solidFill>
                  </a:tcPr>
                </a:tc>
              </a:tr>
              <a:tr h="547688">
                <a:tc>
                  <a:txBody>
                    <a:bodyPr/>
                    <a:lstStyle/>
                    <a:p>
                      <a:pPr algn="l"/>
                      <a:r>
                        <a:rPr sz="1875" b="0">
                          <a:solidFill>
                            <a:srgbClr val="000000"/>
                          </a:solidFill>
                          <a:latin typeface="Times New Roman"/>
                          <a:ea typeface="Times New Roman"/>
                          <a:cs typeface="Times New Roman"/>
                        </a:rPr>
                        <a:t>Fibre volume fraction</a:t>
                      </a:r>
                    </a:p>
                  </a:txBody>
                  <a:tcPr marL="91440" marR="91440" marT="45720" marB="45720">
                    <a:lnL w="6668">
                      <a:solidFill>
                        <a:srgbClr val="AAAAAA"/>
                      </a:solidFill>
                      <a:prstDash val="solid"/>
                    </a:lnL>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20–65</a:t>
                      </a:r>
                    </a:p>
                  </a:txBody>
                  <a:tcPr marL="91440" marR="91440" marT="45720" marB="45720">
                    <a:lnR w="6668">
                      <a:solidFill>
                        <a:srgbClr val="AAAAAA"/>
                      </a:solidFill>
                      <a:prstDash val="solid"/>
                    </a:lnR>
                    <a:lnB w="6668">
                      <a:solidFill>
                        <a:srgbClr val="AAAAAA"/>
                      </a:solidFill>
                      <a:prstDash val="solid"/>
                    </a:lnB>
                    <a:solidFill>
                      <a:srgbClr val="FFFFFF"/>
                    </a:solidFill>
                  </a:tcPr>
                </a:tc>
              </a:tr>
              <a:tr h="547688">
                <a:tc>
                  <a:txBody>
                    <a:bodyPr/>
                    <a:lstStyle/>
                    <a:p>
                      <a:pPr algn="l"/>
                      <a:r>
                        <a:rPr sz="1875" b="0">
                          <a:solidFill>
                            <a:srgbClr val="000000"/>
                          </a:solidFill>
                          <a:latin typeface="Times New Roman"/>
                          <a:ea typeface="Times New Roman"/>
                          <a:cs typeface="Times New Roman"/>
                        </a:rPr>
                        <a:t>Void content</a:t>
                      </a:r>
                    </a:p>
                  </a:txBody>
                  <a:tcPr marL="91440" marR="91440" marT="45720" marB="45720">
                    <a:lnL w="6668">
                      <a:solidFill>
                        <a:srgbClr val="AAAAAA"/>
                      </a:solidFill>
                      <a:prstDash val="solid"/>
                    </a:lnL>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0–8</a:t>
                      </a:r>
                    </a:p>
                  </a:txBody>
                  <a:tcPr marL="91440" marR="91440" marT="45720" marB="45720">
                    <a:lnR w="6668">
                      <a:solidFill>
                        <a:srgbClr val="AAAAAA"/>
                      </a:solidFill>
                      <a:prstDash val="solid"/>
                    </a:lnR>
                    <a:lnB w="6668">
                      <a:solidFill>
                        <a:srgbClr val="AAAAAA"/>
                      </a:solidFill>
                      <a:prstDash val="solid"/>
                    </a:lnB>
                    <a:solidFill>
                      <a:srgbClr val="FFFFFF"/>
                    </a:solidFill>
                  </a:tcPr>
                </a:tc>
              </a:tr>
              <a:tr h="547688">
                <a:tc>
                  <a:txBody>
                    <a:bodyPr/>
                    <a:lstStyle/>
                    <a:p>
                      <a:pPr algn="l"/>
                      <a:r>
                        <a:rPr sz="1875" b="0">
                          <a:solidFill>
                            <a:srgbClr val="000000"/>
                          </a:solidFill>
                          <a:latin typeface="Times New Roman"/>
                          <a:ea typeface="Times New Roman"/>
                          <a:cs typeface="Times New Roman"/>
                        </a:rPr>
                        <a:t>Fibre/load angle</a:t>
                      </a:r>
                    </a:p>
                  </a:txBody>
                  <a:tcPr marL="91440" marR="91440" marT="45720" marB="45720">
                    <a:lnL w="6668">
                      <a:solidFill>
                        <a:srgbClr val="AAAAAA"/>
                      </a:solidFill>
                      <a:prstDash val="solid"/>
                    </a:lnL>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degrees</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0–45</a:t>
                      </a:r>
                    </a:p>
                  </a:txBody>
                  <a:tcPr marL="91440" marR="91440" marT="45720" marB="45720">
                    <a:lnR w="6668">
                      <a:solidFill>
                        <a:srgbClr val="AAAAAA"/>
                      </a:solidFill>
                      <a:prstDash val="solid"/>
                    </a:lnR>
                    <a:lnB w="6668">
                      <a:solidFill>
                        <a:srgbClr val="AAAAA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29CFAD1-AC5E-4F1B-A2BB-53D7E00B9B66}"/>
              </a:ext>
            </a:extLst>
          </p:cNvPr>
          <p:cNvSpPr>
            <a:spLocks xmlns:a="http://schemas.openxmlformats.org/drawingml/2006/main" noGrp="1"/>
          </p:cNvSpPr>
          <p:nvPr/>
        </p:nvSpPr>
        <p:spPr>
          <a:xfrm xmlns:a="http://schemas.openxmlformats.org/drawingml/2006/main">
            <a:off x="400050" y="3952875"/>
            <a:ext cx="11372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At 45% fibres and 2% voids, the physical volume balance leaves 53% matrix.</a:t>
            </a:r>
          </a:p>
        </p:txBody>
      </p:sp>
      <p:sp>
        <p:nvSpPr>
          <p:cNvPr id="5" name="">
            <a:extLst xmlns:a="http://schemas.openxmlformats.org/drawingml/2006/main">
              <a:ext uri="{FF2B5EF4-FFF2-40B4-BE49-F238E27FC236}">
                <a16:creationId xmlns:a16="http://schemas.microsoft.com/office/drawing/2014/main" id="{9212FFBB-77D6-48C0-AD3F-8C239DEE6CF0}"/>
              </a:ext>
            </a:extLst>
          </p:cNvPr>
          <p:cNvSpPr>
            <a:spLocks xmlns:a="http://schemas.openxmlformats.org/drawingml/2006/main" noGrp="1"/>
          </p:cNvSpPr>
          <p:nvPr/>
        </p:nvSpPr>
        <p:spPr>
          <a:xfrm xmlns:a="http://schemas.openxmlformats.org/drawingml/2006/main">
            <a:off x="400050" y="4848225"/>
            <a:ext cx="11372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The saved Random Forest uses these three features only. Volume percentage differs from weight percentage.</a:t>
            </a:r>
          </a:p>
        </p:txBody>
      </p:sp>
    </p:spTree>
    <p:extLst>
      <p:ext uri="{BB962C8B-B14F-4D97-AF65-F5344CB8AC3E}">
        <p14:creationId xmlns:p14="http://schemas.microsoft.com/office/powerpoint/2010/main" val="144106105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Additional material inputs and nominal defaults</a:t>
            </a:r>
            <a:endParaRPr/>
          </a:p>
        </p:txBody>
      </p:sp>
      <p:graphicFrame>
        <p:nvGraphicFramePr>
          <p:cNvPr id="3" name="">
            <a:extLst xmlns:a="http://schemas.openxmlformats.org/drawingml/2006/main">
              <a:ext uri="{FF2B5EF4-FFF2-40B4-BE49-F238E27FC236}">
                <a16:creationId xmlns:a16="http://schemas.microsoft.com/office/drawing/2014/main" id="{2E047B35-59CA-499B-A5F0-2B4FEE78565D}"/>
              </a:ext>
            </a:extLst>
          </p:cNvPr>
          <p:cNvGraphicFramePr/>
          <p:nvPr/>
        </p:nvGraphicFramePr>
        <p:xfrm>
          <a:off xmlns:a="http://schemas.openxmlformats.org/drawingml/2006/main" x="400050" y="1381125"/>
          <a:ext xmlns:a="http://schemas.openxmlformats.org/drawingml/2006/main" cx="11372850" cy="2476500"/>
        </p:xfrm>
        <a:graphic xmlns:a="http://schemas.openxmlformats.org/drawingml/2006/main">
          <a:graphicData uri="http://schemas.openxmlformats.org/drawingml/2006/table">
            <a:tbl>
              <a:tblPr firstRow="1" bandRow="0"/>
              <a:tblGrid>
                <a:gridCol w="4000500"/>
                <a:gridCol w="3333750"/>
                <a:gridCol w="4038600"/>
              </a:tblGrid>
              <a:tr h="619125">
                <a:tc>
                  <a:txBody>
                    <a:bodyPr/>
                    <a:lstStyle/>
                    <a:p>
                      <a:pPr algn="l"/>
                      <a:r>
                        <a:rPr sz="1875" b="1">
                          <a:solidFill>
                            <a:srgbClr val="000000"/>
                          </a:solidFill>
                          <a:latin typeface="Times New Roman"/>
                          <a:ea typeface="Times New Roman"/>
                          <a:cs typeface="Times New Roman"/>
                        </a:rPr>
                        <a:t>Property</a:t>
                      </a:r>
                    </a:p>
                  </a:txBody>
                  <a:tcPr marL="91440" marR="91440" marT="45720" marB="45720">
                    <a:lnL w="6668">
                      <a:solidFill>
                        <a:srgbClr val="AAAAAA"/>
                      </a:solidFill>
                      <a:prstDash val="solid"/>
                    </a:lnL>
                    <a:lnR w="6668">
                      <a:solidFill>
                        <a:srgbClr val="AAAAAA"/>
                      </a:solidFill>
                      <a:prstDash val="solid"/>
                    </a:lnR>
                    <a:lnT w="6668">
                      <a:solidFill>
                        <a:srgbClr val="AAAAAA"/>
                      </a:solidFill>
                      <a:prstDash val="solid"/>
                    </a:lnT>
                    <a:lnB w="6668">
                      <a:solidFill>
                        <a:srgbClr val="AAAAAA"/>
                      </a:solidFill>
                      <a:prstDash val="solid"/>
                    </a:lnB>
                    <a:solidFill>
                      <a:srgbClr val="EFF5FA"/>
                    </a:solidFill>
                  </a:tcPr>
                </a:tc>
                <a:tc>
                  <a:txBody>
                    <a:bodyPr/>
                    <a:lstStyle/>
                    <a:p>
                      <a:pPr algn="ctr"/>
                      <a:r>
                        <a:rPr sz="1875" b="1">
                          <a:solidFill>
                            <a:srgbClr val="000000"/>
                          </a:solidFill>
                          <a:latin typeface="Times New Roman"/>
                          <a:ea typeface="Times New Roman"/>
                          <a:cs typeface="Times New Roman"/>
                        </a:rPr>
                        <a:t>Default</a:t>
                      </a:r>
                    </a:p>
                  </a:txBody>
                  <a:tcPr marL="91440" marR="91440" marT="45720" marB="45720">
                    <a:lnR w="6668">
                      <a:solidFill>
                        <a:srgbClr val="AAAAAA"/>
                      </a:solidFill>
                      <a:prstDash val="solid"/>
                    </a:lnR>
                    <a:lnT w="6668">
                      <a:solidFill>
                        <a:srgbClr val="AAAAAA"/>
                      </a:solidFill>
                      <a:prstDash val="solid"/>
                    </a:lnT>
                    <a:lnB w="6668">
                      <a:solidFill>
                        <a:srgbClr val="AAAAAA"/>
                      </a:solidFill>
                      <a:prstDash val="solid"/>
                    </a:lnB>
                    <a:solidFill>
                      <a:srgbClr val="EFF5FA"/>
                    </a:solidFill>
                  </a:tcPr>
                </a:tc>
                <a:tc>
                  <a:txBody>
                    <a:bodyPr/>
                    <a:lstStyle/>
                    <a:p>
                      <a:pPr algn="ctr"/>
                      <a:r>
                        <a:rPr sz="1875" b="1">
                          <a:solidFill>
                            <a:srgbClr val="000000"/>
                          </a:solidFill>
                          <a:latin typeface="Times New Roman"/>
                          <a:ea typeface="Times New Roman"/>
                          <a:cs typeface="Times New Roman"/>
                        </a:rPr>
                        <a:t>Role</a:t>
                      </a:r>
                    </a:p>
                  </a:txBody>
                  <a:tcPr marL="91440" marR="91440" marT="45720" marB="45720">
                    <a:lnR w="6668">
                      <a:solidFill>
                        <a:srgbClr val="AAAAAA"/>
                      </a:solidFill>
                      <a:prstDash val="solid"/>
                    </a:lnR>
                    <a:lnT w="6668">
                      <a:solidFill>
                        <a:srgbClr val="AAAAAA"/>
                      </a:solidFill>
                      <a:prstDash val="solid"/>
                    </a:lnT>
                    <a:lnB w="6668">
                      <a:solidFill>
                        <a:srgbClr val="AAAAAA"/>
                      </a:solidFill>
                      <a:prstDash val="solid"/>
                    </a:lnB>
                    <a:solidFill>
                      <a:srgbClr val="EFF5FA"/>
                    </a:solidFill>
                  </a:tcPr>
                </a:tc>
              </a:tr>
              <a:tr h="619125">
                <a:tc>
                  <a:txBody>
                    <a:bodyPr/>
                    <a:lstStyle/>
                    <a:p>
                      <a:pPr algn="l"/>
                      <a:r>
                        <a:rPr sz="1875" b="0">
                          <a:solidFill>
                            <a:srgbClr val="000000"/>
                          </a:solidFill>
                          <a:latin typeface="Times New Roman"/>
                          <a:ea typeface="Times New Roman"/>
                          <a:cs typeface="Times New Roman"/>
                        </a:rPr>
                        <a:t>Fibre strength and modulus</a:t>
                      </a:r>
                    </a:p>
                  </a:txBody>
                  <a:tcPr marL="91440" marR="91440" marT="45720" marB="45720">
                    <a:lnL w="6668">
                      <a:solidFill>
                        <a:srgbClr val="AAAAAA"/>
                      </a:solidFill>
                      <a:prstDash val="solid"/>
                    </a:lnL>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1750 MPa and 73 GPa</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Fibre contribution and failure strain</a:t>
                      </a:r>
                    </a:p>
                  </a:txBody>
                  <a:tcPr marL="91440" marR="91440" marT="45720" marB="45720">
                    <a:lnR w="6668">
                      <a:solidFill>
                        <a:srgbClr val="AAAAAA"/>
                      </a:solidFill>
                      <a:prstDash val="solid"/>
                    </a:lnR>
                    <a:lnB w="6668">
                      <a:solidFill>
                        <a:srgbClr val="AAAAAA"/>
                      </a:solidFill>
                      <a:prstDash val="solid"/>
                    </a:lnB>
                    <a:solidFill>
                      <a:srgbClr val="FFFFFF"/>
                    </a:solidFill>
                  </a:tcPr>
                </a:tc>
              </a:tr>
              <a:tr h="619125">
                <a:tc>
                  <a:txBody>
                    <a:bodyPr/>
                    <a:lstStyle/>
                    <a:p>
                      <a:pPr algn="l"/>
                      <a:r>
                        <a:rPr sz="1875" b="0">
                          <a:solidFill>
                            <a:srgbClr val="000000"/>
                          </a:solidFill>
                          <a:latin typeface="Times New Roman"/>
                          <a:ea typeface="Times New Roman"/>
                          <a:cs typeface="Times New Roman"/>
                        </a:rPr>
                        <a:t>Matrix strength and modulus</a:t>
                      </a:r>
                    </a:p>
                  </a:txBody>
                  <a:tcPr marL="91440" marR="91440" marT="45720" marB="45720">
                    <a:lnL w="6668">
                      <a:solidFill>
                        <a:srgbClr val="AAAAAA"/>
                      </a:solidFill>
                      <a:prstDash val="solid"/>
                    </a:lnL>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55 MPa and 2.4 GPa</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Capped matrix contribution</a:t>
                      </a:r>
                    </a:p>
                  </a:txBody>
                  <a:tcPr marL="91440" marR="91440" marT="45720" marB="45720">
                    <a:lnR w="6668">
                      <a:solidFill>
                        <a:srgbClr val="AAAAAA"/>
                      </a:solidFill>
                      <a:prstDash val="solid"/>
                    </a:lnR>
                    <a:lnB w="6668">
                      <a:solidFill>
                        <a:srgbClr val="AAAAAA"/>
                      </a:solidFill>
                      <a:prstDash val="solid"/>
                    </a:lnB>
                    <a:solidFill>
                      <a:srgbClr val="FFFFFF"/>
                    </a:solidFill>
                  </a:tcPr>
                </a:tc>
              </a:tr>
              <a:tr h="619125">
                <a:tc>
                  <a:txBody>
                    <a:bodyPr/>
                    <a:lstStyle/>
                    <a:p>
                      <a:pPr algn="l"/>
                      <a:r>
                        <a:rPr sz="1875" b="0">
                          <a:solidFill>
                            <a:srgbClr val="000000"/>
                          </a:solidFill>
                          <a:latin typeface="Times New Roman"/>
                          <a:ea typeface="Times New Roman"/>
                          <a:cs typeface="Times New Roman"/>
                        </a:rPr>
                        <a:t>Transverse and shear strength</a:t>
                      </a:r>
                    </a:p>
                  </a:txBody>
                  <a:tcPr marL="91440" marR="91440" marT="45720" marB="45720">
                    <a:lnL w="6668">
                      <a:solidFill>
                        <a:srgbClr val="AAAAAA"/>
                      </a:solidFill>
                      <a:prstDash val="solid"/>
                    </a:lnL>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40 MPa and 60 MPa</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Off-axis resistance</a:t>
                      </a:r>
                    </a:p>
                  </a:txBody>
                  <a:tcPr marL="91440" marR="91440" marT="45720" marB="45720">
                    <a:lnR w="6668">
                      <a:solidFill>
                        <a:srgbClr val="AAAAAA"/>
                      </a:solidFill>
                      <a:prstDash val="solid"/>
                    </a:lnR>
                    <a:lnB w="6668">
                      <a:solidFill>
                        <a:srgbClr val="AAAAA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A279B64-6A03-4C9D-A6F2-A42BA17FD676}"/>
              </a:ext>
            </a:extLst>
          </p:cNvPr>
          <p:cNvSpPr>
            <a:spLocks xmlns:a="http://schemas.openxmlformats.org/drawingml/2006/main" noGrp="1"/>
          </p:cNvSpPr>
          <p:nvPr/>
        </p:nvSpPr>
        <p:spPr>
          <a:xfrm xmlns:a="http://schemas.openxmlformats.org/drawingml/2006/main">
            <a:off x="400050" y="4238625"/>
            <a:ext cx="11372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Physics Explained allows these six properties to vary for a direct simulator calculation.</a:t>
            </a:r>
          </a:p>
        </p:txBody>
      </p:sp>
      <p:sp>
        <p:nvSpPr>
          <p:cNvPr id="5" name="">
            <a:extLst xmlns:a="http://schemas.openxmlformats.org/drawingml/2006/main">
              <a:ext uri="{FF2B5EF4-FFF2-40B4-BE49-F238E27FC236}">
                <a16:creationId xmlns:a16="http://schemas.microsoft.com/office/drawing/2014/main" id="{1443CE6C-5BAF-40E8-8257-0CEAD5431515}"/>
              </a:ext>
            </a:extLst>
          </p:cNvPr>
          <p:cNvSpPr>
            <a:spLocks xmlns:a="http://schemas.openxmlformats.org/drawingml/2006/main" noGrp="1"/>
          </p:cNvSpPr>
          <p:nvPr/>
        </p:nvSpPr>
        <p:spPr>
          <a:xfrm xmlns:a="http://schemas.openxmlformats.org/drawingml/2006/main">
            <a:off x="400050" y="5133975"/>
            <a:ext cx="11372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The saved three-feature forest retains its original nominal parameter snapshot. Changing material controls does not update that forest.</a:t>
            </a:r>
          </a:p>
        </p:txBody>
      </p:sp>
    </p:spTree>
    <p:extLst>
      <p:ext uri="{BB962C8B-B14F-4D97-AF65-F5344CB8AC3E}">
        <p14:creationId xmlns:p14="http://schemas.microsoft.com/office/powerpoint/2010/main" val="144106105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BB45B123-A31B-447A-AC58-2F721370F4F0}"/>
              </a:ext>
            </a:extLst>
          </p:cNvPr>
          <p:cNvCxnSpPr>
            <a:stCxn xmlns:a="http://schemas.openxmlformats.org/drawingml/2006/main" id="8" idx="2"/>
            <a:endCxn xmlns:a="http://schemas.openxmlformats.org/drawingml/2006/main" id="9" idx="0"/>
          </p:cNvCxnSpPr>
          <p:nvPr/>
        </p:nvCxnSpPr>
        <p:spPr>
          <a:xfrm xmlns:a="http://schemas.openxmlformats.org/drawingml/2006/main" flipH="1">
            <a:off x="6096000" y="5334000"/>
            <a:ext cx="2881313" cy="571500"/>
          </a:xfrm>
          <a:prstGeom xmlns:a="http://schemas.openxmlformats.org/drawingml/2006/main" prst="bentConnector4">
            <a:avLst>
              <a:gd name="adj1" fmla="val 0"/>
              <a:gd name="adj2" fmla="val 50000"/>
            </a:avLst>
          </a:prstGeom>
          <a:ln xmlns:a="http://schemas.openxmlformats.org/drawingml/2006/main" w="13335">
            <a:solidFill>
              <a:srgbClr val="333333"/>
            </a:solidFill>
            <a:tailEnd type="triangle" w="sm" len="sm"/>
          </a:ln>
        </p:spPr>
      </p:cxnSp>
      <p:cxnSp>
        <p:nvCxnSpPr>
          <p:cNvPr id="15" name="">
            <a:extLst xmlns:a="http://schemas.openxmlformats.org/drawingml/2006/main">
              <a:ext uri="{FF2B5EF4-FFF2-40B4-BE49-F238E27FC236}">
                <a16:creationId xmlns:a16="http://schemas.microsoft.com/office/drawing/2014/main" id="{D5317E7A-8982-417D-B3F1-1E69C785C23D}"/>
              </a:ext>
            </a:extLst>
          </p:cNvPr>
          <p:cNvCxnSpPr>
            <a:stCxn xmlns:a="http://schemas.openxmlformats.org/drawingml/2006/main" id="7" idx="2"/>
            <a:endCxn xmlns:a="http://schemas.openxmlformats.org/drawingml/2006/main" id="9" idx="0"/>
          </p:cNvCxnSpPr>
          <p:nvPr/>
        </p:nvCxnSpPr>
        <p:spPr>
          <a:xfrm xmlns:a="http://schemas.openxmlformats.org/drawingml/2006/main">
            <a:off x="3000375" y="5334000"/>
            <a:ext cx="3095625" cy="571500"/>
          </a:xfrm>
          <a:prstGeom xmlns:a="http://schemas.openxmlformats.org/drawingml/2006/main" prst="bentConnector4">
            <a:avLst>
              <a:gd name="adj1" fmla="val 0"/>
              <a:gd name="adj2" fmla="val 50000"/>
            </a:avLst>
          </a:prstGeom>
          <a:ln xmlns:a="http://schemas.openxmlformats.org/drawingml/2006/main" w="13335">
            <a:solidFill>
              <a:srgbClr val="333333"/>
            </a:solidFill>
            <a:tailEnd type="triangle" w="sm" len="sm"/>
          </a:ln>
        </p:spPr>
      </p:cxnSp>
      <p:cxnSp>
        <p:nvCxnSpPr>
          <p:cNvPr id="14" name="">
            <a:extLst xmlns:a="http://schemas.openxmlformats.org/drawingml/2006/main">
              <a:ext uri="{FF2B5EF4-FFF2-40B4-BE49-F238E27FC236}">
                <a16:creationId xmlns:a16="http://schemas.microsoft.com/office/drawing/2014/main" id="{D40E44CD-311E-47DC-A2DC-CC3FD6D5DE87}"/>
              </a:ext>
            </a:extLst>
          </p:cNvPr>
          <p:cNvCxnSpPr>
            <a:stCxn xmlns:a="http://schemas.openxmlformats.org/drawingml/2006/main" id="6" idx="2"/>
            <a:endCxn xmlns:a="http://schemas.openxmlformats.org/drawingml/2006/main" id="8" idx="0"/>
          </p:cNvCxnSpPr>
          <p:nvPr/>
        </p:nvCxnSpPr>
        <p:spPr>
          <a:xfrm xmlns:a="http://schemas.openxmlformats.org/drawingml/2006/main">
            <a:off x="5095875" y="3905250"/>
            <a:ext cx="3881438" cy="476250"/>
          </a:xfrm>
          <a:prstGeom xmlns:a="http://schemas.openxmlformats.org/drawingml/2006/main" prst="bentConnector4">
            <a:avLst>
              <a:gd name="adj1" fmla="val 0"/>
              <a:gd name="adj2" fmla="val 50000"/>
            </a:avLst>
          </a:prstGeom>
          <a:ln xmlns:a="http://schemas.openxmlformats.org/drawingml/2006/main" w="13335">
            <a:solidFill>
              <a:srgbClr val="333333"/>
            </a:solidFill>
            <a:tailEnd type="triangle" w="sm" len="sm"/>
          </a:ln>
        </p:spPr>
      </p:cxnSp>
      <p:cxnSp>
        <p:nvCxnSpPr>
          <p:cNvPr id="13" name="">
            <a:extLst xmlns:a="http://schemas.openxmlformats.org/drawingml/2006/main">
              <a:ext uri="{FF2B5EF4-FFF2-40B4-BE49-F238E27FC236}">
                <a16:creationId xmlns:a16="http://schemas.microsoft.com/office/drawing/2014/main" id="{36DFA1B1-3274-4754-9EBE-19D1E2EE42B0}"/>
              </a:ext>
            </a:extLst>
          </p:cNvPr>
          <p:cNvCxnSpPr>
            <a:stCxn xmlns:a="http://schemas.openxmlformats.org/drawingml/2006/main" id="6" idx="2"/>
            <a:endCxn xmlns:a="http://schemas.openxmlformats.org/drawingml/2006/main" id="7" idx="0"/>
          </p:cNvCxnSpPr>
          <p:nvPr/>
        </p:nvCxnSpPr>
        <p:spPr>
          <a:xfrm xmlns:a="http://schemas.openxmlformats.org/drawingml/2006/main" flipH="1">
            <a:off x="3000375" y="3905250"/>
            <a:ext cx="2095500" cy="476250"/>
          </a:xfrm>
          <a:prstGeom xmlns:a="http://schemas.openxmlformats.org/drawingml/2006/main" prst="bentConnector4">
            <a:avLst>
              <a:gd name="adj1" fmla="val 0"/>
              <a:gd name="adj2" fmla="val 50000"/>
            </a:avLst>
          </a:prstGeom>
          <a:ln xmlns:a="http://schemas.openxmlformats.org/drawingml/2006/main" w="13335">
            <a:solidFill>
              <a:srgbClr val="333333"/>
            </a:solidFill>
            <a:tailEnd type="triangle" w="sm" len="sm"/>
          </a:ln>
        </p:spPr>
      </p:cxnSp>
      <p:cxnSp>
        <p:nvCxnSpPr>
          <p:cNvPr id="12" name="">
            <a:extLst xmlns:a="http://schemas.openxmlformats.org/drawingml/2006/main">
              <a:ext uri="{FF2B5EF4-FFF2-40B4-BE49-F238E27FC236}">
                <a16:creationId xmlns:a16="http://schemas.microsoft.com/office/drawing/2014/main" id="{3F1F5463-115A-4B3C-8C37-5E81C14D27E3}"/>
              </a:ext>
            </a:extLst>
          </p:cNvPr>
          <p:cNvCxnSpPr>
            <a:stCxn xmlns:a="http://schemas.openxmlformats.org/drawingml/2006/main" id="5" idx="2"/>
            <a:endCxn xmlns:a="http://schemas.openxmlformats.org/drawingml/2006/main" id="6" idx="0"/>
          </p:cNvCxnSpPr>
          <p:nvPr/>
        </p:nvCxnSpPr>
        <p:spPr>
          <a:xfrm xmlns:a="http://schemas.openxmlformats.org/drawingml/2006/main">
            <a:off x="5095875" y="2857500"/>
            <a:ext cx="0" cy="381000"/>
          </a:xfrm>
          <a:prstGeom xmlns:a="http://schemas.openxmlformats.org/drawingml/2006/main" prst="straightConnector1">
            <a:avLst/>
          </a:prstGeom>
          <a:ln xmlns:a="http://schemas.openxmlformats.org/drawingml/2006/main" w="13335">
            <a:solidFill>
              <a:srgbClr val="333333"/>
            </a:solidFill>
            <a:tailEnd type="triangle" w="sm" len="sm"/>
          </a:ln>
        </p:spPr>
      </p:cxnSp>
      <p:cxnSp>
        <p:nvCxnSpPr>
          <p:cNvPr id="11" name="">
            <a:extLst xmlns:a="http://schemas.openxmlformats.org/drawingml/2006/main">
              <a:ext uri="{FF2B5EF4-FFF2-40B4-BE49-F238E27FC236}">
                <a16:creationId xmlns:a16="http://schemas.microsoft.com/office/drawing/2014/main" id="{AE2B7A84-CB6F-48AF-9E08-E50048CC8B48}"/>
              </a:ext>
            </a:extLst>
          </p:cNvPr>
          <p:cNvCxnSpPr>
            <a:stCxn xmlns:a="http://schemas.openxmlformats.org/drawingml/2006/main" id="3" idx="3"/>
            <a:endCxn xmlns:a="http://schemas.openxmlformats.org/drawingml/2006/main" id="4" idx="1"/>
          </p:cNvCxnSpPr>
          <p:nvPr/>
        </p:nvCxnSpPr>
        <p:spPr>
          <a:xfrm xmlns:a="http://schemas.openxmlformats.org/drawingml/2006/main">
            <a:off x="7715250" y="1643063"/>
            <a:ext cx="762000" cy="381000"/>
          </a:xfrm>
          <a:prstGeom xmlns:a="http://schemas.openxmlformats.org/drawingml/2006/main" prst="bentConnector3">
            <a:avLst>
              <a:gd name="adj1" fmla="val 50000"/>
            </a:avLst>
          </a:prstGeom>
          <a:ln xmlns:a="http://schemas.openxmlformats.org/drawingml/2006/main" w="13335">
            <a:solidFill>
              <a:srgbClr val="333333"/>
            </a:solidFill>
            <a:tailEnd type="triangle" w="sm" len="sm"/>
          </a:ln>
        </p:spPr>
      </p:cxnSp>
      <p:cxnSp>
        <p:nvCxnSpPr>
          <p:cNvPr id="10" name="">
            <a:extLst xmlns:a="http://schemas.openxmlformats.org/drawingml/2006/main">
              <a:ext uri="{FF2B5EF4-FFF2-40B4-BE49-F238E27FC236}">
                <a16:creationId xmlns:a16="http://schemas.microsoft.com/office/drawing/2014/main" id="{522937C9-6CB9-4A14-B28E-BFEB5B9329AC}"/>
              </a:ext>
            </a:extLst>
          </p:cNvPr>
          <p:cNvCxnSpPr>
            <a:stCxn xmlns:a="http://schemas.openxmlformats.org/drawingml/2006/main" id="3" idx="2"/>
            <a:endCxn xmlns:a="http://schemas.openxmlformats.org/drawingml/2006/main" id="5" idx="0"/>
          </p:cNvCxnSpPr>
          <p:nvPr/>
        </p:nvCxnSpPr>
        <p:spPr>
          <a:xfrm xmlns:a="http://schemas.openxmlformats.org/drawingml/2006/main">
            <a:off x="4143375" y="1905000"/>
            <a:ext cx="952500" cy="428625"/>
          </a:xfrm>
          <a:prstGeom xmlns:a="http://schemas.openxmlformats.org/drawingml/2006/main" prst="bentConnector4">
            <a:avLst>
              <a:gd name="adj1" fmla="val 0"/>
              <a:gd name="adj2" fmla="val 50000"/>
            </a:avLst>
          </a:prstGeom>
          <a:ln xmlns:a="http://schemas.openxmlformats.org/drawingml/2006/main" w="13335">
            <a:solidFill>
              <a:srgbClr val="333333"/>
            </a:solidFill>
            <a:tailEnd type="triangle" w="sm" len="sm"/>
          </a:ln>
        </p:spPr>
      </p:cxnSp>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Methodology</a:t>
            </a:r>
            <a:endParaRPr/>
          </a:p>
        </p:txBody>
      </p:sp>
      <p:sp>
        <p:nvSpPr>
          <p:cNvPr id="3" name="">
            <a:extLst xmlns:a="http://schemas.openxmlformats.org/drawingml/2006/main">
              <a:ext uri="{FF2B5EF4-FFF2-40B4-BE49-F238E27FC236}">
                <a16:creationId xmlns:a16="http://schemas.microsoft.com/office/drawing/2014/main" id="{F7766B22-D7E9-454E-BFAB-F0CDBD18A33D}"/>
              </a:ext>
            </a:extLst>
          </p:cNvPr>
          <p:cNvSpPr>
            <a:spLocks xmlns:a="http://schemas.openxmlformats.org/drawingml/2006/main" noGrp="1"/>
          </p:cNvSpPr>
          <p:nvPr/>
        </p:nvSpPr>
        <p:spPr>
          <a:xfrm xmlns:a="http://schemas.openxmlformats.org/drawingml/2006/main">
            <a:off x="571500" y="1381125"/>
            <a:ext cx="7143750" cy="523875"/>
          </a:xfrm>
          <a:prstGeom xmlns:a="http://schemas.openxmlformats.org/drawingml/2006/main" prst="rect">
            <a:avLst/>
          </a:prstGeom>
          <a:solidFill xmlns:a="http://schemas.openxmlformats.org/drawingml/2006/main">
            <a:srgbClr val="FFFFFF"/>
          </a:solidFill>
          <a:ln xmlns:a="http://schemas.openxmlformats.org/drawingml/2006/main" w="14288">
            <a:solidFill>
              <a:srgbClr val="333333"/>
            </a:solidFill>
          </a:ln>
        </p:spPr>
        <p:txBody>
          <a:bodyPr xmlns:a="http://schemas.openxmlformats.org/drawingml/2006/main" lIns="95250" tIns="47625" rIns="95250" bIns="47625" anchor="ctr"/>
          <a:lstStyle xmlns:a="http://schemas.openxmlformats.org/drawingml/2006/main">
            <a:defPPr algn="ctr">
              <a:defRPr sz="1800">
                <a:solidFill>
                  <a:srgbClr val="000000"/>
                </a:solidFill>
                <a:latin typeface="Times New Roman"/>
                <a:ea typeface="Times New Roman"/>
                <a:cs typeface="Times New Roman"/>
              </a:defRPr>
            </a:defPPr>
            <a:lvl1pPr algn="ctr">
              <a:defRPr sz="1800">
                <a:solidFill>
                  <a:srgbClr val="000000"/>
                </a:solidFill>
                <a:latin typeface="Times New Roman"/>
                <a:ea typeface="Times New Roman"/>
                <a:cs typeface="Times New Roman"/>
              </a:defRPr>
            </a:lvl1pPr>
            <a:lvl2pPr algn="ctr">
              <a:defRPr sz="1800">
                <a:solidFill>
                  <a:srgbClr val="000000"/>
                </a:solidFill>
                <a:latin typeface="Times New Roman"/>
                <a:ea typeface="Times New Roman"/>
                <a:cs typeface="Times New Roman"/>
              </a:defRPr>
            </a:lvl2pPr>
            <a:lvl3pPr algn="ctr">
              <a:defRPr sz="1800">
                <a:solidFill>
                  <a:srgbClr val="000000"/>
                </a:solidFill>
                <a:latin typeface="Times New Roman"/>
                <a:ea typeface="Times New Roman"/>
                <a:cs typeface="Times New Roman"/>
              </a:defRPr>
            </a:lvl3pPr>
            <a:lvl4pPr algn="ctr">
              <a:defRPr sz="1800">
                <a:solidFill>
                  <a:srgbClr val="000000"/>
                </a:solidFill>
                <a:latin typeface="Times New Roman"/>
                <a:ea typeface="Times New Roman"/>
                <a:cs typeface="Times New Roman"/>
              </a:defRPr>
            </a:lvl4pPr>
            <a:lvl5pPr algn="ctr">
              <a:defRPr sz="1800">
                <a:solidFill>
                  <a:srgbClr val="000000"/>
                </a:solidFill>
                <a:latin typeface="Times New Roman"/>
                <a:ea typeface="Times New Roman"/>
                <a:cs typeface="Times New Roman"/>
              </a:defRPr>
            </a:lvl5pPr>
            <a:lvl6pPr algn="ctr">
              <a:defRPr sz="1800">
                <a:solidFill>
                  <a:srgbClr val="000000"/>
                </a:solidFill>
                <a:latin typeface="Times New Roman"/>
                <a:ea typeface="Times New Roman"/>
                <a:cs typeface="Times New Roman"/>
              </a:defRPr>
            </a:lvl6pPr>
            <a:lvl7pPr algn="ctr">
              <a:defRPr sz="1800">
                <a:solidFill>
                  <a:srgbClr val="000000"/>
                </a:solidFill>
                <a:latin typeface="Times New Roman"/>
                <a:ea typeface="Times New Roman"/>
                <a:cs typeface="Times New Roman"/>
              </a:defRPr>
            </a:lvl7pPr>
            <a:lvl8pPr algn="ctr">
              <a:defRPr sz="1800">
                <a:solidFill>
                  <a:srgbClr val="000000"/>
                </a:solidFill>
                <a:latin typeface="Times New Roman"/>
                <a:ea typeface="Times New Roman"/>
                <a:cs typeface="Times New Roman"/>
              </a:defRPr>
            </a:lvl8pPr>
            <a:lvl9pPr algn="ctr">
              <a:defRPr sz="1800">
                <a:solidFill>
                  <a:srgbClr val="000000"/>
                </a:solidFill>
                <a:latin typeface="Times New Roman"/>
                <a:ea typeface="Times New Roman"/>
                <a:cs typeface="Times New Roman"/>
              </a:defRPr>
            </a:lvl9pPr>
          </a:lstStyle>
          <a:p xmlns:a="http://schemas.openxmlformats.org/drawingml/2006/main">
            <a:pPr algn="ct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Literature review and UD scope</a:t>
            </a:r>
          </a:p>
        </p:txBody>
      </p:sp>
      <p:sp>
        <p:nvSpPr>
          <p:cNvPr id="4" name="">
            <a:extLst xmlns:a="http://schemas.openxmlformats.org/drawingml/2006/main">
              <a:ext uri="{FF2B5EF4-FFF2-40B4-BE49-F238E27FC236}">
                <a16:creationId xmlns:a16="http://schemas.microsoft.com/office/drawing/2014/main" id="{515106B9-5B95-41CD-8DBC-E2B98552C47B}"/>
              </a:ext>
            </a:extLst>
          </p:cNvPr>
          <p:cNvSpPr>
            <a:spLocks xmlns:a="http://schemas.openxmlformats.org/drawingml/2006/main" noGrp="1"/>
          </p:cNvSpPr>
          <p:nvPr/>
        </p:nvSpPr>
        <p:spPr>
          <a:xfrm xmlns:a="http://schemas.openxmlformats.org/drawingml/2006/main">
            <a:off x="8477250" y="1381125"/>
            <a:ext cx="3143250" cy="1285875"/>
          </a:xfrm>
          <a:prstGeom xmlns:a="http://schemas.openxmlformats.org/drawingml/2006/main" prst="rect">
            <a:avLst/>
          </a:prstGeom>
          <a:solidFill xmlns:a="http://schemas.openxmlformats.org/drawingml/2006/main">
            <a:srgbClr val="FFFFFF"/>
          </a:solidFill>
          <a:ln xmlns:a="http://schemas.openxmlformats.org/drawingml/2006/main" w="14288">
            <a:solidFill>
              <a:srgbClr val="333333"/>
            </a:solidFill>
          </a:ln>
        </p:spPr>
        <p:txBody>
          <a:bodyPr xmlns:a="http://schemas.openxmlformats.org/drawingml/2006/main" lIns="95250" tIns="47625" rIns="95250" bIns="47625" anchor="ctr"/>
          <a:lstStyle xmlns:a="http://schemas.openxmlformats.org/drawingml/2006/main">
            <a:defPPr algn="ctr">
              <a:defRPr sz="1650">
                <a:solidFill>
                  <a:srgbClr val="000000"/>
                </a:solidFill>
                <a:latin typeface="Times New Roman"/>
                <a:ea typeface="Times New Roman"/>
                <a:cs typeface="Times New Roman"/>
              </a:defRPr>
            </a:defPPr>
            <a:lvl1pPr algn="ctr">
              <a:defRPr sz="1650">
                <a:solidFill>
                  <a:srgbClr val="000000"/>
                </a:solidFill>
                <a:latin typeface="Times New Roman"/>
                <a:ea typeface="Times New Roman"/>
                <a:cs typeface="Times New Roman"/>
              </a:defRPr>
            </a:lvl1pPr>
            <a:lvl2pPr algn="ctr">
              <a:defRPr sz="1650">
                <a:solidFill>
                  <a:srgbClr val="000000"/>
                </a:solidFill>
                <a:latin typeface="Times New Roman"/>
                <a:ea typeface="Times New Roman"/>
                <a:cs typeface="Times New Roman"/>
              </a:defRPr>
            </a:lvl2pPr>
            <a:lvl3pPr algn="ctr">
              <a:defRPr sz="1650">
                <a:solidFill>
                  <a:srgbClr val="000000"/>
                </a:solidFill>
                <a:latin typeface="Times New Roman"/>
                <a:ea typeface="Times New Roman"/>
                <a:cs typeface="Times New Roman"/>
              </a:defRPr>
            </a:lvl3pPr>
            <a:lvl4pPr algn="ctr">
              <a:defRPr sz="1650">
                <a:solidFill>
                  <a:srgbClr val="000000"/>
                </a:solidFill>
                <a:latin typeface="Times New Roman"/>
                <a:ea typeface="Times New Roman"/>
                <a:cs typeface="Times New Roman"/>
              </a:defRPr>
            </a:lvl4pPr>
            <a:lvl5pPr algn="ctr">
              <a:defRPr sz="1650">
                <a:solidFill>
                  <a:srgbClr val="000000"/>
                </a:solidFill>
                <a:latin typeface="Times New Roman"/>
                <a:ea typeface="Times New Roman"/>
                <a:cs typeface="Times New Roman"/>
              </a:defRPr>
            </a:lvl5pPr>
            <a:lvl6pPr algn="ctr">
              <a:defRPr sz="1650">
                <a:solidFill>
                  <a:srgbClr val="000000"/>
                </a:solidFill>
                <a:latin typeface="Times New Roman"/>
                <a:ea typeface="Times New Roman"/>
                <a:cs typeface="Times New Roman"/>
              </a:defRPr>
            </a:lvl6pPr>
            <a:lvl7pPr algn="ctr">
              <a:defRPr sz="1650">
                <a:solidFill>
                  <a:srgbClr val="000000"/>
                </a:solidFill>
                <a:latin typeface="Times New Roman"/>
                <a:ea typeface="Times New Roman"/>
                <a:cs typeface="Times New Roman"/>
              </a:defRPr>
            </a:lvl7pPr>
            <a:lvl8pPr algn="ctr">
              <a:defRPr sz="1650">
                <a:solidFill>
                  <a:srgbClr val="000000"/>
                </a:solidFill>
                <a:latin typeface="Times New Roman"/>
                <a:ea typeface="Times New Roman"/>
                <a:cs typeface="Times New Roman"/>
              </a:defRPr>
            </a:lvl8pPr>
            <a:lvl9pPr algn="ctr">
              <a:defRPr sz="1650">
                <a:solidFill>
                  <a:srgbClr val="000000"/>
                </a:solidFill>
                <a:latin typeface="Times New Roman"/>
                <a:ea typeface="Times New Roman"/>
                <a:cs typeface="Times New Roman"/>
              </a:defRPr>
            </a:lvl9pPr>
          </a:lstStyle>
          <a:p xmlns:a="http://schemas.openxmlformats.org/drawingml/2006/main">
            <a:pPr algn="ct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Separate literature path</a:t>
            </a:r>
          </a:p>
          <a:p xmlns:a="http://schemas.openxmlformats.org/drawingml/2006/main">
            <a:pPr algn="ct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Extraction and human review</a:t>
            </a:r>
          </a:p>
          <a:p xmlns:a="http://schemas.openxmlformats.org/drawingml/2006/main">
            <a:pPr algn="ct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Comparison only, eligible n = 0</a:t>
            </a:r>
          </a:p>
        </p:txBody>
      </p:sp>
      <p:sp>
        <p:nvSpPr>
          <p:cNvPr id="5" name="">
            <a:extLst xmlns:a="http://schemas.openxmlformats.org/drawingml/2006/main">
              <a:ext uri="{FF2B5EF4-FFF2-40B4-BE49-F238E27FC236}">
                <a16:creationId xmlns:a16="http://schemas.microsoft.com/office/drawing/2014/main" id="{2C35F93B-7A30-4172-A041-3AFBE7D676B4}"/>
              </a:ext>
            </a:extLst>
          </p:cNvPr>
          <p:cNvSpPr>
            <a:spLocks xmlns:a="http://schemas.openxmlformats.org/drawingml/2006/main" noGrp="1"/>
          </p:cNvSpPr>
          <p:nvPr/>
        </p:nvSpPr>
        <p:spPr>
          <a:xfrm xmlns:a="http://schemas.openxmlformats.org/drawingml/2006/main">
            <a:off x="2476500" y="2333625"/>
            <a:ext cx="5238750" cy="523875"/>
          </a:xfrm>
          <a:prstGeom xmlns:a="http://schemas.openxmlformats.org/drawingml/2006/main" prst="rect">
            <a:avLst/>
          </a:prstGeom>
          <a:solidFill xmlns:a="http://schemas.openxmlformats.org/drawingml/2006/main">
            <a:srgbClr val="FFFFFF"/>
          </a:solidFill>
          <a:ln xmlns:a="http://schemas.openxmlformats.org/drawingml/2006/main" w="14288">
            <a:solidFill>
              <a:srgbClr val="333333"/>
            </a:solidFill>
          </a:ln>
        </p:spPr>
        <p:txBody>
          <a:bodyPr xmlns:a="http://schemas.openxmlformats.org/drawingml/2006/main" lIns="95250" tIns="47625" rIns="95250" bIns="47625" anchor="ctr"/>
          <a:lstStyle xmlns:a="http://schemas.openxmlformats.org/drawingml/2006/main">
            <a:defPPr algn="ctr">
              <a:defRPr sz="1800">
                <a:solidFill>
                  <a:srgbClr val="000000"/>
                </a:solidFill>
                <a:latin typeface="Times New Roman"/>
                <a:ea typeface="Times New Roman"/>
                <a:cs typeface="Times New Roman"/>
              </a:defRPr>
            </a:defPPr>
            <a:lvl1pPr algn="ctr">
              <a:defRPr sz="1800">
                <a:solidFill>
                  <a:srgbClr val="000000"/>
                </a:solidFill>
                <a:latin typeface="Times New Roman"/>
                <a:ea typeface="Times New Roman"/>
                <a:cs typeface="Times New Roman"/>
              </a:defRPr>
            </a:lvl1pPr>
            <a:lvl2pPr algn="ctr">
              <a:defRPr sz="1800">
                <a:solidFill>
                  <a:srgbClr val="000000"/>
                </a:solidFill>
                <a:latin typeface="Times New Roman"/>
                <a:ea typeface="Times New Roman"/>
                <a:cs typeface="Times New Roman"/>
              </a:defRPr>
            </a:lvl2pPr>
            <a:lvl3pPr algn="ctr">
              <a:defRPr sz="1800">
                <a:solidFill>
                  <a:srgbClr val="000000"/>
                </a:solidFill>
                <a:latin typeface="Times New Roman"/>
                <a:ea typeface="Times New Roman"/>
                <a:cs typeface="Times New Roman"/>
              </a:defRPr>
            </a:lvl3pPr>
            <a:lvl4pPr algn="ctr">
              <a:defRPr sz="1800">
                <a:solidFill>
                  <a:srgbClr val="000000"/>
                </a:solidFill>
                <a:latin typeface="Times New Roman"/>
                <a:ea typeface="Times New Roman"/>
                <a:cs typeface="Times New Roman"/>
              </a:defRPr>
            </a:lvl4pPr>
            <a:lvl5pPr algn="ctr">
              <a:defRPr sz="1800">
                <a:solidFill>
                  <a:srgbClr val="000000"/>
                </a:solidFill>
                <a:latin typeface="Times New Roman"/>
                <a:ea typeface="Times New Roman"/>
                <a:cs typeface="Times New Roman"/>
              </a:defRPr>
            </a:lvl5pPr>
            <a:lvl6pPr algn="ctr">
              <a:defRPr sz="1800">
                <a:solidFill>
                  <a:srgbClr val="000000"/>
                </a:solidFill>
                <a:latin typeface="Times New Roman"/>
                <a:ea typeface="Times New Roman"/>
                <a:cs typeface="Times New Roman"/>
              </a:defRPr>
            </a:lvl6pPr>
            <a:lvl7pPr algn="ctr">
              <a:defRPr sz="1800">
                <a:solidFill>
                  <a:srgbClr val="000000"/>
                </a:solidFill>
                <a:latin typeface="Times New Roman"/>
                <a:ea typeface="Times New Roman"/>
                <a:cs typeface="Times New Roman"/>
              </a:defRPr>
            </a:lvl7pPr>
            <a:lvl8pPr algn="ctr">
              <a:defRPr sz="1800">
                <a:solidFill>
                  <a:srgbClr val="000000"/>
                </a:solidFill>
                <a:latin typeface="Times New Roman"/>
                <a:ea typeface="Times New Roman"/>
                <a:cs typeface="Times New Roman"/>
              </a:defRPr>
            </a:lvl8pPr>
            <a:lvl9pPr algn="ctr">
              <a:defRPr sz="1800">
                <a:solidFill>
                  <a:srgbClr val="000000"/>
                </a:solidFill>
                <a:latin typeface="Times New Roman"/>
                <a:ea typeface="Times New Roman"/>
                <a:cs typeface="Times New Roman"/>
              </a:defRPr>
            </a:lvl9pPr>
          </a:lstStyle>
          <a:p xmlns:a="http://schemas.openxmlformats.org/drawingml/2006/main">
            <a:pPr algn="ctr">
              <a:defRPr sz="1800">
                <a:solidFill>
                  <a:srgbClr val="000000"/>
                </a:solidFill>
                <a:latin typeface="Times New Roman"/>
                <a:ea typeface="Times New Roman"/>
                <a:cs typeface="Times New Roman"/>
              </a:defRPr>
            </a:pPr>
            <a:r>
              <a:rPr sz="1800">
                <a:solidFill>
                  <a:srgbClr val="000000"/>
                </a:solidFill>
                <a:latin typeface="Times New Roman"/>
                <a:ea typeface="Times New Roman"/>
                <a:cs typeface="Times New Roman"/>
              </a:rPr>
              <a:t>Nominal simulator and three sampled inputs</a:t>
            </a:r>
          </a:p>
        </p:txBody>
      </p:sp>
      <p:sp>
        <p:nvSpPr>
          <p:cNvPr id="6" name="">
            <a:extLst xmlns:a="http://schemas.openxmlformats.org/drawingml/2006/main">
              <a:ext uri="{FF2B5EF4-FFF2-40B4-BE49-F238E27FC236}">
                <a16:creationId xmlns:a16="http://schemas.microsoft.com/office/drawing/2014/main" id="{29CE10E8-B9BE-4A42-A7B6-BDA463B71F97}"/>
              </a:ext>
            </a:extLst>
          </p:cNvPr>
          <p:cNvSpPr>
            <a:spLocks xmlns:a="http://schemas.openxmlformats.org/drawingml/2006/main" noGrp="1"/>
          </p:cNvSpPr>
          <p:nvPr/>
        </p:nvSpPr>
        <p:spPr>
          <a:xfrm xmlns:a="http://schemas.openxmlformats.org/drawingml/2006/main">
            <a:off x="2476500" y="3238500"/>
            <a:ext cx="523875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333333"/>
            </a:solidFill>
          </a:ln>
        </p:spPr>
        <p:txBody>
          <a:bodyPr xmlns:a="http://schemas.openxmlformats.org/drawingml/2006/main" lIns="95250" tIns="47625" rIns="95250" bIns="47625" anchor="ctr"/>
          <a:lstStyle xmlns:a="http://schemas.openxmlformats.org/drawingml/2006/main">
            <a:defPPr algn="ctr">
              <a:defRPr sz="1725">
                <a:solidFill>
                  <a:srgbClr val="000000"/>
                </a:solidFill>
                <a:latin typeface="Times New Roman"/>
                <a:ea typeface="Times New Roman"/>
                <a:cs typeface="Times New Roman"/>
              </a:defRPr>
            </a:defPPr>
            <a:lvl1pPr algn="ctr">
              <a:defRPr sz="1725">
                <a:solidFill>
                  <a:srgbClr val="000000"/>
                </a:solidFill>
                <a:latin typeface="Times New Roman"/>
                <a:ea typeface="Times New Roman"/>
                <a:cs typeface="Times New Roman"/>
              </a:defRPr>
            </a:lvl1pPr>
            <a:lvl2pPr algn="ctr">
              <a:defRPr sz="1725">
                <a:solidFill>
                  <a:srgbClr val="000000"/>
                </a:solidFill>
                <a:latin typeface="Times New Roman"/>
                <a:ea typeface="Times New Roman"/>
                <a:cs typeface="Times New Roman"/>
              </a:defRPr>
            </a:lvl2pPr>
            <a:lvl3pPr algn="ctr">
              <a:defRPr sz="1725">
                <a:solidFill>
                  <a:srgbClr val="000000"/>
                </a:solidFill>
                <a:latin typeface="Times New Roman"/>
                <a:ea typeface="Times New Roman"/>
                <a:cs typeface="Times New Roman"/>
              </a:defRPr>
            </a:lvl3pPr>
            <a:lvl4pPr algn="ctr">
              <a:defRPr sz="1725">
                <a:solidFill>
                  <a:srgbClr val="000000"/>
                </a:solidFill>
                <a:latin typeface="Times New Roman"/>
                <a:ea typeface="Times New Roman"/>
                <a:cs typeface="Times New Roman"/>
              </a:defRPr>
            </a:lvl4pPr>
            <a:lvl5pPr algn="ctr">
              <a:defRPr sz="1725">
                <a:solidFill>
                  <a:srgbClr val="000000"/>
                </a:solidFill>
                <a:latin typeface="Times New Roman"/>
                <a:ea typeface="Times New Roman"/>
                <a:cs typeface="Times New Roman"/>
              </a:defRPr>
            </a:lvl5pPr>
            <a:lvl6pPr algn="ctr">
              <a:defRPr sz="1725">
                <a:solidFill>
                  <a:srgbClr val="000000"/>
                </a:solidFill>
                <a:latin typeface="Times New Roman"/>
                <a:ea typeface="Times New Roman"/>
                <a:cs typeface="Times New Roman"/>
              </a:defRPr>
            </a:lvl6pPr>
            <a:lvl7pPr algn="ctr">
              <a:defRPr sz="1725">
                <a:solidFill>
                  <a:srgbClr val="000000"/>
                </a:solidFill>
                <a:latin typeface="Times New Roman"/>
                <a:ea typeface="Times New Roman"/>
                <a:cs typeface="Times New Roman"/>
              </a:defRPr>
            </a:lvl7pPr>
            <a:lvl8pPr algn="ctr">
              <a:defRPr sz="1725">
                <a:solidFill>
                  <a:srgbClr val="000000"/>
                </a:solidFill>
                <a:latin typeface="Times New Roman"/>
                <a:ea typeface="Times New Roman"/>
                <a:cs typeface="Times New Roman"/>
              </a:defRPr>
            </a:lvl8pPr>
            <a:lvl9pPr algn="ctr">
              <a:defRPr sz="1725">
                <a:solidFill>
                  <a:srgbClr val="000000"/>
                </a:solidFill>
                <a:latin typeface="Times New Roman"/>
                <a:ea typeface="Times New Roman"/>
                <a:cs typeface="Times New Roman"/>
              </a:defRPr>
            </a:lvl9pPr>
          </a:lstStyle>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Generate and validate 2,000 SIMULATED rows</a:t>
            </a:r>
          </a:p>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Seed 42 and 5% assumed scatter</a:t>
            </a:r>
          </a:p>
        </p:txBody>
      </p:sp>
      <p:sp>
        <p:nvSpPr>
          <p:cNvPr id="7" name="">
            <a:extLst xmlns:a="http://schemas.openxmlformats.org/drawingml/2006/main">
              <a:ext uri="{FF2B5EF4-FFF2-40B4-BE49-F238E27FC236}">
                <a16:creationId xmlns:a16="http://schemas.microsoft.com/office/drawing/2014/main" id="{C47ED5F8-EEE1-4A4A-8193-133433363FE1}"/>
              </a:ext>
            </a:extLst>
          </p:cNvPr>
          <p:cNvSpPr>
            <a:spLocks xmlns:a="http://schemas.openxmlformats.org/drawingml/2006/main" noGrp="1"/>
          </p:cNvSpPr>
          <p:nvPr/>
        </p:nvSpPr>
        <p:spPr>
          <a:xfrm xmlns:a="http://schemas.openxmlformats.org/drawingml/2006/main">
            <a:off x="571500" y="4381500"/>
            <a:ext cx="4857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333333"/>
            </a:solidFill>
          </a:ln>
        </p:spPr>
        <p:txBody>
          <a:bodyPr xmlns:a="http://schemas.openxmlformats.org/drawingml/2006/main" lIns="95250" tIns="47625" rIns="95250" bIns="47625" anchor="ctr"/>
          <a:lstStyle xmlns:a="http://schemas.openxmlformats.org/drawingml/2006/main">
            <a:defPPr algn="ctr">
              <a:defRPr sz="1725">
                <a:solidFill>
                  <a:srgbClr val="000000"/>
                </a:solidFill>
                <a:latin typeface="Times New Roman"/>
                <a:ea typeface="Times New Roman"/>
                <a:cs typeface="Times New Roman"/>
              </a:defRPr>
            </a:defPPr>
            <a:lvl1pPr algn="ctr">
              <a:defRPr sz="1725">
                <a:solidFill>
                  <a:srgbClr val="000000"/>
                </a:solidFill>
                <a:latin typeface="Times New Roman"/>
                <a:ea typeface="Times New Roman"/>
                <a:cs typeface="Times New Roman"/>
              </a:defRPr>
            </a:lvl1pPr>
            <a:lvl2pPr algn="ctr">
              <a:defRPr sz="1725">
                <a:solidFill>
                  <a:srgbClr val="000000"/>
                </a:solidFill>
                <a:latin typeface="Times New Roman"/>
                <a:ea typeface="Times New Roman"/>
                <a:cs typeface="Times New Roman"/>
              </a:defRPr>
            </a:lvl2pPr>
            <a:lvl3pPr algn="ctr">
              <a:defRPr sz="1725">
                <a:solidFill>
                  <a:srgbClr val="000000"/>
                </a:solidFill>
                <a:latin typeface="Times New Roman"/>
                <a:ea typeface="Times New Roman"/>
                <a:cs typeface="Times New Roman"/>
              </a:defRPr>
            </a:lvl3pPr>
            <a:lvl4pPr algn="ctr">
              <a:defRPr sz="1725">
                <a:solidFill>
                  <a:srgbClr val="000000"/>
                </a:solidFill>
                <a:latin typeface="Times New Roman"/>
                <a:ea typeface="Times New Roman"/>
                <a:cs typeface="Times New Roman"/>
              </a:defRPr>
            </a:lvl4pPr>
            <a:lvl5pPr algn="ctr">
              <a:defRPr sz="1725">
                <a:solidFill>
                  <a:srgbClr val="000000"/>
                </a:solidFill>
                <a:latin typeface="Times New Roman"/>
                <a:ea typeface="Times New Roman"/>
                <a:cs typeface="Times New Roman"/>
              </a:defRPr>
            </a:lvl5pPr>
            <a:lvl6pPr algn="ctr">
              <a:defRPr sz="1725">
                <a:solidFill>
                  <a:srgbClr val="000000"/>
                </a:solidFill>
                <a:latin typeface="Times New Roman"/>
                <a:ea typeface="Times New Roman"/>
                <a:cs typeface="Times New Roman"/>
              </a:defRPr>
            </a:lvl6pPr>
            <a:lvl7pPr algn="ctr">
              <a:defRPr sz="1725">
                <a:solidFill>
                  <a:srgbClr val="000000"/>
                </a:solidFill>
                <a:latin typeface="Times New Roman"/>
                <a:ea typeface="Times New Roman"/>
                <a:cs typeface="Times New Roman"/>
              </a:defRPr>
            </a:lvl7pPr>
            <a:lvl8pPr algn="ctr">
              <a:defRPr sz="1725">
                <a:solidFill>
                  <a:srgbClr val="000000"/>
                </a:solidFill>
                <a:latin typeface="Times New Roman"/>
                <a:ea typeface="Times New Roman"/>
                <a:cs typeface="Times New Roman"/>
              </a:defRPr>
            </a:lvl8pPr>
            <a:lvl9pPr algn="ctr">
              <a:defRPr sz="1725">
                <a:solidFill>
                  <a:srgbClr val="000000"/>
                </a:solidFill>
                <a:latin typeface="Times New Roman"/>
                <a:ea typeface="Times New Roman"/>
                <a:cs typeface="Times New Roman"/>
              </a:defRPr>
            </a:lvl9pPr>
          </a:lstStyle>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Random holdout</a:t>
            </a:r>
          </a:p>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1,600 train / 400 holdout</a:t>
            </a:r>
          </a:p>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Fit Linear Regression and Random Forest</a:t>
            </a:r>
          </a:p>
        </p:txBody>
      </p:sp>
      <p:sp>
        <p:nvSpPr>
          <p:cNvPr id="8" name="">
            <a:extLst xmlns:a="http://schemas.openxmlformats.org/drawingml/2006/main">
              <a:ext uri="{FF2B5EF4-FFF2-40B4-BE49-F238E27FC236}">
                <a16:creationId xmlns:a16="http://schemas.microsoft.com/office/drawing/2014/main" id="{FDD11D0C-7CF6-4125-8C25-DD4E924E8F73}"/>
              </a:ext>
            </a:extLst>
          </p:cNvPr>
          <p:cNvSpPr>
            <a:spLocks xmlns:a="http://schemas.openxmlformats.org/drawingml/2006/main" noGrp="1"/>
          </p:cNvSpPr>
          <p:nvPr/>
        </p:nvSpPr>
        <p:spPr>
          <a:xfrm xmlns:a="http://schemas.openxmlformats.org/drawingml/2006/main">
            <a:off x="6334125" y="4381500"/>
            <a:ext cx="5286375"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333333"/>
            </a:solidFill>
          </a:ln>
        </p:spPr>
        <p:txBody>
          <a:bodyPr xmlns:a="http://schemas.openxmlformats.org/drawingml/2006/main" lIns="95250" tIns="47625" rIns="95250" bIns="47625" anchor="ctr"/>
          <a:lstStyle xmlns:a="http://schemas.openxmlformats.org/drawingml/2006/main">
            <a:defPPr algn="ctr">
              <a:defRPr sz="1725">
                <a:solidFill>
                  <a:srgbClr val="000000"/>
                </a:solidFill>
                <a:latin typeface="Times New Roman"/>
                <a:ea typeface="Times New Roman"/>
                <a:cs typeface="Times New Roman"/>
              </a:defRPr>
            </a:defPPr>
            <a:lvl1pPr algn="ctr">
              <a:defRPr sz="1725">
                <a:solidFill>
                  <a:srgbClr val="000000"/>
                </a:solidFill>
                <a:latin typeface="Times New Roman"/>
                <a:ea typeface="Times New Roman"/>
                <a:cs typeface="Times New Roman"/>
              </a:defRPr>
            </a:lvl1pPr>
            <a:lvl2pPr algn="ctr">
              <a:defRPr sz="1725">
                <a:solidFill>
                  <a:srgbClr val="000000"/>
                </a:solidFill>
                <a:latin typeface="Times New Roman"/>
                <a:ea typeface="Times New Roman"/>
                <a:cs typeface="Times New Roman"/>
              </a:defRPr>
            </a:lvl2pPr>
            <a:lvl3pPr algn="ctr">
              <a:defRPr sz="1725">
                <a:solidFill>
                  <a:srgbClr val="000000"/>
                </a:solidFill>
                <a:latin typeface="Times New Roman"/>
                <a:ea typeface="Times New Roman"/>
                <a:cs typeface="Times New Roman"/>
              </a:defRPr>
            </a:lvl3pPr>
            <a:lvl4pPr algn="ctr">
              <a:defRPr sz="1725">
                <a:solidFill>
                  <a:srgbClr val="000000"/>
                </a:solidFill>
                <a:latin typeface="Times New Roman"/>
                <a:ea typeface="Times New Roman"/>
                <a:cs typeface="Times New Roman"/>
              </a:defRPr>
            </a:lvl4pPr>
            <a:lvl5pPr algn="ctr">
              <a:defRPr sz="1725">
                <a:solidFill>
                  <a:srgbClr val="000000"/>
                </a:solidFill>
                <a:latin typeface="Times New Roman"/>
                <a:ea typeface="Times New Roman"/>
                <a:cs typeface="Times New Roman"/>
              </a:defRPr>
            </a:lvl5pPr>
            <a:lvl6pPr algn="ctr">
              <a:defRPr sz="1725">
                <a:solidFill>
                  <a:srgbClr val="000000"/>
                </a:solidFill>
                <a:latin typeface="Times New Roman"/>
                <a:ea typeface="Times New Roman"/>
                <a:cs typeface="Times New Roman"/>
              </a:defRPr>
            </a:lvl6pPr>
            <a:lvl7pPr algn="ctr">
              <a:defRPr sz="1725">
                <a:solidFill>
                  <a:srgbClr val="000000"/>
                </a:solidFill>
                <a:latin typeface="Times New Roman"/>
                <a:ea typeface="Times New Roman"/>
                <a:cs typeface="Times New Roman"/>
              </a:defRPr>
            </a:lvl7pPr>
            <a:lvl8pPr algn="ctr">
              <a:defRPr sz="1725">
                <a:solidFill>
                  <a:srgbClr val="000000"/>
                </a:solidFill>
                <a:latin typeface="Times New Roman"/>
                <a:ea typeface="Times New Roman"/>
                <a:cs typeface="Times New Roman"/>
              </a:defRPr>
            </a:lvl8pPr>
            <a:lvl9pPr algn="ctr">
              <a:defRPr sz="1725">
                <a:solidFill>
                  <a:srgbClr val="000000"/>
                </a:solidFill>
                <a:latin typeface="Times New Roman"/>
                <a:ea typeface="Times New Roman"/>
                <a:cs typeface="Times New Roman"/>
              </a:defRPr>
            </a:lvl9pPr>
          </a:lstStyle>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Separate fibre-region test</a:t>
            </a:r>
          </a:p>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1,535 train / 465 test</a:t>
            </a:r>
          </a:p>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Fit fresh Linear Regression and Random Forest</a:t>
            </a:r>
          </a:p>
        </p:txBody>
      </p:sp>
      <p:sp>
        <p:nvSpPr>
          <p:cNvPr id="9" name="">
            <a:extLst xmlns:a="http://schemas.openxmlformats.org/drawingml/2006/main">
              <a:ext uri="{FF2B5EF4-FFF2-40B4-BE49-F238E27FC236}">
                <a16:creationId xmlns:a16="http://schemas.microsoft.com/office/drawing/2014/main" id="{018E5F6D-96F1-4D49-96BD-9657EF34370B}"/>
              </a:ext>
            </a:extLst>
          </p:cNvPr>
          <p:cNvSpPr>
            <a:spLocks xmlns:a="http://schemas.openxmlformats.org/drawingml/2006/main" noGrp="1"/>
          </p:cNvSpPr>
          <p:nvPr/>
        </p:nvSpPr>
        <p:spPr>
          <a:xfrm xmlns:a="http://schemas.openxmlformats.org/drawingml/2006/main">
            <a:off x="2190750" y="5905500"/>
            <a:ext cx="7810500" cy="619125"/>
          </a:xfrm>
          <a:prstGeom xmlns:a="http://schemas.openxmlformats.org/drawingml/2006/main" prst="rect">
            <a:avLst/>
          </a:prstGeom>
          <a:solidFill xmlns:a="http://schemas.openxmlformats.org/drawingml/2006/main">
            <a:srgbClr val="FFFFFF"/>
          </a:solidFill>
          <a:ln xmlns:a="http://schemas.openxmlformats.org/drawingml/2006/main" w="14288">
            <a:solidFill>
              <a:srgbClr val="333333"/>
            </a:solidFill>
          </a:ln>
        </p:spPr>
        <p:txBody>
          <a:bodyPr xmlns:a="http://schemas.openxmlformats.org/drawingml/2006/main" lIns="95250" tIns="47625" rIns="95250" bIns="47625" anchor="ctr"/>
          <a:lstStyle xmlns:a="http://schemas.openxmlformats.org/drawingml/2006/main">
            <a:defPPr algn="ctr">
              <a:defRPr sz="1725">
                <a:solidFill>
                  <a:srgbClr val="000000"/>
                </a:solidFill>
                <a:latin typeface="Times New Roman"/>
                <a:ea typeface="Times New Roman"/>
                <a:cs typeface="Times New Roman"/>
              </a:defRPr>
            </a:defPPr>
            <a:lvl1pPr algn="ctr">
              <a:defRPr sz="1725">
                <a:solidFill>
                  <a:srgbClr val="000000"/>
                </a:solidFill>
                <a:latin typeface="Times New Roman"/>
                <a:ea typeface="Times New Roman"/>
                <a:cs typeface="Times New Roman"/>
              </a:defRPr>
            </a:lvl1pPr>
            <a:lvl2pPr algn="ctr">
              <a:defRPr sz="1725">
                <a:solidFill>
                  <a:srgbClr val="000000"/>
                </a:solidFill>
                <a:latin typeface="Times New Roman"/>
                <a:ea typeface="Times New Roman"/>
                <a:cs typeface="Times New Roman"/>
              </a:defRPr>
            </a:lvl2pPr>
            <a:lvl3pPr algn="ctr">
              <a:defRPr sz="1725">
                <a:solidFill>
                  <a:srgbClr val="000000"/>
                </a:solidFill>
                <a:latin typeface="Times New Roman"/>
                <a:ea typeface="Times New Roman"/>
                <a:cs typeface="Times New Roman"/>
              </a:defRPr>
            </a:lvl3pPr>
            <a:lvl4pPr algn="ctr">
              <a:defRPr sz="1725">
                <a:solidFill>
                  <a:srgbClr val="000000"/>
                </a:solidFill>
                <a:latin typeface="Times New Roman"/>
                <a:ea typeface="Times New Roman"/>
                <a:cs typeface="Times New Roman"/>
              </a:defRPr>
            </a:lvl4pPr>
            <a:lvl5pPr algn="ctr">
              <a:defRPr sz="1725">
                <a:solidFill>
                  <a:srgbClr val="000000"/>
                </a:solidFill>
                <a:latin typeface="Times New Roman"/>
                <a:ea typeface="Times New Roman"/>
                <a:cs typeface="Times New Roman"/>
              </a:defRPr>
            </a:lvl5pPr>
            <a:lvl6pPr algn="ctr">
              <a:defRPr sz="1725">
                <a:solidFill>
                  <a:srgbClr val="000000"/>
                </a:solidFill>
                <a:latin typeface="Times New Roman"/>
                <a:ea typeface="Times New Roman"/>
                <a:cs typeface="Times New Roman"/>
              </a:defRPr>
            </a:lvl6pPr>
            <a:lvl7pPr algn="ctr">
              <a:defRPr sz="1725">
                <a:solidFill>
                  <a:srgbClr val="000000"/>
                </a:solidFill>
                <a:latin typeface="Times New Roman"/>
                <a:ea typeface="Times New Roman"/>
                <a:cs typeface="Times New Roman"/>
              </a:defRPr>
            </a:lvl7pPr>
            <a:lvl8pPr algn="ctr">
              <a:defRPr sz="1725">
                <a:solidFill>
                  <a:srgbClr val="000000"/>
                </a:solidFill>
                <a:latin typeface="Times New Roman"/>
                <a:ea typeface="Times New Roman"/>
                <a:cs typeface="Times New Roman"/>
              </a:defRPr>
            </a:lvl8pPr>
            <a:lvl9pPr algn="ctr">
              <a:defRPr sz="1725">
                <a:solidFill>
                  <a:srgbClr val="000000"/>
                </a:solidFill>
                <a:latin typeface="Times New Roman"/>
                <a:ea typeface="Times New Roman"/>
                <a:cs typeface="Times New Roman"/>
              </a:defRPr>
            </a:lvl9pPr>
          </a:lstStyle>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Report MAE, RMSE and R² for both splits</a:t>
            </a:r>
          </a:p>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Save random-holdout-selected model and demonstrate</a:t>
            </a:r>
          </a:p>
        </p:txBody>
      </p:sp>
    </p:spTree>
    <p:extLst>
      <p:ext uri="{BB962C8B-B14F-4D97-AF65-F5344CB8AC3E}">
        <p14:creationId xmlns:p14="http://schemas.microsoft.com/office/powerpoint/2010/main" val="144106105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Physics model strength calculation</a:t>
            </a:r>
            <a:endParaRPr/>
          </a:p>
        </p:txBody>
      </p:sp>
      <p:sp>
        <p:nvSpPr>
          <p:cNvPr id="3" name="">
            <a:extLst xmlns:a="http://schemas.openxmlformats.org/drawingml/2006/main">
              <a:ext uri="{FF2B5EF4-FFF2-40B4-BE49-F238E27FC236}">
                <a16:creationId xmlns:a16="http://schemas.microsoft.com/office/drawing/2014/main" id="{BF926F8A-A876-447C-8EE9-EA258279543C}"/>
              </a:ext>
            </a:extLst>
          </p:cNvPr>
          <p:cNvSpPr>
            <a:spLocks xmlns:a="http://schemas.openxmlformats.org/drawingml/2006/main" noGrp="1"/>
          </p:cNvSpPr>
          <p:nvPr/>
        </p:nvSpPr>
        <p:spPr>
          <a:xfrm xmlns:a="http://schemas.openxmlformats.org/drawingml/2006/main">
            <a:off x="400050" y="1333500"/>
            <a:ext cx="1137285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0000"/>
                </a:solidFill>
                <a:latin typeface="Times New Roman"/>
                <a:ea typeface="Times New Roman"/>
                <a:cs typeface="Times New Roman"/>
              </a:defRPr>
            </a:defPPr>
            <a:lvl1pPr algn="l">
              <a:defRPr sz="1875" b="0">
                <a:solidFill>
                  <a:srgbClr val="000000"/>
                </a:solidFill>
                <a:latin typeface="Times New Roman"/>
                <a:ea typeface="Times New Roman"/>
                <a:cs typeface="Times New Roman"/>
              </a:defRPr>
            </a:lvl1pPr>
            <a:lvl2pPr algn="l">
              <a:defRPr sz="1875" b="0">
                <a:solidFill>
                  <a:srgbClr val="000000"/>
                </a:solidFill>
                <a:latin typeface="Times New Roman"/>
                <a:ea typeface="Times New Roman"/>
                <a:cs typeface="Times New Roman"/>
              </a:defRPr>
            </a:lvl2pPr>
            <a:lvl3pPr algn="l">
              <a:defRPr sz="1875" b="0">
                <a:solidFill>
                  <a:srgbClr val="000000"/>
                </a:solidFill>
                <a:latin typeface="Times New Roman"/>
                <a:ea typeface="Times New Roman"/>
                <a:cs typeface="Times New Roman"/>
              </a:defRPr>
            </a:lvl3pPr>
            <a:lvl4pPr algn="l">
              <a:defRPr sz="1875" b="0">
                <a:solidFill>
                  <a:srgbClr val="000000"/>
                </a:solidFill>
                <a:latin typeface="Times New Roman"/>
                <a:ea typeface="Times New Roman"/>
                <a:cs typeface="Times New Roman"/>
              </a:defRPr>
            </a:lvl4pPr>
            <a:lvl5pPr algn="l">
              <a:defRPr sz="1875" b="0">
                <a:solidFill>
                  <a:srgbClr val="000000"/>
                </a:solidFill>
                <a:latin typeface="Times New Roman"/>
                <a:ea typeface="Times New Roman"/>
                <a:cs typeface="Times New Roman"/>
              </a:defRPr>
            </a:lvl5pPr>
            <a:lvl6pPr algn="l">
              <a:defRPr sz="1875" b="0">
                <a:solidFill>
                  <a:srgbClr val="000000"/>
                </a:solidFill>
                <a:latin typeface="Times New Roman"/>
                <a:ea typeface="Times New Roman"/>
                <a:cs typeface="Times New Roman"/>
              </a:defRPr>
            </a:lvl6pPr>
            <a:lvl7pPr algn="l">
              <a:defRPr sz="1875" b="0">
                <a:solidFill>
                  <a:srgbClr val="000000"/>
                </a:solidFill>
                <a:latin typeface="Times New Roman"/>
                <a:ea typeface="Times New Roman"/>
                <a:cs typeface="Times New Roman"/>
              </a:defRPr>
            </a:lvl7pPr>
            <a:lvl8pPr algn="l">
              <a:defRPr sz="1875" b="0">
                <a:solidFill>
                  <a:srgbClr val="000000"/>
                </a:solidFill>
                <a:latin typeface="Times New Roman"/>
                <a:ea typeface="Times New Roman"/>
                <a:cs typeface="Times New Roman"/>
              </a:defRPr>
            </a:lvl8pPr>
            <a:lvl9pPr algn="l">
              <a:defRPr sz="1875" b="0">
                <a:solidFill>
                  <a:srgbClr val="000000"/>
                </a:solidFill>
                <a:latin typeface="Times New Roman"/>
                <a:ea typeface="Times New Roman"/>
                <a:cs typeface="Times New Roman"/>
              </a:defRPr>
            </a:lvl9pPr>
          </a:lstStyle>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Matrix stress at fibre failure: sigma_m* = min(sigma_m, E_m sigma_f / E_f)</a:t>
            </a:r>
          </a:p>
        </p:txBody>
      </p:sp>
      <p:sp>
        <p:nvSpPr>
          <p:cNvPr id="4" name="">
            <a:extLst xmlns:a="http://schemas.openxmlformats.org/drawingml/2006/main">
              <a:ext uri="{FF2B5EF4-FFF2-40B4-BE49-F238E27FC236}">
                <a16:creationId xmlns:a16="http://schemas.microsoft.com/office/drawing/2014/main" id="{24F50FE4-101D-45ED-8685-55AD402071C8}"/>
              </a:ext>
            </a:extLst>
          </p:cNvPr>
          <p:cNvSpPr>
            <a:spLocks xmlns:a="http://schemas.openxmlformats.org/drawingml/2006/main" noGrp="1"/>
          </p:cNvSpPr>
          <p:nvPr/>
        </p:nvSpPr>
        <p:spPr>
          <a:xfrm xmlns:a="http://schemas.openxmlformats.org/drawingml/2006/main">
            <a:off x="400050" y="2174875"/>
            <a:ext cx="1137285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0000"/>
                </a:solidFill>
                <a:latin typeface="Times New Roman"/>
                <a:ea typeface="Times New Roman"/>
                <a:cs typeface="Times New Roman"/>
              </a:defRPr>
            </a:defPPr>
            <a:lvl1pPr algn="l">
              <a:defRPr sz="1875" b="0">
                <a:solidFill>
                  <a:srgbClr val="000000"/>
                </a:solidFill>
                <a:latin typeface="Times New Roman"/>
                <a:ea typeface="Times New Roman"/>
                <a:cs typeface="Times New Roman"/>
              </a:defRPr>
            </a:lvl1pPr>
            <a:lvl2pPr algn="l">
              <a:defRPr sz="1875" b="0">
                <a:solidFill>
                  <a:srgbClr val="000000"/>
                </a:solidFill>
                <a:latin typeface="Times New Roman"/>
                <a:ea typeface="Times New Roman"/>
                <a:cs typeface="Times New Roman"/>
              </a:defRPr>
            </a:lvl2pPr>
            <a:lvl3pPr algn="l">
              <a:defRPr sz="1875" b="0">
                <a:solidFill>
                  <a:srgbClr val="000000"/>
                </a:solidFill>
                <a:latin typeface="Times New Roman"/>
                <a:ea typeface="Times New Roman"/>
                <a:cs typeface="Times New Roman"/>
              </a:defRPr>
            </a:lvl3pPr>
            <a:lvl4pPr algn="l">
              <a:defRPr sz="1875" b="0">
                <a:solidFill>
                  <a:srgbClr val="000000"/>
                </a:solidFill>
                <a:latin typeface="Times New Roman"/>
                <a:ea typeface="Times New Roman"/>
                <a:cs typeface="Times New Roman"/>
              </a:defRPr>
            </a:lvl4pPr>
            <a:lvl5pPr algn="l">
              <a:defRPr sz="1875" b="0">
                <a:solidFill>
                  <a:srgbClr val="000000"/>
                </a:solidFill>
                <a:latin typeface="Times New Roman"/>
                <a:ea typeface="Times New Roman"/>
                <a:cs typeface="Times New Roman"/>
              </a:defRPr>
            </a:lvl5pPr>
            <a:lvl6pPr algn="l">
              <a:defRPr sz="1875" b="0">
                <a:solidFill>
                  <a:srgbClr val="000000"/>
                </a:solidFill>
                <a:latin typeface="Times New Roman"/>
                <a:ea typeface="Times New Roman"/>
                <a:cs typeface="Times New Roman"/>
              </a:defRPr>
            </a:lvl6pPr>
            <a:lvl7pPr algn="l">
              <a:defRPr sz="1875" b="0">
                <a:solidFill>
                  <a:srgbClr val="000000"/>
                </a:solidFill>
                <a:latin typeface="Times New Roman"/>
                <a:ea typeface="Times New Roman"/>
                <a:cs typeface="Times New Roman"/>
              </a:defRPr>
            </a:lvl7pPr>
            <a:lvl8pPr algn="l">
              <a:defRPr sz="1875" b="0">
                <a:solidFill>
                  <a:srgbClr val="000000"/>
                </a:solidFill>
                <a:latin typeface="Times New Roman"/>
                <a:ea typeface="Times New Roman"/>
                <a:cs typeface="Times New Roman"/>
              </a:defRPr>
            </a:lvl8pPr>
            <a:lvl9pPr algn="l">
              <a:defRPr sz="1875" b="0">
                <a:solidFill>
                  <a:srgbClr val="000000"/>
                </a:solidFill>
                <a:latin typeface="Times New Roman"/>
                <a:ea typeface="Times New Roman"/>
                <a:cs typeface="Times New Roman"/>
              </a:defRPr>
            </a:lvl9pPr>
          </a:lstStyle>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Longitudinal mixture: X0 = eta Vf sigma_f + (1 - Vf) sigma_m*</a:t>
            </a:r>
          </a:p>
        </p:txBody>
      </p:sp>
      <p:sp>
        <p:nvSpPr>
          <p:cNvPr id="5" name="">
            <a:extLst xmlns:a="http://schemas.openxmlformats.org/drawingml/2006/main">
              <a:ext uri="{FF2B5EF4-FFF2-40B4-BE49-F238E27FC236}">
                <a16:creationId xmlns:a16="http://schemas.microsoft.com/office/drawing/2014/main" id="{F70E5D01-C805-4976-BF10-D4FA2864B3DB}"/>
              </a:ext>
            </a:extLst>
          </p:cNvPr>
          <p:cNvSpPr>
            <a:spLocks xmlns:a="http://schemas.openxmlformats.org/drawingml/2006/main" noGrp="1"/>
          </p:cNvSpPr>
          <p:nvPr/>
        </p:nvSpPr>
        <p:spPr>
          <a:xfrm xmlns:a="http://schemas.openxmlformats.org/drawingml/2006/main">
            <a:off x="400050" y="3016250"/>
            <a:ext cx="1137285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0000"/>
                </a:solidFill>
                <a:latin typeface="Times New Roman"/>
                <a:ea typeface="Times New Roman"/>
                <a:cs typeface="Times New Roman"/>
              </a:defRPr>
            </a:defPPr>
            <a:lvl1pPr algn="l">
              <a:defRPr sz="1875" b="0">
                <a:solidFill>
                  <a:srgbClr val="000000"/>
                </a:solidFill>
                <a:latin typeface="Times New Roman"/>
                <a:ea typeface="Times New Roman"/>
                <a:cs typeface="Times New Roman"/>
              </a:defRPr>
            </a:lvl1pPr>
            <a:lvl2pPr algn="l">
              <a:defRPr sz="1875" b="0">
                <a:solidFill>
                  <a:srgbClr val="000000"/>
                </a:solidFill>
                <a:latin typeface="Times New Roman"/>
                <a:ea typeface="Times New Roman"/>
                <a:cs typeface="Times New Roman"/>
              </a:defRPr>
            </a:lvl2pPr>
            <a:lvl3pPr algn="l">
              <a:defRPr sz="1875" b="0">
                <a:solidFill>
                  <a:srgbClr val="000000"/>
                </a:solidFill>
                <a:latin typeface="Times New Roman"/>
                <a:ea typeface="Times New Roman"/>
                <a:cs typeface="Times New Roman"/>
              </a:defRPr>
            </a:lvl3pPr>
            <a:lvl4pPr algn="l">
              <a:defRPr sz="1875" b="0">
                <a:solidFill>
                  <a:srgbClr val="000000"/>
                </a:solidFill>
                <a:latin typeface="Times New Roman"/>
                <a:ea typeface="Times New Roman"/>
                <a:cs typeface="Times New Roman"/>
              </a:defRPr>
            </a:lvl4pPr>
            <a:lvl5pPr algn="l">
              <a:defRPr sz="1875" b="0">
                <a:solidFill>
                  <a:srgbClr val="000000"/>
                </a:solidFill>
                <a:latin typeface="Times New Roman"/>
                <a:ea typeface="Times New Roman"/>
                <a:cs typeface="Times New Roman"/>
              </a:defRPr>
            </a:lvl5pPr>
            <a:lvl6pPr algn="l">
              <a:defRPr sz="1875" b="0">
                <a:solidFill>
                  <a:srgbClr val="000000"/>
                </a:solidFill>
                <a:latin typeface="Times New Roman"/>
                <a:ea typeface="Times New Roman"/>
                <a:cs typeface="Times New Roman"/>
              </a:defRPr>
            </a:lvl6pPr>
            <a:lvl7pPr algn="l">
              <a:defRPr sz="1875" b="0">
                <a:solidFill>
                  <a:srgbClr val="000000"/>
                </a:solidFill>
                <a:latin typeface="Times New Roman"/>
                <a:ea typeface="Times New Roman"/>
                <a:cs typeface="Times New Roman"/>
              </a:defRPr>
            </a:lvl7pPr>
            <a:lvl8pPr algn="l">
              <a:defRPr sz="1875" b="0">
                <a:solidFill>
                  <a:srgbClr val="000000"/>
                </a:solidFill>
                <a:latin typeface="Times New Roman"/>
                <a:ea typeface="Times New Roman"/>
                <a:cs typeface="Times New Roman"/>
              </a:defRPr>
            </a:lvl8pPr>
            <a:lvl9pPr algn="l">
              <a:defRPr sz="1875" b="0">
                <a:solidFill>
                  <a:srgbClr val="000000"/>
                </a:solidFill>
                <a:latin typeface="Times New Roman"/>
                <a:ea typeface="Times New Roman"/>
                <a:cs typeface="Times New Roman"/>
              </a:defRPr>
            </a:lvl9pPr>
          </a:lstStyle>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Void reductions: Xv = X0 exp(-kf Vv), Yv = Y0 exp(-km Vv), Sv = S0 exp(-km Vv)</a:t>
            </a:r>
          </a:p>
        </p:txBody>
      </p:sp>
      <p:sp>
        <p:nvSpPr>
          <p:cNvPr id="6" name="">
            <a:extLst xmlns:a="http://schemas.openxmlformats.org/drawingml/2006/main">
              <a:ext uri="{FF2B5EF4-FFF2-40B4-BE49-F238E27FC236}">
                <a16:creationId xmlns:a16="http://schemas.microsoft.com/office/drawing/2014/main" id="{199C0C8B-1E05-427F-9CDC-ECBF3CA53D4B}"/>
              </a:ext>
            </a:extLst>
          </p:cNvPr>
          <p:cNvSpPr>
            <a:spLocks xmlns:a="http://schemas.openxmlformats.org/drawingml/2006/main" noGrp="1"/>
          </p:cNvSpPr>
          <p:nvPr/>
        </p:nvSpPr>
        <p:spPr>
          <a:xfrm xmlns:a="http://schemas.openxmlformats.org/drawingml/2006/main">
            <a:off x="400050" y="3857625"/>
            <a:ext cx="1137285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0000"/>
                </a:solidFill>
                <a:latin typeface="Times New Roman"/>
                <a:ea typeface="Times New Roman"/>
                <a:cs typeface="Times New Roman"/>
              </a:defRPr>
            </a:defPPr>
            <a:lvl1pPr algn="l">
              <a:defRPr sz="1875" b="0">
                <a:solidFill>
                  <a:srgbClr val="000000"/>
                </a:solidFill>
                <a:latin typeface="Times New Roman"/>
                <a:ea typeface="Times New Roman"/>
                <a:cs typeface="Times New Roman"/>
              </a:defRPr>
            </a:lvl1pPr>
            <a:lvl2pPr algn="l">
              <a:defRPr sz="1875" b="0">
                <a:solidFill>
                  <a:srgbClr val="000000"/>
                </a:solidFill>
                <a:latin typeface="Times New Roman"/>
                <a:ea typeface="Times New Roman"/>
                <a:cs typeface="Times New Roman"/>
              </a:defRPr>
            </a:lvl2pPr>
            <a:lvl3pPr algn="l">
              <a:defRPr sz="1875" b="0">
                <a:solidFill>
                  <a:srgbClr val="000000"/>
                </a:solidFill>
                <a:latin typeface="Times New Roman"/>
                <a:ea typeface="Times New Roman"/>
                <a:cs typeface="Times New Roman"/>
              </a:defRPr>
            </a:lvl3pPr>
            <a:lvl4pPr algn="l">
              <a:defRPr sz="1875" b="0">
                <a:solidFill>
                  <a:srgbClr val="000000"/>
                </a:solidFill>
                <a:latin typeface="Times New Roman"/>
                <a:ea typeface="Times New Roman"/>
                <a:cs typeface="Times New Roman"/>
              </a:defRPr>
            </a:lvl4pPr>
            <a:lvl5pPr algn="l">
              <a:defRPr sz="1875" b="0">
                <a:solidFill>
                  <a:srgbClr val="000000"/>
                </a:solidFill>
                <a:latin typeface="Times New Roman"/>
                <a:ea typeface="Times New Roman"/>
                <a:cs typeface="Times New Roman"/>
              </a:defRPr>
            </a:lvl5pPr>
            <a:lvl6pPr algn="l">
              <a:defRPr sz="1875" b="0">
                <a:solidFill>
                  <a:srgbClr val="000000"/>
                </a:solidFill>
                <a:latin typeface="Times New Roman"/>
                <a:ea typeface="Times New Roman"/>
                <a:cs typeface="Times New Roman"/>
              </a:defRPr>
            </a:lvl6pPr>
            <a:lvl7pPr algn="l">
              <a:defRPr sz="1875" b="0">
                <a:solidFill>
                  <a:srgbClr val="000000"/>
                </a:solidFill>
                <a:latin typeface="Times New Roman"/>
                <a:ea typeface="Times New Roman"/>
                <a:cs typeface="Times New Roman"/>
              </a:defRPr>
            </a:lvl7pPr>
            <a:lvl8pPr algn="l">
              <a:defRPr sz="1875" b="0">
                <a:solidFill>
                  <a:srgbClr val="000000"/>
                </a:solidFill>
                <a:latin typeface="Times New Roman"/>
                <a:ea typeface="Times New Roman"/>
                <a:cs typeface="Times New Roman"/>
              </a:defRPr>
            </a:lvl8pPr>
            <a:lvl9pPr algn="l">
              <a:defRPr sz="1875" b="0">
                <a:solidFill>
                  <a:srgbClr val="000000"/>
                </a:solidFill>
                <a:latin typeface="Times New Roman"/>
                <a:ea typeface="Times New Roman"/>
                <a:cs typeface="Times New Roman"/>
              </a:defRPr>
            </a:lvl9pPr>
          </a:lstStyle>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Use Vf as a fraction in the mixture. Use Vv in percentage points with kf = 0.010 and km = 0.040 per percentage point.</a:t>
            </a:r>
          </a:p>
        </p:txBody>
      </p:sp>
      <p:sp>
        <p:nvSpPr>
          <p:cNvPr id="7" name="">
            <a:extLst xmlns:a="http://schemas.openxmlformats.org/drawingml/2006/main">
              <a:ext uri="{FF2B5EF4-FFF2-40B4-BE49-F238E27FC236}">
                <a16:creationId xmlns:a16="http://schemas.microsoft.com/office/drawing/2014/main" id="{A05776D5-85EC-43BD-B8D2-2EE1F2A5FC2F}"/>
              </a:ext>
            </a:extLst>
          </p:cNvPr>
          <p:cNvSpPr>
            <a:spLocks xmlns:a="http://schemas.openxmlformats.org/drawingml/2006/main" noGrp="1"/>
          </p:cNvSpPr>
          <p:nvPr/>
        </p:nvSpPr>
        <p:spPr>
          <a:xfrm xmlns:a="http://schemas.openxmlformats.org/drawingml/2006/main">
            <a:off x="400050" y="4699000"/>
            <a:ext cx="1137285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0000"/>
                </a:solidFill>
                <a:latin typeface="Times New Roman"/>
                <a:ea typeface="Times New Roman"/>
                <a:cs typeface="Times New Roman"/>
              </a:defRPr>
            </a:defPPr>
            <a:lvl1pPr algn="l">
              <a:defRPr sz="1875" b="0">
                <a:solidFill>
                  <a:srgbClr val="000000"/>
                </a:solidFill>
                <a:latin typeface="Times New Roman"/>
                <a:ea typeface="Times New Roman"/>
                <a:cs typeface="Times New Roman"/>
              </a:defRPr>
            </a:lvl1pPr>
            <a:lvl2pPr algn="l">
              <a:defRPr sz="1875" b="0">
                <a:solidFill>
                  <a:srgbClr val="000000"/>
                </a:solidFill>
                <a:latin typeface="Times New Roman"/>
                <a:ea typeface="Times New Roman"/>
                <a:cs typeface="Times New Roman"/>
              </a:defRPr>
            </a:lvl2pPr>
            <a:lvl3pPr algn="l">
              <a:defRPr sz="1875" b="0">
                <a:solidFill>
                  <a:srgbClr val="000000"/>
                </a:solidFill>
                <a:latin typeface="Times New Roman"/>
                <a:ea typeface="Times New Roman"/>
                <a:cs typeface="Times New Roman"/>
              </a:defRPr>
            </a:lvl3pPr>
            <a:lvl4pPr algn="l">
              <a:defRPr sz="1875" b="0">
                <a:solidFill>
                  <a:srgbClr val="000000"/>
                </a:solidFill>
                <a:latin typeface="Times New Roman"/>
                <a:ea typeface="Times New Roman"/>
                <a:cs typeface="Times New Roman"/>
              </a:defRPr>
            </a:lvl4pPr>
            <a:lvl5pPr algn="l">
              <a:defRPr sz="1875" b="0">
                <a:solidFill>
                  <a:srgbClr val="000000"/>
                </a:solidFill>
                <a:latin typeface="Times New Roman"/>
                <a:ea typeface="Times New Roman"/>
                <a:cs typeface="Times New Roman"/>
              </a:defRPr>
            </a:lvl5pPr>
            <a:lvl6pPr algn="l">
              <a:defRPr sz="1875" b="0">
                <a:solidFill>
                  <a:srgbClr val="000000"/>
                </a:solidFill>
                <a:latin typeface="Times New Roman"/>
                <a:ea typeface="Times New Roman"/>
                <a:cs typeface="Times New Roman"/>
              </a:defRPr>
            </a:lvl6pPr>
            <a:lvl7pPr algn="l">
              <a:defRPr sz="1875" b="0">
                <a:solidFill>
                  <a:srgbClr val="000000"/>
                </a:solidFill>
                <a:latin typeface="Times New Roman"/>
                <a:ea typeface="Times New Roman"/>
                <a:cs typeface="Times New Roman"/>
              </a:defRPr>
            </a:lvl7pPr>
            <a:lvl8pPr algn="l">
              <a:defRPr sz="1875" b="0">
                <a:solidFill>
                  <a:srgbClr val="000000"/>
                </a:solidFill>
                <a:latin typeface="Times New Roman"/>
                <a:ea typeface="Times New Roman"/>
                <a:cs typeface="Times New Roman"/>
              </a:defRPr>
            </a:lvl8pPr>
            <a:lvl9pPr algn="l">
              <a:defRPr sz="1875" b="0">
                <a:solidFill>
                  <a:srgbClr val="000000"/>
                </a:solidFill>
                <a:latin typeface="Times New Roman"/>
                <a:ea typeface="Times New Roman"/>
                <a:cs typeface="Times New Roman"/>
              </a:defRPr>
            </a:lvl9pPr>
          </a:lstStyle>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eta = 1 through 55% fibre, then decreases linearly to 0.80 at 70%. The deployed domain ends at 65%.</a:t>
            </a:r>
          </a:p>
        </p:txBody>
      </p:sp>
      <p:sp>
        <p:nvSpPr>
          <p:cNvPr id="8" name="">
            <a:extLst xmlns:a="http://schemas.openxmlformats.org/drawingml/2006/main">
              <a:ext uri="{FF2B5EF4-FFF2-40B4-BE49-F238E27FC236}">
                <a16:creationId xmlns:a16="http://schemas.microsoft.com/office/drawing/2014/main" id="{E4C14589-2577-4FE1-B4F3-17F7C92E7A76}"/>
              </a:ext>
            </a:extLst>
          </p:cNvPr>
          <p:cNvSpPr>
            <a:spLocks xmlns:a="http://schemas.openxmlformats.org/drawingml/2006/main" noGrp="1"/>
          </p:cNvSpPr>
          <p:nvPr/>
        </p:nvSpPr>
        <p:spPr>
          <a:xfrm xmlns:a="http://schemas.openxmlformats.org/drawingml/2006/main">
            <a:off x="400050" y="5540375"/>
            <a:ext cx="1137285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0000"/>
                </a:solidFill>
                <a:latin typeface="Times New Roman"/>
                <a:ea typeface="Times New Roman"/>
                <a:cs typeface="Times New Roman"/>
              </a:defRPr>
            </a:defPPr>
            <a:lvl1pPr algn="l">
              <a:defRPr sz="1875" b="0">
                <a:solidFill>
                  <a:srgbClr val="000000"/>
                </a:solidFill>
                <a:latin typeface="Times New Roman"/>
                <a:ea typeface="Times New Roman"/>
                <a:cs typeface="Times New Roman"/>
              </a:defRPr>
            </a:lvl1pPr>
            <a:lvl2pPr algn="l">
              <a:defRPr sz="1875" b="0">
                <a:solidFill>
                  <a:srgbClr val="000000"/>
                </a:solidFill>
                <a:latin typeface="Times New Roman"/>
                <a:ea typeface="Times New Roman"/>
                <a:cs typeface="Times New Roman"/>
              </a:defRPr>
            </a:lvl2pPr>
            <a:lvl3pPr algn="l">
              <a:defRPr sz="1875" b="0">
                <a:solidFill>
                  <a:srgbClr val="000000"/>
                </a:solidFill>
                <a:latin typeface="Times New Roman"/>
                <a:ea typeface="Times New Roman"/>
                <a:cs typeface="Times New Roman"/>
              </a:defRPr>
            </a:lvl3pPr>
            <a:lvl4pPr algn="l">
              <a:defRPr sz="1875" b="0">
                <a:solidFill>
                  <a:srgbClr val="000000"/>
                </a:solidFill>
                <a:latin typeface="Times New Roman"/>
                <a:ea typeface="Times New Roman"/>
                <a:cs typeface="Times New Roman"/>
              </a:defRPr>
            </a:lvl4pPr>
            <a:lvl5pPr algn="l">
              <a:defRPr sz="1875" b="0">
                <a:solidFill>
                  <a:srgbClr val="000000"/>
                </a:solidFill>
                <a:latin typeface="Times New Roman"/>
                <a:ea typeface="Times New Roman"/>
                <a:cs typeface="Times New Roman"/>
              </a:defRPr>
            </a:lvl5pPr>
            <a:lvl6pPr algn="l">
              <a:defRPr sz="1875" b="0">
                <a:solidFill>
                  <a:srgbClr val="000000"/>
                </a:solidFill>
                <a:latin typeface="Times New Roman"/>
                <a:ea typeface="Times New Roman"/>
                <a:cs typeface="Times New Roman"/>
              </a:defRPr>
            </a:lvl6pPr>
            <a:lvl7pPr algn="l">
              <a:defRPr sz="1875" b="0">
                <a:solidFill>
                  <a:srgbClr val="000000"/>
                </a:solidFill>
                <a:latin typeface="Times New Roman"/>
                <a:ea typeface="Times New Roman"/>
                <a:cs typeface="Times New Roman"/>
              </a:defRPr>
            </a:lvl7pPr>
            <a:lvl8pPr algn="l">
              <a:defRPr sz="1875" b="0">
                <a:solidFill>
                  <a:srgbClr val="000000"/>
                </a:solidFill>
                <a:latin typeface="Times New Roman"/>
                <a:ea typeface="Times New Roman"/>
                <a:cs typeface="Times New Roman"/>
              </a:defRPr>
            </a:lvl8pPr>
            <a:lvl9pPr algn="l">
              <a:defRPr sz="1875" b="0">
                <a:solidFill>
                  <a:srgbClr val="000000"/>
                </a:solidFill>
                <a:latin typeface="Times New Roman"/>
                <a:ea typeface="Times New Roman"/>
                <a:cs typeface="Times New Roman"/>
              </a:defRPr>
            </a:lvl9pPr>
          </a:lstStyle>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The (1 - Vf) term is a simplified matrix contribution with a separate void reduction, not an explicit three-phase volume-resolved model.</a:t>
            </a:r>
          </a:p>
        </p:txBody>
      </p:sp>
    </p:spTree>
    <p:extLst>
      <p:ext uri="{BB962C8B-B14F-4D97-AF65-F5344CB8AC3E}">
        <p14:creationId xmlns:p14="http://schemas.microsoft.com/office/powerpoint/2010/main" val="144106105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Off-axis model and simulated targets</a:t>
            </a:r>
            <a:endParaRPr/>
          </a:p>
        </p:txBody>
      </p:sp>
      <p:sp>
        <p:nvSpPr>
          <p:cNvPr id="3" name="">
            <a:extLst xmlns:a="http://schemas.openxmlformats.org/drawingml/2006/main">
              <a:ext uri="{FF2B5EF4-FFF2-40B4-BE49-F238E27FC236}">
                <a16:creationId xmlns:a16="http://schemas.microsoft.com/office/drawing/2014/main" id="{2AA9E325-E6F2-4F93-AB3B-EE6C389463F8}"/>
              </a:ext>
            </a:extLst>
          </p:cNvPr>
          <p:cNvSpPr>
            <a:spLocks xmlns:a="http://schemas.openxmlformats.org/drawingml/2006/main" noGrp="1"/>
          </p:cNvSpPr>
          <p:nvPr/>
        </p:nvSpPr>
        <p:spPr>
          <a:xfrm xmlns:a="http://schemas.openxmlformats.org/drawingml/2006/main">
            <a:off x="400050" y="13335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0000"/>
                </a:solidFill>
                <a:latin typeface="Times New Roman"/>
                <a:ea typeface="Times New Roman"/>
                <a:cs typeface="Times New Roman"/>
              </a:defRPr>
            </a:defPPr>
            <a:lvl1pPr algn="l">
              <a:defRPr sz="1875" b="0">
                <a:solidFill>
                  <a:srgbClr val="000000"/>
                </a:solidFill>
                <a:latin typeface="Times New Roman"/>
                <a:ea typeface="Times New Roman"/>
                <a:cs typeface="Times New Roman"/>
              </a:defRPr>
            </a:lvl1pPr>
            <a:lvl2pPr algn="l">
              <a:defRPr sz="1875" b="0">
                <a:solidFill>
                  <a:srgbClr val="000000"/>
                </a:solidFill>
                <a:latin typeface="Times New Roman"/>
                <a:ea typeface="Times New Roman"/>
                <a:cs typeface="Times New Roman"/>
              </a:defRPr>
            </a:lvl2pPr>
            <a:lvl3pPr algn="l">
              <a:defRPr sz="1875" b="0">
                <a:solidFill>
                  <a:srgbClr val="000000"/>
                </a:solidFill>
                <a:latin typeface="Times New Roman"/>
                <a:ea typeface="Times New Roman"/>
                <a:cs typeface="Times New Roman"/>
              </a:defRPr>
            </a:lvl3pPr>
            <a:lvl4pPr algn="l">
              <a:defRPr sz="1875" b="0">
                <a:solidFill>
                  <a:srgbClr val="000000"/>
                </a:solidFill>
                <a:latin typeface="Times New Roman"/>
                <a:ea typeface="Times New Roman"/>
                <a:cs typeface="Times New Roman"/>
              </a:defRPr>
            </a:lvl4pPr>
            <a:lvl5pPr algn="l">
              <a:defRPr sz="1875" b="0">
                <a:solidFill>
                  <a:srgbClr val="000000"/>
                </a:solidFill>
                <a:latin typeface="Times New Roman"/>
                <a:ea typeface="Times New Roman"/>
                <a:cs typeface="Times New Roman"/>
              </a:defRPr>
            </a:lvl5pPr>
            <a:lvl6pPr algn="l">
              <a:defRPr sz="1875" b="0">
                <a:solidFill>
                  <a:srgbClr val="000000"/>
                </a:solidFill>
                <a:latin typeface="Times New Roman"/>
                <a:ea typeface="Times New Roman"/>
                <a:cs typeface="Times New Roman"/>
              </a:defRPr>
            </a:lvl6pPr>
            <a:lvl7pPr algn="l">
              <a:defRPr sz="1875" b="0">
                <a:solidFill>
                  <a:srgbClr val="000000"/>
                </a:solidFill>
                <a:latin typeface="Times New Roman"/>
                <a:ea typeface="Times New Roman"/>
                <a:cs typeface="Times New Roman"/>
              </a:defRPr>
            </a:lvl7pPr>
            <a:lvl8pPr algn="l">
              <a:defRPr sz="1875" b="0">
                <a:solidFill>
                  <a:srgbClr val="000000"/>
                </a:solidFill>
                <a:latin typeface="Times New Roman"/>
                <a:ea typeface="Times New Roman"/>
                <a:cs typeface="Times New Roman"/>
              </a:defRPr>
            </a:lvl8pPr>
            <a:lvl9pPr algn="l">
              <a:defRPr sz="1875" b="0">
                <a:solidFill>
                  <a:srgbClr val="000000"/>
                </a:solidFill>
                <a:latin typeface="Times New Roman"/>
                <a:ea typeface="Times New Roman"/>
                <a:cs typeface="Times New Roman"/>
              </a:defRPr>
            </a:lvl9pPr>
          </a:lstStyle>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1 / sigma² = cos⁴(theta) / Xv² + (1 / Sv² - 1 / Xv²) sin²(theta) cos²(theta) + sin⁴(theta) / Yv²</a:t>
            </a:r>
          </a:p>
        </p:txBody>
      </p:sp>
      <p:sp>
        <p:nvSpPr>
          <p:cNvPr id="4" name="">
            <a:extLst xmlns:a="http://schemas.openxmlformats.org/drawingml/2006/main">
              <a:ext uri="{FF2B5EF4-FFF2-40B4-BE49-F238E27FC236}">
                <a16:creationId xmlns:a16="http://schemas.microsoft.com/office/drawing/2014/main" id="{0BFA4F18-DBFF-4D05-A411-B4E208B840E2}"/>
              </a:ext>
            </a:extLst>
          </p:cNvPr>
          <p:cNvSpPr>
            <a:spLocks xmlns:a="http://schemas.openxmlformats.org/drawingml/2006/main" noGrp="1"/>
          </p:cNvSpPr>
          <p:nvPr/>
        </p:nvSpPr>
        <p:spPr>
          <a:xfrm xmlns:a="http://schemas.openxmlformats.org/drawingml/2006/main">
            <a:off x="400050" y="234315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0000"/>
                </a:solidFill>
                <a:latin typeface="Times New Roman"/>
                <a:ea typeface="Times New Roman"/>
                <a:cs typeface="Times New Roman"/>
              </a:defRPr>
            </a:defPPr>
            <a:lvl1pPr algn="l">
              <a:defRPr sz="1875" b="0">
                <a:solidFill>
                  <a:srgbClr val="000000"/>
                </a:solidFill>
                <a:latin typeface="Times New Roman"/>
                <a:ea typeface="Times New Roman"/>
                <a:cs typeface="Times New Roman"/>
              </a:defRPr>
            </a:lvl1pPr>
            <a:lvl2pPr algn="l">
              <a:defRPr sz="1875" b="0">
                <a:solidFill>
                  <a:srgbClr val="000000"/>
                </a:solidFill>
                <a:latin typeface="Times New Roman"/>
                <a:ea typeface="Times New Roman"/>
                <a:cs typeface="Times New Roman"/>
              </a:defRPr>
            </a:lvl2pPr>
            <a:lvl3pPr algn="l">
              <a:defRPr sz="1875" b="0">
                <a:solidFill>
                  <a:srgbClr val="000000"/>
                </a:solidFill>
                <a:latin typeface="Times New Roman"/>
                <a:ea typeface="Times New Roman"/>
                <a:cs typeface="Times New Roman"/>
              </a:defRPr>
            </a:lvl3pPr>
            <a:lvl4pPr algn="l">
              <a:defRPr sz="1875" b="0">
                <a:solidFill>
                  <a:srgbClr val="000000"/>
                </a:solidFill>
                <a:latin typeface="Times New Roman"/>
                <a:ea typeface="Times New Roman"/>
                <a:cs typeface="Times New Roman"/>
              </a:defRPr>
            </a:lvl4pPr>
            <a:lvl5pPr algn="l">
              <a:defRPr sz="1875" b="0">
                <a:solidFill>
                  <a:srgbClr val="000000"/>
                </a:solidFill>
                <a:latin typeface="Times New Roman"/>
                <a:ea typeface="Times New Roman"/>
                <a:cs typeface="Times New Roman"/>
              </a:defRPr>
            </a:lvl5pPr>
            <a:lvl6pPr algn="l">
              <a:defRPr sz="1875" b="0">
                <a:solidFill>
                  <a:srgbClr val="000000"/>
                </a:solidFill>
                <a:latin typeface="Times New Roman"/>
                <a:ea typeface="Times New Roman"/>
                <a:cs typeface="Times New Roman"/>
              </a:defRPr>
            </a:lvl6pPr>
            <a:lvl7pPr algn="l">
              <a:defRPr sz="1875" b="0">
                <a:solidFill>
                  <a:srgbClr val="000000"/>
                </a:solidFill>
                <a:latin typeface="Times New Roman"/>
                <a:ea typeface="Times New Roman"/>
                <a:cs typeface="Times New Roman"/>
              </a:defRPr>
            </a:lvl7pPr>
            <a:lvl8pPr algn="l">
              <a:defRPr sz="1875" b="0">
                <a:solidFill>
                  <a:srgbClr val="000000"/>
                </a:solidFill>
                <a:latin typeface="Times New Roman"/>
                <a:ea typeface="Times New Roman"/>
                <a:cs typeface="Times New Roman"/>
              </a:defRPr>
            </a:lvl8pPr>
            <a:lvl9pPr algn="l">
              <a:defRPr sz="1875" b="0">
                <a:solidFill>
                  <a:srgbClr val="000000"/>
                </a:solidFill>
                <a:latin typeface="Times New Roman"/>
                <a:ea typeface="Times New Roman"/>
                <a:cs typeface="Times New Roman"/>
              </a:defRPr>
            </a:lvl9pPr>
          </a:lstStyle>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This off-axis Tsai–Hill form combines longitudinal, transverse and shear resistance.</a:t>
            </a:r>
          </a:p>
        </p:txBody>
      </p:sp>
      <p:sp>
        <p:nvSpPr>
          <p:cNvPr id="5" name="">
            <a:extLst xmlns:a="http://schemas.openxmlformats.org/drawingml/2006/main">
              <a:ext uri="{FF2B5EF4-FFF2-40B4-BE49-F238E27FC236}">
                <a16:creationId xmlns:a16="http://schemas.microsoft.com/office/drawing/2014/main" id="{E6DF1067-53CE-4769-B5C5-41765BE7B912}"/>
              </a:ext>
            </a:extLst>
          </p:cNvPr>
          <p:cNvSpPr>
            <a:spLocks xmlns:a="http://schemas.openxmlformats.org/drawingml/2006/main" noGrp="1"/>
          </p:cNvSpPr>
          <p:nvPr/>
        </p:nvSpPr>
        <p:spPr>
          <a:xfrm xmlns:a="http://schemas.openxmlformats.org/drawingml/2006/main">
            <a:off x="400050" y="33528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0000"/>
                </a:solidFill>
                <a:latin typeface="Times New Roman"/>
                <a:ea typeface="Times New Roman"/>
                <a:cs typeface="Times New Roman"/>
              </a:defRPr>
            </a:defPPr>
            <a:lvl1pPr algn="l">
              <a:defRPr sz="1875" b="0">
                <a:solidFill>
                  <a:srgbClr val="000000"/>
                </a:solidFill>
                <a:latin typeface="Times New Roman"/>
                <a:ea typeface="Times New Roman"/>
                <a:cs typeface="Times New Roman"/>
              </a:defRPr>
            </a:lvl1pPr>
            <a:lvl2pPr algn="l">
              <a:defRPr sz="1875" b="0">
                <a:solidFill>
                  <a:srgbClr val="000000"/>
                </a:solidFill>
                <a:latin typeface="Times New Roman"/>
                <a:ea typeface="Times New Roman"/>
                <a:cs typeface="Times New Roman"/>
              </a:defRPr>
            </a:lvl2pPr>
            <a:lvl3pPr algn="l">
              <a:defRPr sz="1875" b="0">
                <a:solidFill>
                  <a:srgbClr val="000000"/>
                </a:solidFill>
                <a:latin typeface="Times New Roman"/>
                <a:ea typeface="Times New Roman"/>
                <a:cs typeface="Times New Roman"/>
              </a:defRPr>
            </a:lvl3pPr>
            <a:lvl4pPr algn="l">
              <a:defRPr sz="1875" b="0">
                <a:solidFill>
                  <a:srgbClr val="000000"/>
                </a:solidFill>
                <a:latin typeface="Times New Roman"/>
                <a:ea typeface="Times New Roman"/>
                <a:cs typeface="Times New Roman"/>
              </a:defRPr>
            </a:lvl4pPr>
            <a:lvl5pPr algn="l">
              <a:defRPr sz="1875" b="0">
                <a:solidFill>
                  <a:srgbClr val="000000"/>
                </a:solidFill>
                <a:latin typeface="Times New Roman"/>
                <a:ea typeface="Times New Roman"/>
                <a:cs typeface="Times New Roman"/>
              </a:defRPr>
            </a:lvl5pPr>
            <a:lvl6pPr algn="l">
              <a:defRPr sz="1875" b="0">
                <a:solidFill>
                  <a:srgbClr val="000000"/>
                </a:solidFill>
                <a:latin typeface="Times New Roman"/>
                <a:ea typeface="Times New Roman"/>
                <a:cs typeface="Times New Roman"/>
              </a:defRPr>
            </a:lvl6pPr>
            <a:lvl7pPr algn="l">
              <a:defRPr sz="1875" b="0">
                <a:solidFill>
                  <a:srgbClr val="000000"/>
                </a:solidFill>
                <a:latin typeface="Times New Roman"/>
                <a:ea typeface="Times New Roman"/>
                <a:cs typeface="Times New Roman"/>
              </a:defRPr>
            </a:lvl7pPr>
            <a:lvl8pPr algn="l">
              <a:defRPr sz="1875" b="0">
                <a:solidFill>
                  <a:srgbClr val="000000"/>
                </a:solidFill>
                <a:latin typeface="Times New Roman"/>
                <a:ea typeface="Times New Roman"/>
                <a:cs typeface="Times New Roman"/>
              </a:defRPr>
            </a:lvl8pPr>
            <a:lvl9pPr algn="l">
              <a:defRPr sz="1875" b="0">
                <a:solidFill>
                  <a:srgbClr val="000000"/>
                </a:solidFill>
                <a:latin typeface="Times New Roman"/>
                <a:ea typeface="Times New Roman"/>
                <a:cs typeface="Times New Roman"/>
              </a:defRPr>
            </a:lvl9pPr>
          </a:lstStyle>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At 0 degrees, sigma = Xv. The analytical 90-degree limit gives Yv, while the app accepts only 0–45 degrees.</a:t>
            </a:r>
          </a:p>
        </p:txBody>
      </p:sp>
      <p:sp>
        <p:nvSpPr>
          <p:cNvPr id="6" name="">
            <a:extLst xmlns:a="http://schemas.openxmlformats.org/drawingml/2006/main">
              <a:ext uri="{FF2B5EF4-FFF2-40B4-BE49-F238E27FC236}">
                <a16:creationId xmlns:a16="http://schemas.microsoft.com/office/drawing/2014/main" id="{A0168E0E-7446-4D11-94D8-C0AC3A82DD7B}"/>
              </a:ext>
            </a:extLst>
          </p:cNvPr>
          <p:cNvSpPr>
            <a:spLocks xmlns:a="http://schemas.openxmlformats.org/drawingml/2006/main" noGrp="1"/>
          </p:cNvSpPr>
          <p:nvPr/>
        </p:nvSpPr>
        <p:spPr>
          <a:xfrm xmlns:a="http://schemas.openxmlformats.org/drawingml/2006/main">
            <a:off x="400050" y="436245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0000"/>
                </a:solidFill>
                <a:latin typeface="Times New Roman"/>
                <a:ea typeface="Times New Roman"/>
                <a:cs typeface="Times New Roman"/>
              </a:defRPr>
            </a:defPPr>
            <a:lvl1pPr algn="l">
              <a:defRPr sz="1875" b="0">
                <a:solidFill>
                  <a:srgbClr val="000000"/>
                </a:solidFill>
                <a:latin typeface="Times New Roman"/>
                <a:ea typeface="Times New Roman"/>
                <a:cs typeface="Times New Roman"/>
              </a:defRPr>
            </a:lvl1pPr>
            <a:lvl2pPr algn="l">
              <a:defRPr sz="1875" b="0">
                <a:solidFill>
                  <a:srgbClr val="000000"/>
                </a:solidFill>
                <a:latin typeface="Times New Roman"/>
                <a:ea typeface="Times New Roman"/>
                <a:cs typeface="Times New Roman"/>
              </a:defRPr>
            </a:lvl2pPr>
            <a:lvl3pPr algn="l">
              <a:defRPr sz="1875" b="0">
                <a:solidFill>
                  <a:srgbClr val="000000"/>
                </a:solidFill>
                <a:latin typeface="Times New Roman"/>
                <a:ea typeface="Times New Roman"/>
                <a:cs typeface="Times New Roman"/>
              </a:defRPr>
            </a:lvl3pPr>
            <a:lvl4pPr algn="l">
              <a:defRPr sz="1875" b="0">
                <a:solidFill>
                  <a:srgbClr val="000000"/>
                </a:solidFill>
                <a:latin typeface="Times New Roman"/>
                <a:ea typeface="Times New Roman"/>
                <a:cs typeface="Times New Roman"/>
              </a:defRPr>
            </a:lvl4pPr>
            <a:lvl5pPr algn="l">
              <a:defRPr sz="1875" b="0">
                <a:solidFill>
                  <a:srgbClr val="000000"/>
                </a:solidFill>
                <a:latin typeface="Times New Roman"/>
                <a:ea typeface="Times New Roman"/>
                <a:cs typeface="Times New Roman"/>
              </a:defRPr>
            </a:lvl5pPr>
            <a:lvl6pPr algn="l">
              <a:defRPr sz="1875" b="0">
                <a:solidFill>
                  <a:srgbClr val="000000"/>
                </a:solidFill>
                <a:latin typeface="Times New Roman"/>
                <a:ea typeface="Times New Roman"/>
                <a:cs typeface="Times New Roman"/>
              </a:defRPr>
            </a:lvl6pPr>
            <a:lvl7pPr algn="l">
              <a:defRPr sz="1875" b="0">
                <a:solidFill>
                  <a:srgbClr val="000000"/>
                </a:solidFill>
                <a:latin typeface="Times New Roman"/>
                <a:ea typeface="Times New Roman"/>
                <a:cs typeface="Times New Roman"/>
              </a:defRPr>
            </a:lvl7pPr>
            <a:lvl8pPr algn="l">
              <a:defRPr sz="1875" b="0">
                <a:solidFill>
                  <a:srgbClr val="000000"/>
                </a:solidFill>
                <a:latin typeface="Times New Roman"/>
                <a:ea typeface="Times New Roman"/>
                <a:cs typeface="Times New Roman"/>
              </a:defRPr>
            </a:lvl8pPr>
            <a:lvl9pPr algn="l">
              <a:defRPr sz="1875" b="0">
                <a:solidFill>
                  <a:srgbClr val="000000"/>
                </a:solidFill>
                <a:latin typeface="Times New Roman"/>
                <a:ea typeface="Times New Roman"/>
                <a:cs typeface="Times New Roman"/>
              </a:defRPr>
            </a:lvl9pPr>
          </a:lstStyle>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Dataset target = nominal sigma × (1 + epsilon), epsilon ~ Normal(0, 0.05²).</a:t>
            </a:r>
          </a:p>
        </p:txBody>
      </p:sp>
      <p:sp>
        <p:nvSpPr>
          <p:cNvPr id="7" name="">
            <a:extLst xmlns:a="http://schemas.openxmlformats.org/drawingml/2006/main">
              <a:ext uri="{FF2B5EF4-FFF2-40B4-BE49-F238E27FC236}">
                <a16:creationId xmlns:a16="http://schemas.microsoft.com/office/drawing/2014/main" id="{D7FCB6C1-C6C6-47DB-8708-1712D950074F}"/>
              </a:ext>
            </a:extLst>
          </p:cNvPr>
          <p:cNvSpPr>
            <a:spLocks xmlns:a="http://schemas.openxmlformats.org/drawingml/2006/main" noGrp="1"/>
          </p:cNvSpPr>
          <p:nvPr/>
        </p:nvSpPr>
        <p:spPr>
          <a:xfrm xmlns:a="http://schemas.openxmlformats.org/drawingml/2006/main">
            <a:off x="400050" y="53721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0000"/>
                </a:solidFill>
                <a:latin typeface="Times New Roman"/>
                <a:ea typeface="Times New Roman"/>
                <a:cs typeface="Times New Roman"/>
              </a:defRPr>
            </a:defPPr>
            <a:lvl1pPr algn="l">
              <a:defRPr sz="1875" b="0">
                <a:solidFill>
                  <a:srgbClr val="000000"/>
                </a:solidFill>
                <a:latin typeface="Times New Roman"/>
                <a:ea typeface="Times New Roman"/>
                <a:cs typeface="Times New Roman"/>
              </a:defRPr>
            </a:lvl1pPr>
            <a:lvl2pPr algn="l">
              <a:defRPr sz="1875" b="0">
                <a:solidFill>
                  <a:srgbClr val="000000"/>
                </a:solidFill>
                <a:latin typeface="Times New Roman"/>
                <a:ea typeface="Times New Roman"/>
                <a:cs typeface="Times New Roman"/>
              </a:defRPr>
            </a:lvl2pPr>
            <a:lvl3pPr algn="l">
              <a:defRPr sz="1875" b="0">
                <a:solidFill>
                  <a:srgbClr val="000000"/>
                </a:solidFill>
                <a:latin typeface="Times New Roman"/>
                <a:ea typeface="Times New Roman"/>
                <a:cs typeface="Times New Roman"/>
              </a:defRPr>
            </a:lvl3pPr>
            <a:lvl4pPr algn="l">
              <a:defRPr sz="1875" b="0">
                <a:solidFill>
                  <a:srgbClr val="000000"/>
                </a:solidFill>
                <a:latin typeface="Times New Roman"/>
                <a:ea typeface="Times New Roman"/>
                <a:cs typeface="Times New Roman"/>
              </a:defRPr>
            </a:lvl4pPr>
            <a:lvl5pPr algn="l">
              <a:defRPr sz="1875" b="0">
                <a:solidFill>
                  <a:srgbClr val="000000"/>
                </a:solidFill>
                <a:latin typeface="Times New Roman"/>
                <a:ea typeface="Times New Roman"/>
                <a:cs typeface="Times New Roman"/>
              </a:defRPr>
            </a:lvl5pPr>
            <a:lvl6pPr algn="l">
              <a:defRPr sz="1875" b="0">
                <a:solidFill>
                  <a:srgbClr val="000000"/>
                </a:solidFill>
                <a:latin typeface="Times New Roman"/>
                <a:ea typeface="Times New Roman"/>
                <a:cs typeface="Times New Roman"/>
              </a:defRPr>
            </a:lvl6pPr>
            <a:lvl7pPr algn="l">
              <a:defRPr sz="1875" b="0">
                <a:solidFill>
                  <a:srgbClr val="000000"/>
                </a:solidFill>
                <a:latin typeface="Times New Roman"/>
                <a:ea typeface="Times New Roman"/>
                <a:cs typeface="Times New Roman"/>
              </a:defRPr>
            </a:lvl7pPr>
            <a:lvl8pPr algn="l">
              <a:defRPr sz="1875" b="0">
                <a:solidFill>
                  <a:srgbClr val="000000"/>
                </a:solidFill>
                <a:latin typeface="Times New Roman"/>
                <a:ea typeface="Times New Roman"/>
                <a:cs typeface="Times New Roman"/>
              </a:defRPr>
            </a:lvl8pPr>
            <a:lvl9pPr algn="l">
              <a:defRPr sz="1875" b="0">
                <a:solidFill>
                  <a:srgbClr val="000000"/>
                </a:solidFill>
                <a:latin typeface="Times New Roman"/>
                <a:ea typeface="Times New Roman"/>
                <a:cs typeface="Times New Roman"/>
              </a:defRPr>
            </a:lvl9pPr>
          </a:lstStyle>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The 5% scatter is an assumed data-generation choice. Direct simulator calculations are deterministic.</a:t>
            </a:r>
          </a:p>
        </p:txBody>
      </p:sp>
    </p:spTree>
    <p:extLst>
      <p:ext uri="{BB962C8B-B14F-4D97-AF65-F5344CB8AC3E}">
        <p14:creationId xmlns:p14="http://schemas.microsoft.com/office/powerpoint/2010/main" val="144106105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Regression models and selection</a:t>
            </a:r>
            <a:endParaRPr/>
          </a:p>
        </p:txBody>
      </p:sp>
      <p:sp>
        <p:nvSpPr>
          <p:cNvPr id="3" name="">
            <a:extLst xmlns:a="http://schemas.openxmlformats.org/drawingml/2006/main">
              <a:ext uri="{FF2B5EF4-FFF2-40B4-BE49-F238E27FC236}">
                <a16:creationId xmlns:a16="http://schemas.microsoft.com/office/drawing/2014/main" id="{D139BFDF-E00C-42CA-B522-139BC421078F}"/>
              </a:ext>
            </a:extLst>
          </p:cNvPr>
          <p:cNvSpPr>
            <a:spLocks xmlns:a="http://schemas.openxmlformats.org/drawingml/2006/main" noGrp="1"/>
          </p:cNvSpPr>
          <p:nvPr/>
        </p:nvSpPr>
        <p:spPr>
          <a:xfrm xmlns:a="http://schemas.openxmlformats.org/drawingml/2006/main">
            <a:off x="400050" y="13335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Linear Regression: a linear combination of the three features plus an intercept. It provides a simple baseline.</a:t>
            </a:r>
          </a:p>
        </p:txBody>
      </p:sp>
      <p:sp>
        <p:nvSpPr>
          <p:cNvPr id="4" name="">
            <a:extLst xmlns:a="http://schemas.openxmlformats.org/drawingml/2006/main">
              <a:ext uri="{FF2B5EF4-FFF2-40B4-BE49-F238E27FC236}">
                <a16:creationId xmlns:a16="http://schemas.microsoft.com/office/drawing/2014/main" id="{A77872F8-A577-4676-9F60-C77187F9F39B}"/>
              </a:ext>
            </a:extLst>
          </p:cNvPr>
          <p:cNvSpPr>
            <a:spLocks xmlns:a="http://schemas.openxmlformats.org/drawingml/2006/main" noGrp="1"/>
          </p:cNvSpPr>
          <p:nvPr/>
        </p:nvSpPr>
        <p:spPr>
          <a:xfrm xmlns:a="http://schemas.openxmlformats.org/drawingml/2006/main">
            <a:off x="400050" y="234315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Random Forest: average prediction from 120 decision trees, minimum two samples per leaf, random_state 42.</a:t>
            </a:r>
          </a:p>
        </p:txBody>
      </p:sp>
      <p:sp>
        <p:nvSpPr>
          <p:cNvPr id="5" name="">
            <a:extLst xmlns:a="http://schemas.openxmlformats.org/drawingml/2006/main">
              <a:ext uri="{FF2B5EF4-FFF2-40B4-BE49-F238E27FC236}">
                <a16:creationId xmlns:a16="http://schemas.microsoft.com/office/drawing/2014/main" id="{CAFF5AE2-A5D2-459B-B3DF-8F72AA0CF4A0}"/>
              </a:ext>
            </a:extLst>
          </p:cNvPr>
          <p:cNvSpPr>
            <a:spLocks xmlns:a="http://schemas.openxmlformats.org/drawingml/2006/main" noGrp="1"/>
          </p:cNvSpPr>
          <p:nvPr/>
        </p:nvSpPr>
        <p:spPr>
          <a:xfrm xmlns:a="http://schemas.openxmlformats.org/drawingml/2006/main">
            <a:off x="400050" y="33528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Both candidates use the same 1600/400 random partition.</a:t>
            </a:r>
          </a:p>
        </p:txBody>
      </p:sp>
      <p:sp>
        <p:nvSpPr>
          <p:cNvPr id="6" name="">
            <a:extLst xmlns:a="http://schemas.openxmlformats.org/drawingml/2006/main">
              <a:ext uri="{FF2B5EF4-FFF2-40B4-BE49-F238E27FC236}">
                <a16:creationId xmlns:a16="http://schemas.microsoft.com/office/drawing/2014/main" id="{7141195E-311A-4A50-8606-649F55C729BA}"/>
              </a:ext>
            </a:extLst>
          </p:cNvPr>
          <p:cNvSpPr>
            <a:spLocks xmlns:a="http://schemas.openxmlformats.org/drawingml/2006/main" noGrp="1"/>
          </p:cNvSpPr>
          <p:nvPr/>
        </p:nvSpPr>
        <p:spPr>
          <a:xfrm xmlns:a="http://schemas.openxmlformats.org/drawingml/2006/main">
            <a:off x="400050" y="436245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Select the lower holdout RMSE and save the estimator with feature schema, parameters and provenance.</a:t>
            </a:r>
          </a:p>
        </p:txBody>
      </p:sp>
      <p:sp>
        <p:nvSpPr>
          <p:cNvPr id="7" name="">
            <a:extLst xmlns:a="http://schemas.openxmlformats.org/drawingml/2006/main">
              <a:ext uri="{FF2B5EF4-FFF2-40B4-BE49-F238E27FC236}">
                <a16:creationId xmlns:a16="http://schemas.microsoft.com/office/drawing/2014/main" id="{249D6603-679E-464F-BE05-A6B233393292}"/>
              </a:ext>
            </a:extLst>
          </p:cNvPr>
          <p:cNvSpPr>
            <a:spLocks xmlns:a="http://schemas.openxmlformats.org/drawingml/2006/main" noGrp="1"/>
          </p:cNvSpPr>
          <p:nvPr/>
        </p:nvSpPr>
        <p:spPr>
          <a:xfrm xmlns:a="http://schemas.openxmlformats.org/drawingml/2006/main">
            <a:off x="400050" y="53721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The saved forest retains its 1600-row fit. It is not refitted on all 2000 rows after selection.</a:t>
            </a:r>
          </a:p>
        </p:txBody>
      </p:sp>
    </p:spTree>
    <p:extLst>
      <p:ext uri="{BB962C8B-B14F-4D97-AF65-F5344CB8AC3E}">
        <p14:creationId xmlns:p14="http://schemas.microsoft.com/office/powerpoint/2010/main" val="144106105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Evaluation design and metrics</a:t>
            </a:r>
            <a:endParaRPr/>
          </a:p>
        </p:txBody>
      </p:sp>
      <p:sp>
        <p:nvSpPr>
          <p:cNvPr id="3" name="">
            <a:extLst xmlns:a="http://schemas.openxmlformats.org/drawingml/2006/main">
              <a:ext uri="{FF2B5EF4-FFF2-40B4-BE49-F238E27FC236}">
                <a16:creationId xmlns:a16="http://schemas.microsoft.com/office/drawing/2014/main" id="{5C9BC26C-E4B2-450B-A5D0-AAF271E69EF8}"/>
              </a:ext>
            </a:extLst>
          </p:cNvPr>
          <p:cNvSpPr>
            <a:spLocks xmlns:a="http://schemas.openxmlformats.org/drawingml/2006/main" noGrp="1"/>
          </p:cNvSpPr>
          <p:nvPr/>
        </p:nvSpPr>
        <p:spPr>
          <a:xfrm xmlns:a="http://schemas.openxmlformats.org/drawingml/2006/main">
            <a:off x="400050" y="1333500"/>
            <a:ext cx="1137285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Random holdout: 1600 training rows and 400 selection-holdout rows from the same simulated domain.</a:t>
            </a:r>
          </a:p>
        </p:txBody>
      </p:sp>
      <p:sp>
        <p:nvSpPr>
          <p:cNvPr id="4" name="">
            <a:extLst xmlns:a="http://schemas.openxmlformats.org/drawingml/2006/main">
              <a:ext uri="{FF2B5EF4-FFF2-40B4-BE49-F238E27FC236}">
                <a16:creationId xmlns:a16="http://schemas.microsoft.com/office/drawing/2014/main" id="{1E938EBB-D37C-44E1-BA6F-D01E5D0408F9}"/>
              </a:ext>
            </a:extLst>
          </p:cNvPr>
          <p:cNvSpPr>
            <a:spLocks xmlns:a="http://schemas.openxmlformats.org/drawingml/2006/main" noGrp="1"/>
          </p:cNvSpPr>
          <p:nvPr/>
        </p:nvSpPr>
        <p:spPr>
          <a:xfrm xmlns:a="http://schemas.openxmlformats.org/drawingml/2006/main">
            <a:off x="400050" y="2174875"/>
            <a:ext cx="1137285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Fibre-region experiment: train on 1535 rows with Vf &lt; 55%, test on 465 with Vf ≥ 55%.</a:t>
            </a:r>
          </a:p>
        </p:txBody>
      </p:sp>
      <p:sp>
        <p:nvSpPr>
          <p:cNvPr id="5" name="">
            <a:extLst xmlns:a="http://schemas.openxmlformats.org/drawingml/2006/main">
              <a:ext uri="{FF2B5EF4-FFF2-40B4-BE49-F238E27FC236}">
                <a16:creationId xmlns:a16="http://schemas.microsoft.com/office/drawing/2014/main" id="{56D6D331-CABC-427E-B17A-094AC9A06F03}"/>
              </a:ext>
            </a:extLst>
          </p:cNvPr>
          <p:cNvSpPr>
            <a:spLocks xmlns:a="http://schemas.openxmlformats.org/drawingml/2006/main" noGrp="1"/>
          </p:cNvSpPr>
          <p:nvPr/>
        </p:nvSpPr>
        <p:spPr>
          <a:xfrm xmlns:a="http://schemas.openxmlformats.org/drawingml/2006/main">
            <a:off x="400050" y="3016250"/>
            <a:ext cx="1137285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MAE: average absolute error in MPa.</a:t>
            </a:r>
          </a:p>
        </p:txBody>
      </p:sp>
      <p:sp>
        <p:nvSpPr>
          <p:cNvPr id="6" name="">
            <a:extLst xmlns:a="http://schemas.openxmlformats.org/drawingml/2006/main">
              <a:ext uri="{FF2B5EF4-FFF2-40B4-BE49-F238E27FC236}">
                <a16:creationId xmlns:a16="http://schemas.microsoft.com/office/drawing/2014/main" id="{6446EC41-DBE5-440A-9103-D7949DCEE522}"/>
              </a:ext>
            </a:extLst>
          </p:cNvPr>
          <p:cNvSpPr>
            <a:spLocks xmlns:a="http://schemas.openxmlformats.org/drawingml/2006/main" noGrp="1"/>
          </p:cNvSpPr>
          <p:nvPr/>
        </p:nvSpPr>
        <p:spPr>
          <a:xfrm xmlns:a="http://schemas.openxmlformats.org/drawingml/2006/main">
            <a:off x="400050" y="3857625"/>
            <a:ext cx="1137285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RMSE: square root of average squared error in MPa, giving larger deviations more weight.</a:t>
            </a:r>
          </a:p>
        </p:txBody>
      </p:sp>
      <p:sp>
        <p:nvSpPr>
          <p:cNvPr id="7" name="">
            <a:extLst xmlns:a="http://schemas.openxmlformats.org/drawingml/2006/main">
              <a:ext uri="{FF2B5EF4-FFF2-40B4-BE49-F238E27FC236}">
                <a16:creationId xmlns:a16="http://schemas.microsoft.com/office/drawing/2014/main" id="{FD1C61F4-F8E9-4790-9E3E-4DEDAA98CD78}"/>
              </a:ext>
            </a:extLst>
          </p:cNvPr>
          <p:cNvSpPr>
            <a:spLocks xmlns:a="http://schemas.openxmlformats.org/drawingml/2006/main" noGrp="1"/>
          </p:cNvSpPr>
          <p:nvPr/>
        </p:nvSpPr>
        <p:spPr>
          <a:xfrm xmlns:a="http://schemas.openxmlformats.org/drawingml/2006/main">
            <a:off x="400050" y="4699000"/>
            <a:ext cx="1137285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R²: 1 - residual sum of squares / total target sum of squares. R² is not percentage accuracy.</a:t>
            </a:r>
          </a:p>
        </p:txBody>
      </p:sp>
      <p:sp>
        <p:nvSpPr>
          <p:cNvPr id="8" name="">
            <a:extLst xmlns:a="http://schemas.openxmlformats.org/drawingml/2006/main">
              <a:ext uri="{FF2B5EF4-FFF2-40B4-BE49-F238E27FC236}">
                <a16:creationId xmlns:a16="http://schemas.microsoft.com/office/drawing/2014/main" id="{AB348902-BF33-48EB-801B-510EE1819FB4}"/>
              </a:ext>
            </a:extLst>
          </p:cNvPr>
          <p:cNvSpPr>
            <a:spLocks xmlns:a="http://schemas.openxmlformats.org/drawingml/2006/main" noGrp="1"/>
          </p:cNvSpPr>
          <p:nvPr/>
        </p:nvSpPr>
        <p:spPr>
          <a:xfrm xmlns:a="http://schemas.openxmlformats.org/drawingml/2006/main">
            <a:off x="400050" y="5540375"/>
            <a:ext cx="1137285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The region experiment tests one defined shift within the simulator domain, not a different material or all forms of extrapolation.</a:t>
            </a:r>
          </a:p>
        </p:txBody>
      </p:sp>
    </p:spTree>
    <p:extLst>
      <p:ext uri="{BB962C8B-B14F-4D97-AF65-F5344CB8AC3E}">
        <p14:creationId xmlns:p14="http://schemas.microsoft.com/office/powerpoint/2010/main" val="144106105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Results and discussion</a:t>
            </a:r>
            <a:endParaRPr/>
          </a:p>
        </p:txBody>
      </p:sp>
      <p:graphicFrame>
        <p:nvGraphicFramePr>
          <p:cNvPr id="3" name="">
            <a:extLst xmlns:a="http://schemas.openxmlformats.org/drawingml/2006/main">
              <a:ext uri="{FF2B5EF4-FFF2-40B4-BE49-F238E27FC236}">
                <a16:creationId xmlns:a16="http://schemas.microsoft.com/office/drawing/2014/main" id="{F32C5F99-738F-4FAA-8672-7623304A6DE6}"/>
              </a:ext>
            </a:extLst>
          </p:cNvPr>
          <p:cNvGraphicFramePr/>
          <p:nvPr/>
        </p:nvGraphicFramePr>
        <p:xfrm>
          <a:off xmlns:a="http://schemas.openxmlformats.org/drawingml/2006/main" x="400050" y="1381125"/>
          <a:ext xmlns:a="http://schemas.openxmlformats.org/drawingml/2006/main" cx="11372850" cy="2714625"/>
        </p:xfrm>
        <a:graphic xmlns:a="http://schemas.openxmlformats.org/drawingml/2006/main">
          <a:graphicData uri="http://schemas.openxmlformats.org/drawingml/2006/table">
            <a:tbl>
              <a:tblPr firstRow="1" bandRow="0"/>
              <a:tblGrid>
                <a:gridCol w="5429250"/>
                <a:gridCol w="1905000"/>
                <a:gridCol w="2000250"/>
                <a:gridCol w="2038350"/>
              </a:tblGrid>
              <a:tr h="542925">
                <a:tc>
                  <a:txBody>
                    <a:bodyPr/>
                    <a:lstStyle/>
                    <a:p>
                      <a:pPr algn="l"/>
                      <a:r>
                        <a:rPr sz="1800" b="1">
                          <a:solidFill>
                            <a:srgbClr val="000000"/>
                          </a:solidFill>
                          <a:latin typeface="Times New Roman"/>
                          <a:ea typeface="Times New Roman"/>
                          <a:cs typeface="Times New Roman"/>
                        </a:rPr>
                        <a:t>Split and model</a:t>
                      </a:r>
                    </a:p>
                  </a:txBody>
                  <a:tcPr marL="91440" marR="91440" marT="45720" marB="45720">
                    <a:lnL w="6668">
                      <a:solidFill>
                        <a:srgbClr val="AAAAAA"/>
                      </a:solidFill>
                      <a:prstDash val="solid"/>
                    </a:lnL>
                    <a:lnR w="6668">
                      <a:solidFill>
                        <a:srgbClr val="AAAAAA"/>
                      </a:solidFill>
                      <a:prstDash val="solid"/>
                    </a:lnR>
                    <a:lnT w="6668">
                      <a:solidFill>
                        <a:srgbClr val="AAAAAA"/>
                      </a:solidFill>
                      <a:prstDash val="solid"/>
                    </a:lnT>
                    <a:lnB w="6668">
                      <a:solidFill>
                        <a:srgbClr val="AAAAAA"/>
                      </a:solidFill>
                      <a:prstDash val="solid"/>
                    </a:lnB>
                    <a:solidFill>
                      <a:srgbClr val="EFF5FA"/>
                    </a:solidFill>
                  </a:tcPr>
                </a:tc>
                <a:tc>
                  <a:txBody>
                    <a:bodyPr/>
                    <a:lstStyle/>
                    <a:p>
                      <a:pPr algn="ctr"/>
                      <a:r>
                        <a:rPr sz="1800" b="1">
                          <a:solidFill>
                            <a:srgbClr val="000000"/>
                          </a:solidFill>
                          <a:latin typeface="Times New Roman"/>
                          <a:ea typeface="Times New Roman"/>
                          <a:cs typeface="Times New Roman"/>
                        </a:rPr>
                        <a:t>MAE MPa</a:t>
                      </a:r>
                    </a:p>
                  </a:txBody>
                  <a:tcPr marL="91440" marR="91440" marT="45720" marB="45720">
                    <a:lnR w="6668">
                      <a:solidFill>
                        <a:srgbClr val="AAAAAA"/>
                      </a:solidFill>
                      <a:prstDash val="solid"/>
                    </a:lnR>
                    <a:lnT w="6668">
                      <a:solidFill>
                        <a:srgbClr val="AAAAAA"/>
                      </a:solidFill>
                      <a:prstDash val="solid"/>
                    </a:lnT>
                    <a:lnB w="6668">
                      <a:solidFill>
                        <a:srgbClr val="AAAAAA"/>
                      </a:solidFill>
                      <a:prstDash val="solid"/>
                    </a:lnB>
                    <a:solidFill>
                      <a:srgbClr val="EFF5FA"/>
                    </a:solidFill>
                  </a:tcPr>
                </a:tc>
                <a:tc>
                  <a:txBody>
                    <a:bodyPr/>
                    <a:lstStyle/>
                    <a:p>
                      <a:pPr algn="ctr"/>
                      <a:r>
                        <a:rPr sz="1800" b="1">
                          <a:solidFill>
                            <a:srgbClr val="000000"/>
                          </a:solidFill>
                          <a:latin typeface="Times New Roman"/>
                          <a:ea typeface="Times New Roman"/>
                          <a:cs typeface="Times New Roman"/>
                        </a:rPr>
                        <a:t>RMSE MPa</a:t>
                      </a:r>
                    </a:p>
                  </a:txBody>
                  <a:tcPr marL="91440" marR="91440" marT="45720" marB="45720">
                    <a:lnR w="6668">
                      <a:solidFill>
                        <a:srgbClr val="AAAAAA"/>
                      </a:solidFill>
                      <a:prstDash val="solid"/>
                    </a:lnR>
                    <a:lnT w="6668">
                      <a:solidFill>
                        <a:srgbClr val="AAAAAA"/>
                      </a:solidFill>
                      <a:prstDash val="solid"/>
                    </a:lnT>
                    <a:lnB w="6668">
                      <a:solidFill>
                        <a:srgbClr val="AAAAAA"/>
                      </a:solidFill>
                      <a:prstDash val="solid"/>
                    </a:lnB>
                    <a:solidFill>
                      <a:srgbClr val="EFF5FA"/>
                    </a:solidFill>
                  </a:tcPr>
                </a:tc>
                <a:tc>
                  <a:txBody>
                    <a:bodyPr/>
                    <a:lstStyle/>
                    <a:p>
                      <a:pPr algn="ctr"/>
                      <a:r>
                        <a:rPr sz="1800" b="1">
                          <a:solidFill>
                            <a:srgbClr val="000000"/>
                          </a:solidFill>
                          <a:latin typeface="Times New Roman"/>
                          <a:ea typeface="Times New Roman"/>
                          <a:cs typeface="Times New Roman"/>
                        </a:rPr>
                        <a:t>R²</a:t>
                      </a:r>
                    </a:p>
                  </a:txBody>
                  <a:tcPr marL="91440" marR="91440" marT="45720" marB="45720">
                    <a:lnR w="6668">
                      <a:solidFill>
                        <a:srgbClr val="AAAAAA"/>
                      </a:solidFill>
                      <a:prstDash val="solid"/>
                    </a:lnR>
                    <a:lnT w="6668">
                      <a:solidFill>
                        <a:srgbClr val="AAAAAA"/>
                      </a:solidFill>
                      <a:prstDash val="solid"/>
                    </a:lnT>
                    <a:lnB w="6668">
                      <a:solidFill>
                        <a:srgbClr val="AAAAAA"/>
                      </a:solidFill>
                      <a:prstDash val="solid"/>
                    </a:lnB>
                    <a:solidFill>
                      <a:srgbClr val="EFF5FA"/>
                    </a:solidFill>
                  </a:tcPr>
                </a:tc>
              </a:tr>
              <a:tr h="542925">
                <a:tc>
                  <a:txBody>
                    <a:bodyPr/>
                    <a:lstStyle/>
                    <a:p>
                      <a:pPr algn="l"/>
                      <a:r>
                        <a:rPr sz="1800" b="0">
                          <a:solidFill>
                            <a:srgbClr val="000000"/>
                          </a:solidFill>
                          <a:latin typeface="Times New Roman"/>
                          <a:ea typeface="Times New Roman"/>
                          <a:cs typeface="Times New Roman"/>
                        </a:rPr>
                        <a:t>Random holdout: Linear Regression</a:t>
                      </a:r>
                    </a:p>
                  </a:txBody>
                  <a:tcPr marL="91440" marR="91440" marT="45720" marB="45720">
                    <a:lnL w="6668">
                      <a:solidFill>
                        <a:srgbClr val="AAAAAA"/>
                      </a:solidFill>
                      <a:prstDash val="solid"/>
                    </a:lnL>
                    <a:lnR w="6668">
                      <a:solidFill>
                        <a:srgbClr val="AAAAAA"/>
                      </a:solidFill>
                      <a:prstDash val="solid"/>
                    </a:lnR>
                    <a:lnB w="6668">
                      <a:solidFill>
                        <a:srgbClr val="AAAAAA"/>
                      </a:solidFill>
                      <a:prstDash val="solid"/>
                    </a:lnB>
                    <a:solidFill>
                      <a:srgbClr val="FFFFFF"/>
                    </a:solidFill>
                  </a:tcPr>
                </a:tc>
                <a:tc>
                  <a:txBody>
                    <a:bodyPr/>
                    <a:lstStyle/>
                    <a:p>
                      <a:pPr algn="ctr"/>
                      <a:r>
                        <a:rPr sz="1800" b="0">
                          <a:solidFill>
                            <a:srgbClr val="000000"/>
                          </a:solidFill>
                          <a:latin typeface="Times New Roman"/>
                          <a:ea typeface="Times New Roman"/>
                          <a:cs typeface="Times New Roman"/>
                        </a:rPr>
                        <a:t>74.18</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00" b="0">
                          <a:solidFill>
                            <a:srgbClr val="000000"/>
                          </a:solidFill>
                          <a:latin typeface="Times New Roman"/>
                          <a:ea typeface="Times New Roman"/>
                          <a:cs typeface="Times New Roman"/>
                        </a:rPr>
                        <a:t>102.03</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00" b="0">
                          <a:solidFill>
                            <a:srgbClr val="000000"/>
                          </a:solidFill>
                          <a:latin typeface="Times New Roman"/>
                          <a:ea typeface="Times New Roman"/>
                          <a:cs typeface="Times New Roman"/>
                        </a:rPr>
                        <a:t>0.6836</a:t>
                      </a:r>
                    </a:p>
                  </a:txBody>
                  <a:tcPr marL="91440" marR="91440" marT="45720" marB="45720">
                    <a:lnR w="6668">
                      <a:solidFill>
                        <a:srgbClr val="AAAAAA"/>
                      </a:solidFill>
                      <a:prstDash val="solid"/>
                    </a:lnR>
                    <a:lnB w="6668">
                      <a:solidFill>
                        <a:srgbClr val="AAAAAA"/>
                      </a:solidFill>
                      <a:prstDash val="solid"/>
                    </a:lnB>
                    <a:solidFill>
                      <a:srgbClr val="FFFFFF"/>
                    </a:solidFill>
                  </a:tcPr>
                </a:tc>
              </a:tr>
              <a:tr h="542925">
                <a:tc>
                  <a:txBody>
                    <a:bodyPr/>
                    <a:lstStyle/>
                    <a:p>
                      <a:pPr algn="l"/>
                      <a:r>
                        <a:rPr sz="1800" b="0">
                          <a:solidFill>
                            <a:srgbClr val="000000"/>
                          </a:solidFill>
                          <a:latin typeface="Times New Roman"/>
                          <a:ea typeface="Times New Roman"/>
                          <a:cs typeface="Times New Roman"/>
                        </a:rPr>
                        <a:t>Random holdout: Random Forest</a:t>
                      </a:r>
                    </a:p>
                  </a:txBody>
                  <a:tcPr marL="91440" marR="91440" marT="45720" marB="45720">
                    <a:lnL w="6668">
                      <a:solidFill>
                        <a:srgbClr val="AAAAAA"/>
                      </a:solidFill>
                      <a:prstDash val="solid"/>
                    </a:lnL>
                    <a:lnR w="6668">
                      <a:solidFill>
                        <a:srgbClr val="AAAAAA"/>
                      </a:solidFill>
                      <a:prstDash val="solid"/>
                    </a:lnR>
                    <a:lnB w="6668">
                      <a:solidFill>
                        <a:srgbClr val="AAAAAA"/>
                      </a:solidFill>
                      <a:prstDash val="solid"/>
                    </a:lnB>
                    <a:solidFill>
                      <a:srgbClr val="FFFFFF"/>
                    </a:solidFill>
                  </a:tcPr>
                </a:tc>
                <a:tc>
                  <a:txBody>
                    <a:bodyPr/>
                    <a:lstStyle/>
                    <a:p>
                      <a:pPr algn="ctr"/>
                      <a:r>
                        <a:rPr sz="1800" b="0">
                          <a:solidFill>
                            <a:srgbClr val="000000"/>
                          </a:solidFill>
                          <a:latin typeface="Times New Roman"/>
                          <a:ea typeface="Times New Roman"/>
                          <a:cs typeface="Times New Roman"/>
                        </a:rPr>
                        <a:t>10.79</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00" b="0">
                          <a:solidFill>
                            <a:srgbClr val="000000"/>
                          </a:solidFill>
                          <a:latin typeface="Times New Roman"/>
                          <a:ea typeface="Times New Roman"/>
                          <a:cs typeface="Times New Roman"/>
                        </a:rPr>
                        <a:t>18.21</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00" b="0">
                          <a:solidFill>
                            <a:srgbClr val="000000"/>
                          </a:solidFill>
                          <a:latin typeface="Times New Roman"/>
                          <a:ea typeface="Times New Roman"/>
                          <a:cs typeface="Times New Roman"/>
                        </a:rPr>
                        <a:t>0.9899</a:t>
                      </a:r>
                    </a:p>
                  </a:txBody>
                  <a:tcPr marL="91440" marR="91440" marT="45720" marB="45720">
                    <a:lnR w="6668">
                      <a:solidFill>
                        <a:srgbClr val="AAAAAA"/>
                      </a:solidFill>
                      <a:prstDash val="solid"/>
                    </a:lnR>
                    <a:lnB w="6668">
                      <a:solidFill>
                        <a:srgbClr val="AAAAAA"/>
                      </a:solidFill>
                      <a:prstDash val="solid"/>
                    </a:lnB>
                    <a:solidFill>
                      <a:srgbClr val="FFFFFF"/>
                    </a:solidFill>
                  </a:tcPr>
                </a:tc>
              </a:tr>
              <a:tr h="542925">
                <a:tc>
                  <a:txBody>
                    <a:bodyPr/>
                    <a:lstStyle/>
                    <a:p>
                      <a:pPr algn="l"/>
                      <a:r>
                        <a:rPr sz="1800" b="0">
                          <a:solidFill>
                            <a:srgbClr val="000000"/>
                          </a:solidFill>
                          <a:latin typeface="Times New Roman"/>
                          <a:ea typeface="Times New Roman"/>
                          <a:cs typeface="Times New Roman"/>
                        </a:rPr>
                        <a:t>Fibre-region: Linear Regression</a:t>
                      </a:r>
                    </a:p>
                  </a:txBody>
                  <a:tcPr marL="91440" marR="91440" marT="45720" marB="45720">
                    <a:lnL w="6668">
                      <a:solidFill>
                        <a:srgbClr val="AAAAAA"/>
                      </a:solidFill>
                      <a:prstDash val="solid"/>
                    </a:lnL>
                    <a:lnR w="6668">
                      <a:solidFill>
                        <a:srgbClr val="AAAAAA"/>
                      </a:solidFill>
                      <a:prstDash val="solid"/>
                    </a:lnR>
                    <a:lnB w="6668">
                      <a:solidFill>
                        <a:srgbClr val="AAAAAA"/>
                      </a:solidFill>
                      <a:prstDash val="solid"/>
                    </a:lnB>
                    <a:solidFill>
                      <a:srgbClr val="FFFFFF"/>
                    </a:solidFill>
                  </a:tcPr>
                </a:tc>
                <a:tc>
                  <a:txBody>
                    <a:bodyPr/>
                    <a:lstStyle/>
                    <a:p>
                      <a:pPr algn="ctr"/>
                      <a:r>
                        <a:rPr sz="1800" b="0">
                          <a:solidFill>
                            <a:srgbClr val="000000"/>
                          </a:solidFill>
                          <a:latin typeface="Times New Roman"/>
                          <a:ea typeface="Times New Roman"/>
                          <a:cs typeface="Times New Roman"/>
                        </a:rPr>
                        <a:t>90.99</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00" b="0">
                          <a:solidFill>
                            <a:srgbClr val="000000"/>
                          </a:solidFill>
                          <a:latin typeface="Times New Roman"/>
                          <a:ea typeface="Times New Roman"/>
                          <a:cs typeface="Times New Roman"/>
                        </a:rPr>
                        <a:t>132.68</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00" b="0">
                          <a:solidFill>
                            <a:srgbClr val="000000"/>
                          </a:solidFill>
                          <a:latin typeface="Times New Roman"/>
                          <a:ea typeface="Times New Roman"/>
                          <a:cs typeface="Times New Roman"/>
                        </a:rPr>
                        <a:t>0.6204</a:t>
                      </a:r>
                    </a:p>
                  </a:txBody>
                  <a:tcPr marL="91440" marR="91440" marT="45720" marB="45720">
                    <a:lnR w="6668">
                      <a:solidFill>
                        <a:srgbClr val="AAAAAA"/>
                      </a:solidFill>
                      <a:prstDash val="solid"/>
                    </a:lnR>
                    <a:lnB w="6668">
                      <a:solidFill>
                        <a:srgbClr val="AAAAAA"/>
                      </a:solidFill>
                      <a:prstDash val="solid"/>
                    </a:lnB>
                    <a:solidFill>
                      <a:srgbClr val="FFFFFF"/>
                    </a:solidFill>
                  </a:tcPr>
                </a:tc>
              </a:tr>
              <a:tr h="542925">
                <a:tc>
                  <a:txBody>
                    <a:bodyPr/>
                    <a:lstStyle/>
                    <a:p>
                      <a:pPr algn="l"/>
                      <a:r>
                        <a:rPr sz="1800" b="0">
                          <a:solidFill>
                            <a:srgbClr val="000000"/>
                          </a:solidFill>
                          <a:latin typeface="Times New Roman"/>
                          <a:ea typeface="Times New Roman"/>
                          <a:cs typeface="Times New Roman"/>
                        </a:rPr>
                        <a:t>Fibre-region: Random Forest</a:t>
                      </a:r>
                    </a:p>
                  </a:txBody>
                  <a:tcPr marL="91440" marR="91440" marT="45720" marB="45720">
                    <a:lnL w="6668">
                      <a:solidFill>
                        <a:srgbClr val="AAAAAA"/>
                      </a:solidFill>
                      <a:prstDash val="solid"/>
                    </a:lnL>
                    <a:lnR w="6668">
                      <a:solidFill>
                        <a:srgbClr val="AAAAAA"/>
                      </a:solidFill>
                      <a:prstDash val="solid"/>
                    </a:lnR>
                    <a:lnB w="6668">
                      <a:solidFill>
                        <a:srgbClr val="AAAAAA"/>
                      </a:solidFill>
                      <a:prstDash val="solid"/>
                    </a:lnB>
                    <a:solidFill>
                      <a:srgbClr val="FFFFFF"/>
                    </a:solidFill>
                  </a:tcPr>
                </a:tc>
                <a:tc>
                  <a:txBody>
                    <a:bodyPr/>
                    <a:lstStyle/>
                    <a:p>
                      <a:pPr algn="ctr"/>
                      <a:r>
                        <a:rPr sz="1800" b="0">
                          <a:solidFill>
                            <a:srgbClr val="000000"/>
                          </a:solidFill>
                          <a:latin typeface="Times New Roman"/>
                          <a:ea typeface="Times New Roman"/>
                          <a:cs typeface="Times New Roman"/>
                        </a:rPr>
                        <a:t>14.18</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00" b="0">
                          <a:solidFill>
                            <a:srgbClr val="000000"/>
                          </a:solidFill>
                          <a:latin typeface="Times New Roman"/>
                          <a:ea typeface="Times New Roman"/>
                          <a:cs typeface="Times New Roman"/>
                        </a:rPr>
                        <a:t>28.63</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00" b="0">
                          <a:solidFill>
                            <a:srgbClr val="000000"/>
                          </a:solidFill>
                          <a:latin typeface="Times New Roman"/>
                          <a:ea typeface="Times New Roman"/>
                          <a:cs typeface="Times New Roman"/>
                        </a:rPr>
                        <a:t>0.9823</a:t>
                      </a:r>
                    </a:p>
                  </a:txBody>
                  <a:tcPr marL="91440" marR="91440" marT="45720" marB="45720">
                    <a:lnR w="6668">
                      <a:solidFill>
                        <a:srgbClr val="AAAAAA"/>
                      </a:solidFill>
                      <a:prstDash val="solid"/>
                    </a:lnR>
                    <a:lnB w="6668">
                      <a:solidFill>
                        <a:srgbClr val="AAAAA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BB474B3-E35E-420D-A5A8-9B4A53BD3FD7}"/>
              </a:ext>
            </a:extLst>
          </p:cNvPr>
          <p:cNvSpPr>
            <a:spLocks xmlns:a="http://schemas.openxmlformats.org/drawingml/2006/main" noGrp="1"/>
          </p:cNvSpPr>
          <p:nvPr/>
        </p:nvSpPr>
        <p:spPr>
          <a:xfrm xmlns:a="http://schemas.openxmlformats.org/drawingml/2006/main">
            <a:off x="400050" y="4476750"/>
            <a:ext cx="11372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0000"/>
                </a:solidFill>
                <a:latin typeface="Times New Roman"/>
                <a:ea typeface="Times New Roman"/>
                <a:cs typeface="Times New Roman"/>
              </a:defRPr>
            </a:defPPr>
            <a:lvl1pPr algn="l">
              <a:defRPr sz="1875" b="0">
                <a:solidFill>
                  <a:srgbClr val="000000"/>
                </a:solidFill>
                <a:latin typeface="Times New Roman"/>
                <a:ea typeface="Times New Roman"/>
                <a:cs typeface="Times New Roman"/>
              </a:defRPr>
            </a:lvl1pPr>
            <a:lvl2pPr algn="l">
              <a:defRPr sz="1875" b="0">
                <a:solidFill>
                  <a:srgbClr val="000000"/>
                </a:solidFill>
                <a:latin typeface="Times New Roman"/>
                <a:ea typeface="Times New Roman"/>
                <a:cs typeface="Times New Roman"/>
              </a:defRPr>
            </a:lvl2pPr>
            <a:lvl3pPr algn="l">
              <a:defRPr sz="1875" b="0">
                <a:solidFill>
                  <a:srgbClr val="000000"/>
                </a:solidFill>
                <a:latin typeface="Times New Roman"/>
                <a:ea typeface="Times New Roman"/>
                <a:cs typeface="Times New Roman"/>
              </a:defRPr>
            </a:lvl3pPr>
            <a:lvl4pPr algn="l">
              <a:defRPr sz="1875" b="0">
                <a:solidFill>
                  <a:srgbClr val="000000"/>
                </a:solidFill>
                <a:latin typeface="Times New Roman"/>
                <a:ea typeface="Times New Roman"/>
                <a:cs typeface="Times New Roman"/>
              </a:defRPr>
            </a:lvl4pPr>
            <a:lvl5pPr algn="l">
              <a:defRPr sz="1875" b="0">
                <a:solidFill>
                  <a:srgbClr val="000000"/>
                </a:solidFill>
                <a:latin typeface="Times New Roman"/>
                <a:ea typeface="Times New Roman"/>
                <a:cs typeface="Times New Roman"/>
              </a:defRPr>
            </a:lvl5pPr>
            <a:lvl6pPr algn="l">
              <a:defRPr sz="1875" b="0">
                <a:solidFill>
                  <a:srgbClr val="000000"/>
                </a:solidFill>
                <a:latin typeface="Times New Roman"/>
                <a:ea typeface="Times New Roman"/>
                <a:cs typeface="Times New Roman"/>
              </a:defRPr>
            </a:lvl6pPr>
            <a:lvl7pPr algn="l">
              <a:defRPr sz="1875" b="0">
                <a:solidFill>
                  <a:srgbClr val="000000"/>
                </a:solidFill>
                <a:latin typeface="Times New Roman"/>
                <a:ea typeface="Times New Roman"/>
                <a:cs typeface="Times New Roman"/>
              </a:defRPr>
            </a:lvl7pPr>
            <a:lvl8pPr algn="l">
              <a:defRPr sz="1875" b="0">
                <a:solidFill>
                  <a:srgbClr val="000000"/>
                </a:solidFill>
                <a:latin typeface="Times New Roman"/>
                <a:ea typeface="Times New Roman"/>
                <a:cs typeface="Times New Roman"/>
              </a:defRPr>
            </a:lvl8pPr>
            <a:lvl9pPr algn="l">
              <a:defRPr sz="1875" b="0">
                <a:solidFill>
                  <a:srgbClr val="000000"/>
                </a:solidFill>
                <a:latin typeface="Times New Roman"/>
                <a:ea typeface="Times New Roman"/>
                <a:cs typeface="Times New Roman"/>
              </a:defRPr>
            </a:lvl9pPr>
          </a:lstStyle>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The forest has lower error on both tests. Its higher region-test RMSE indicates reduced reliability in the withheld fibre range.</a:t>
            </a:r>
          </a:p>
        </p:txBody>
      </p:sp>
      <p:sp>
        <p:nvSpPr>
          <p:cNvPr id="5" name="">
            <a:extLst xmlns:a="http://schemas.openxmlformats.org/drawingml/2006/main">
              <a:ext uri="{FF2B5EF4-FFF2-40B4-BE49-F238E27FC236}">
                <a16:creationId xmlns:a16="http://schemas.microsoft.com/office/drawing/2014/main" id="{C0CF9C16-378E-44EB-A7F0-CBE520C854C0}"/>
              </a:ext>
            </a:extLst>
          </p:cNvPr>
          <p:cNvSpPr>
            <a:spLocks xmlns:a="http://schemas.openxmlformats.org/drawingml/2006/main" noGrp="1"/>
          </p:cNvSpPr>
          <p:nvPr/>
        </p:nvSpPr>
        <p:spPr>
          <a:xfrm xmlns:a="http://schemas.openxmlformats.org/drawingml/2006/main">
            <a:off x="400050" y="5372100"/>
            <a:ext cx="11372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0000"/>
                </a:solidFill>
                <a:latin typeface="Times New Roman"/>
                <a:ea typeface="Times New Roman"/>
                <a:cs typeface="Times New Roman"/>
              </a:defRPr>
            </a:defPPr>
            <a:lvl1pPr algn="l">
              <a:defRPr sz="1875" b="0">
                <a:solidFill>
                  <a:srgbClr val="000000"/>
                </a:solidFill>
                <a:latin typeface="Times New Roman"/>
                <a:ea typeface="Times New Roman"/>
                <a:cs typeface="Times New Roman"/>
              </a:defRPr>
            </a:lvl1pPr>
            <a:lvl2pPr algn="l">
              <a:defRPr sz="1875" b="0">
                <a:solidFill>
                  <a:srgbClr val="000000"/>
                </a:solidFill>
                <a:latin typeface="Times New Roman"/>
                <a:ea typeface="Times New Roman"/>
                <a:cs typeface="Times New Roman"/>
              </a:defRPr>
            </a:lvl2pPr>
            <a:lvl3pPr algn="l">
              <a:defRPr sz="1875" b="0">
                <a:solidFill>
                  <a:srgbClr val="000000"/>
                </a:solidFill>
                <a:latin typeface="Times New Roman"/>
                <a:ea typeface="Times New Roman"/>
                <a:cs typeface="Times New Roman"/>
              </a:defRPr>
            </a:lvl3pPr>
            <a:lvl4pPr algn="l">
              <a:defRPr sz="1875" b="0">
                <a:solidFill>
                  <a:srgbClr val="000000"/>
                </a:solidFill>
                <a:latin typeface="Times New Roman"/>
                <a:ea typeface="Times New Roman"/>
                <a:cs typeface="Times New Roman"/>
              </a:defRPr>
            </a:lvl4pPr>
            <a:lvl5pPr algn="l">
              <a:defRPr sz="1875" b="0">
                <a:solidFill>
                  <a:srgbClr val="000000"/>
                </a:solidFill>
                <a:latin typeface="Times New Roman"/>
                <a:ea typeface="Times New Roman"/>
                <a:cs typeface="Times New Roman"/>
              </a:defRPr>
            </a:lvl5pPr>
            <a:lvl6pPr algn="l">
              <a:defRPr sz="1875" b="0">
                <a:solidFill>
                  <a:srgbClr val="000000"/>
                </a:solidFill>
                <a:latin typeface="Times New Roman"/>
                <a:ea typeface="Times New Roman"/>
                <a:cs typeface="Times New Roman"/>
              </a:defRPr>
            </a:lvl6pPr>
            <a:lvl7pPr algn="l">
              <a:defRPr sz="1875" b="0">
                <a:solidFill>
                  <a:srgbClr val="000000"/>
                </a:solidFill>
                <a:latin typeface="Times New Roman"/>
                <a:ea typeface="Times New Roman"/>
                <a:cs typeface="Times New Roman"/>
              </a:defRPr>
            </a:lvl7pPr>
            <a:lvl8pPr algn="l">
              <a:defRPr sz="1875" b="0">
                <a:solidFill>
                  <a:srgbClr val="000000"/>
                </a:solidFill>
                <a:latin typeface="Times New Roman"/>
                <a:ea typeface="Times New Roman"/>
                <a:cs typeface="Times New Roman"/>
              </a:defRPr>
            </a:lvl8pPr>
            <a:lvl9pPr algn="l">
              <a:defRPr sz="1875" b="0">
                <a:solidFill>
                  <a:srgbClr val="000000"/>
                </a:solidFill>
                <a:latin typeface="Times New Roman"/>
                <a:ea typeface="Times New Roman"/>
                <a:cs typeface="Times New Roman"/>
              </a:defRPr>
            </a:lvl9pPr>
          </a:lstStyle>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All metrics compare predictions with noisy simulated targets. Experimental accuracy remains untested.</a:t>
            </a:r>
          </a:p>
        </p:txBody>
      </p:sp>
    </p:spTree>
    <p:extLst>
      <p:ext uri="{BB962C8B-B14F-4D97-AF65-F5344CB8AC3E}">
        <p14:creationId xmlns:p14="http://schemas.microsoft.com/office/powerpoint/2010/main" val="144106105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Model behaviour under angle changes</a:t>
            </a:r>
            <a:endParaRPr/>
          </a:p>
        </p:txBody>
      </p:sp>
      <p:graphicFrame>
        <p:nvGraphicFramePr>
          <p:cNvPr id="3" name="Chart">
            <a:extLst xmlns:a="http://schemas.openxmlformats.org/drawingml/2006/main">
              <a:ext uri="{FF2B5EF4-FFF2-40B4-BE49-F238E27FC236}">
                <a16:creationId xmlns:a16="http://schemas.microsoft.com/office/drawing/2014/main" id="{C75FDC14-00E6-4985-9C36-983CD91DC1F0}"/>
              </a:ext>
            </a:extLst>
          </p:cNvPr>
          <p:cNvGraphicFramePr/>
          <p:nvPr/>
        </p:nvGraphicFramePr>
        <p:xfrm>
          <a:off xmlns:a="http://schemas.openxmlformats.org/drawingml/2006/main" x="571500" y="1381125"/>
          <a:ext xmlns:a="http://schemas.openxmlformats.org/drawingml/2006/main" cx="11049000" cy="4191000"/>
        </p:xfrm>
        <a:graphic xmlns:a="http://schemas.openxmlformats.org/drawingml/2006/main">
          <a:graphicData uri="http://schemas.openxmlformats.org/drawingml/2006/chart">
            <c:chart xmlns:r="http://schemas.openxmlformats.org/officeDocument/2006/relationships" xmlns:c="http://schemas.openxmlformats.org/drawingml/2006/chart" r:id="Rd41ed317ec5f496c"/>
          </a:graphicData>
        </a:graphic>
      </p:graphicFrame>
      <p:sp>
        <p:nvSpPr>
          <p:cNvPr id="4" name="">
            <a:extLst xmlns:a="http://schemas.openxmlformats.org/drawingml/2006/main">
              <a:ext uri="{FF2B5EF4-FFF2-40B4-BE49-F238E27FC236}">
                <a16:creationId xmlns:a16="http://schemas.microsoft.com/office/drawing/2014/main" id="{06567059-B6AF-4D0E-830D-474321478DC7}"/>
              </a:ext>
            </a:extLst>
          </p:cNvPr>
          <p:cNvSpPr>
            <a:spLocks xmlns:a="http://schemas.openxmlformats.org/drawingml/2006/main" noGrp="1"/>
          </p:cNvSpPr>
          <p:nvPr/>
        </p:nvSpPr>
        <p:spPr>
          <a:xfrm xmlns:a="http://schemas.openxmlformats.org/drawingml/2006/main">
            <a:off x="400050" y="5857875"/>
            <a:ext cx="11372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0">
                <a:solidFill>
                  <a:srgbClr val="000000"/>
                </a:solidFill>
                <a:latin typeface="Times New Roman"/>
                <a:ea typeface="Times New Roman"/>
                <a:cs typeface="Times New Roman"/>
              </a:defRPr>
            </a:defPPr>
            <a:lvl1pPr algn="l">
              <a:defRPr sz="1800" b="0">
                <a:solidFill>
                  <a:srgbClr val="000000"/>
                </a:solidFill>
                <a:latin typeface="Times New Roman"/>
                <a:ea typeface="Times New Roman"/>
                <a:cs typeface="Times New Roman"/>
              </a:defRPr>
            </a:lvl1pPr>
            <a:lvl2pPr algn="l">
              <a:defRPr sz="1800" b="0">
                <a:solidFill>
                  <a:srgbClr val="000000"/>
                </a:solidFill>
                <a:latin typeface="Times New Roman"/>
                <a:ea typeface="Times New Roman"/>
                <a:cs typeface="Times New Roman"/>
              </a:defRPr>
            </a:lvl2pPr>
            <a:lvl3pPr algn="l">
              <a:defRPr sz="1800" b="0">
                <a:solidFill>
                  <a:srgbClr val="000000"/>
                </a:solidFill>
                <a:latin typeface="Times New Roman"/>
                <a:ea typeface="Times New Roman"/>
                <a:cs typeface="Times New Roman"/>
              </a:defRPr>
            </a:lvl3pPr>
            <a:lvl4pPr algn="l">
              <a:defRPr sz="1800" b="0">
                <a:solidFill>
                  <a:srgbClr val="000000"/>
                </a:solidFill>
                <a:latin typeface="Times New Roman"/>
                <a:ea typeface="Times New Roman"/>
                <a:cs typeface="Times New Roman"/>
              </a:defRPr>
            </a:lvl4pPr>
            <a:lvl5pPr algn="l">
              <a:defRPr sz="1800" b="0">
                <a:solidFill>
                  <a:srgbClr val="000000"/>
                </a:solidFill>
                <a:latin typeface="Times New Roman"/>
                <a:ea typeface="Times New Roman"/>
                <a:cs typeface="Times New Roman"/>
              </a:defRPr>
            </a:lvl5pPr>
            <a:lvl6pPr algn="l">
              <a:defRPr sz="1800" b="0">
                <a:solidFill>
                  <a:srgbClr val="000000"/>
                </a:solidFill>
                <a:latin typeface="Times New Roman"/>
                <a:ea typeface="Times New Roman"/>
                <a:cs typeface="Times New Roman"/>
              </a:defRPr>
            </a:lvl6pPr>
            <a:lvl7pPr algn="l">
              <a:defRPr sz="1800" b="0">
                <a:solidFill>
                  <a:srgbClr val="000000"/>
                </a:solidFill>
                <a:latin typeface="Times New Roman"/>
                <a:ea typeface="Times New Roman"/>
                <a:cs typeface="Times New Roman"/>
              </a:defRPr>
            </a:lvl7pPr>
            <a:lvl8pPr algn="l">
              <a:defRPr sz="1800" b="0">
                <a:solidFill>
                  <a:srgbClr val="000000"/>
                </a:solidFill>
                <a:latin typeface="Times New Roman"/>
                <a:ea typeface="Times New Roman"/>
                <a:cs typeface="Times New Roman"/>
              </a:defRPr>
            </a:lvl8pPr>
            <a:lvl9pPr algn="l">
              <a:defRPr sz="1800" b="0">
                <a:solidFill>
                  <a:srgbClr val="000000"/>
                </a:solidFill>
                <a:latin typeface="Times New Roman"/>
                <a:ea typeface="Times New Roman"/>
                <a:cs typeface="Times New Roman"/>
              </a:defRPr>
            </a:lvl9pPr>
          </a:lstStyle>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Fibre fraction 45%, voids 2%. The curves describe the nominal simulator and its fitted surrogate. Independent experimental validity remains untested.</a:t>
            </a:r>
          </a:p>
        </p:txBody>
      </p:sp>
    </p:spTree>
    <p:extLst>
      <p:ext uri="{BB962C8B-B14F-4D97-AF65-F5344CB8AC3E}">
        <p14:creationId xmlns:p14="http://schemas.microsoft.com/office/powerpoint/2010/main" val="144106105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51E38171-288C-43A2-82A6-D0083ADF55F5}"/>
              </a:ext>
            </a:extLst>
          </p:cNvPr>
          <p:cNvCxnSpPr>
            <a:stCxn xmlns:a="http://schemas.openxmlformats.org/drawingml/2006/main" id="13" idx="3"/>
            <a:endCxn xmlns:a="http://schemas.openxmlformats.org/drawingml/2006/main" id="14" idx="1"/>
          </p:cNvCxnSpPr>
          <p:nvPr/>
        </p:nvCxnSpPr>
        <p:spPr>
          <a:xfrm xmlns:a="http://schemas.openxmlformats.org/drawingml/2006/main">
            <a:off x="7762875" y="4762500"/>
            <a:ext cx="695325" cy="0"/>
          </a:xfrm>
          <a:prstGeom xmlns:a="http://schemas.openxmlformats.org/drawingml/2006/main" prst="straightConnector1">
            <a:avLst/>
          </a:prstGeom>
          <a:ln xmlns:a="http://schemas.openxmlformats.org/drawingml/2006/main" w="13335">
            <a:solidFill>
              <a:srgbClr val="333333"/>
            </a:solidFill>
            <a:tailEnd type="triangle" w="sm" len="sm"/>
          </a:ln>
        </p:spPr>
      </p:cxnSp>
      <p:cxnSp>
        <p:nvCxnSpPr>
          <p:cNvPr id="15" name="">
            <a:extLst xmlns:a="http://schemas.openxmlformats.org/drawingml/2006/main">
              <a:ext uri="{FF2B5EF4-FFF2-40B4-BE49-F238E27FC236}">
                <a16:creationId xmlns:a16="http://schemas.microsoft.com/office/drawing/2014/main" id="{88532497-19BD-4F5C-B8D2-3C35DF3A3301}"/>
              </a:ext>
            </a:extLst>
          </p:cNvPr>
          <p:cNvCxnSpPr>
            <a:stCxn xmlns:a="http://schemas.openxmlformats.org/drawingml/2006/main" id="12" idx="3"/>
            <a:endCxn xmlns:a="http://schemas.openxmlformats.org/drawingml/2006/main" id="13" idx="1"/>
          </p:cNvCxnSpPr>
          <p:nvPr/>
        </p:nvCxnSpPr>
        <p:spPr>
          <a:xfrm xmlns:a="http://schemas.openxmlformats.org/drawingml/2006/main">
            <a:off x="3733800" y="4762500"/>
            <a:ext cx="695325" cy="0"/>
          </a:xfrm>
          <a:prstGeom xmlns:a="http://schemas.openxmlformats.org/drawingml/2006/main" prst="straightConnector1">
            <a:avLst/>
          </a:prstGeom>
          <a:ln xmlns:a="http://schemas.openxmlformats.org/drawingml/2006/main" w="13335">
            <a:solidFill>
              <a:srgbClr val="333333"/>
            </a:solidFill>
            <a:tailEnd type="triangle" w="sm" len="sm"/>
          </a:ln>
        </p:spPr>
      </p:cxnSp>
      <p:cxnSp>
        <p:nvCxnSpPr>
          <p:cNvPr id="10" name="">
            <a:extLst xmlns:a="http://schemas.openxmlformats.org/drawingml/2006/main">
              <a:ext uri="{FF2B5EF4-FFF2-40B4-BE49-F238E27FC236}">
                <a16:creationId xmlns:a16="http://schemas.microsoft.com/office/drawing/2014/main" id="{4D3C250E-7B4C-4674-AB91-86C429EBD281}"/>
              </a:ext>
            </a:extLst>
          </p:cNvPr>
          <p:cNvCxnSpPr>
            <a:stCxn xmlns:a="http://schemas.openxmlformats.org/drawingml/2006/main" id="6" idx="3"/>
            <a:endCxn xmlns:a="http://schemas.openxmlformats.org/drawingml/2006/main" id="7" idx="1"/>
          </p:cNvCxnSpPr>
          <p:nvPr/>
        </p:nvCxnSpPr>
        <p:spPr>
          <a:xfrm xmlns:a="http://schemas.openxmlformats.org/drawingml/2006/main">
            <a:off x="8553450" y="2524125"/>
            <a:ext cx="504825" cy="0"/>
          </a:xfrm>
          <a:prstGeom xmlns:a="http://schemas.openxmlformats.org/drawingml/2006/main" prst="straightConnector1">
            <a:avLst/>
          </a:prstGeom>
          <a:ln xmlns:a="http://schemas.openxmlformats.org/drawingml/2006/main" w="13335">
            <a:solidFill>
              <a:srgbClr val="333333"/>
            </a:solidFill>
            <a:tailEnd type="triangle" w="sm" len="sm"/>
          </a:ln>
        </p:spPr>
      </p:cxnSp>
      <p:cxnSp>
        <p:nvCxnSpPr>
          <p:cNvPr id="9" name="">
            <a:extLst xmlns:a="http://schemas.openxmlformats.org/drawingml/2006/main">
              <a:ext uri="{FF2B5EF4-FFF2-40B4-BE49-F238E27FC236}">
                <a16:creationId xmlns:a16="http://schemas.microsoft.com/office/drawing/2014/main" id="{AEC58B37-C8BC-4EC4-B79A-B85D79B555F1}"/>
              </a:ext>
            </a:extLst>
          </p:cNvPr>
          <p:cNvCxnSpPr>
            <a:stCxn xmlns:a="http://schemas.openxmlformats.org/drawingml/2006/main" id="5" idx="3"/>
            <a:endCxn xmlns:a="http://schemas.openxmlformats.org/drawingml/2006/main" id="6" idx="1"/>
          </p:cNvCxnSpPr>
          <p:nvPr/>
        </p:nvCxnSpPr>
        <p:spPr>
          <a:xfrm xmlns:a="http://schemas.openxmlformats.org/drawingml/2006/main">
            <a:off x="5667375" y="2524125"/>
            <a:ext cx="504825" cy="0"/>
          </a:xfrm>
          <a:prstGeom xmlns:a="http://schemas.openxmlformats.org/drawingml/2006/main" prst="straightConnector1">
            <a:avLst/>
          </a:prstGeom>
          <a:ln xmlns:a="http://schemas.openxmlformats.org/drawingml/2006/main" w="13335">
            <a:solidFill>
              <a:srgbClr val="333333"/>
            </a:solidFill>
            <a:tailEnd type="triangle" w="sm" len="sm"/>
          </a:ln>
        </p:spPr>
      </p:cxnSp>
      <p:cxnSp>
        <p:nvCxnSpPr>
          <p:cNvPr id="8" name="">
            <a:extLst xmlns:a="http://schemas.openxmlformats.org/drawingml/2006/main">
              <a:ext uri="{FF2B5EF4-FFF2-40B4-BE49-F238E27FC236}">
                <a16:creationId xmlns:a16="http://schemas.microsoft.com/office/drawing/2014/main" id="{7D861629-D82A-40B9-8474-0A8A3C2F298B}"/>
              </a:ext>
            </a:extLst>
          </p:cNvPr>
          <p:cNvCxnSpPr>
            <a:stCxn xmlns:a="http://schemas.openxmlformats.org/drawingml/2006/main" id="4" idx="3"/>
            <a:endCxn xmlns:a="http://schemas.openxmlformats.org/drawingml/2006/main" id="5" idx="1"/>
          </p:cNvCxnSpPr>
          <p:nvPr/>
        </p:nvCxnSpPr>
        <p:spPr>
          <a:xfrm xmlns:a="http://schemas.openxmlformats.org/drawingml/2006/main">
            <a:off x="2781300" y="2524125"/>
            <a:ext cx="504825" cy="0"/>
          </a:xfrm>
          <a:prstGeom xmlns:a="http://schemas.openxmlformats.org/drawingml/2006/main" prst="straightConnector1">
            <a:avLst/>
          </a:prstGeom>
          <a:ln xmlns:a="http://schemas.openxmlformats.org/drawingml/2006/main" w="13335">
            <a:solidFill>
              <a:srgbClr val="333333"/>
            </a:solidFill>
            <a:tailEnd type="triangle" w="sm" len="sm"/>
          </a:ln>
        </p:spPr>
      </p:cxnSp>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Software architecture and input checks</a:t>
            </a:r>
            <a:endParaRPr/>
          </a:p>
        </p:txBody>
      </p:sp>
      <p:sp>
        <p:nvSpPr>
          <p:cNvPr id="3" name="">
            <a:extLst xmlns:a="http://schemas.openxmlformats.org/drawingml/2006/main">
              <a:ext uri="{FF2B5EF4-FFF2-40B4-BE49-F238E27FC236}">
                <a16:creationId xmlns:a16="http://schemas.microsoft.com/office/drawing/2014/main" id="{C0CD3E13-1496-4F22-A4B8-D3F64A12D66A}"/>
              </a:ext>
            </a:extLst>
          </p:cNvPr>
          <p:cNvSpPr>
            <a:spLocks xmlns:a="http://schemas.openxmlformats.org/drawingml/2006/main" noGrp="1"/>
          </p:cNvSpPr>
          <p:nvPr/>
        </p:nvSpPr>
        <p:spPr>
          <a:xfrm xmlns:a="http://schemas.openxmlformats.org/drawingml/2006/main">
            <a:off x="400050" y="1381125"/>
            <a:ext cx="11372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1">
                <a:solidFill>
                  <a:srgbClr val="0070C0"/>
                </a:solidFill>
                <a:latin typeface="Times New Roman"/>
                <a:ea typeface="Times New Roman"/>
                <a:cs typeface="Times New Roman"/>
              </a:defRPr>
            </a:defPPr>
            <a:lvl1pPr algn="l">
              <a:defRPr sz="1950" b="1">
                <a:solidFill>
                  <a:srgbClr val="0070C0"/>
                </a:solidFill>
                <a:latin typeface="Times New Roman"/>
                <a:ea typeface="Times New Roman"/>
                <a:cs typeface="Times New Roman"/>
              </a:defRPr>
            </a:lvl1pPr>
            <a:lvl2pPr algn="l">
              <a:defRPr sz="1950" b="1">
                <a:solidFill>
                  <a:srgbClr val="0070C0"/>
                </a:solidFill>
                <a:latin typeface="Times New Roman"/>
                <a:ea typeface="Times New Roman"/>
                <a:cs typeface="Times New Roman"/>
              </a:defRPr>
            </a:lvl2pPr>
            <a:lvl3pPr algn="l">
              <a:defRPr sz="1950" b="1">
                <a:solidFill>
                  <a:srgbClr val="0070C0"/>
                </a:solidFill>
                <a:latin typeface="Times New Roman"/>
                <a:ea typeface="Times New Roman"/>
                <a:cs typeface="Times New Roman"/>
              </a:defRPr>
            </a:lvl3pPr>
            <a:lvl4pPr algn="l">
              <a:defRPr sz="1950" b="1">
                <a:solidFill>
                  <a:srgbClr val="0070C0"/>
                </a:solidFill>
                <a:latin typeface="Times New Roman"/>
                <a:ea typeface="Times New Roman"/>
                <a:cs typeface="Times New Roman"/>
              </a:defRPr>
            </a:lvl4pPr>
            <a:lvl5pPr algn="l">
              <a:defRPr sz="1950" b="1">
                <a:solidFill>
                  <a:srgbClr val="0070C0"/>
                </a:solidFill>
                <a:latin typeface="Times New Roman"/>
                <a:ea typeface="Times New Roman"/>
                <a:cs typeface="Times New Roman"/>
              </a:defRPr>
            </a:lvl5pPr>
            <a:lvl6pPr algn="l">
              <a:defRPr sz="1950" b="1">
                <a:solidFill>
                  <a:srgbClr val="0070C0"/>
                </a:solidFill>
                <a:latin typeface="Times New Roman"/>
                <a:ea typeface="Times New Roman"/>
                <a:cs typeface="Times New Roman"/>
              </a:defRPr>
            </a:lvl6pPr>
            <a:lvl7pPr algn="l">
              <a:defRPr sz="1950" b="1">
                <a:solidFill>
                  <a:srgbClr val="0070C0"/>
                </a:solidFill>
                <a:latin typeface="Times New Roman"/>
                <a:ea typeface="Times New Roman"/>
                <a:cs typeface="Times New Roman"/>
              </a:defRPr>
            </a:lvl7pPr>
            <a:lvl8pPr algn="l">
              <a:defRPr sz="1950" b="1">
                <a:solidFill>
                  <a:srgbClr val="0070C0"/>
                </a:solidFill>
                <a:latin typeface="Times New Roman"/>
                <a:ea typeface="Times New Roman"/>
                <a:cs typeface="Times New Roman"/>
              </a:defRPr>
            </a:lvl8pPr>
            <a:lvl9pPr algn="l">
              <a:defRPr sz="1950" b="1">
                <a:solidFill>
                  <a:srgbClr val="0070C0"/>
                </a:solidFill>
                <a:latin typeface="Times New Roman"/>
                <a:ea typeface="Times New Roman"/>
                <a:cs typeface="Times New Roman"/>
              </a:defRPr>
            </a:lvl9pPr>
          </a:lstStyle>
          <a:p xmlns:a="http://schemas.openxmlformats.org/drawingml/2006/main">
            <a:pPr algn="l">
              <a:defRPr sz="1950" b="1">
                <a:solidFill>
                  <a:srgbClr val="0070C0"/>
                </a:solidFill>
                <a:latin typeface="Times New Roman"/>
                <a:ea typeface="Times New Roman"/>
                <a:cs typeface="Times New Roman"/>
              </a:defRPr>
            </a:pPr>
            <a:r>
              <a:rPr sz="1950" b="1">
                <a:solidFill>
                  <a:srgbClr val="0070C0"/>
                </a:solidFill>
                <a:latin typeface="Times New Roman"/>
                <a:ea typeface="Times New Roman"/>
                <a:cs typeface="Times New Roman"/>
              </a:rPr>
              <a:t>Saved model prediction</a:t>
            </a:r>
          </a:p>
        </p:txBody>
      </p:sp>
      <p:sp>
        <p:nvSpPr>
          <p:cNvPr id="4" name="">
            <a:extLst xmlns:a="http://schemas.openxmlformats.org/drawingml/2006/main">
              <a:ext uri="{FF2B5EF4-FFF2-40B4-BE49-F238E27FC236}">
                <a16:creationId xmlns:a16="http://schemas.microsoft.com/office/drawing/2014/main" id="{31225560-E697-442F-A6EA-7E3B136FFC18}"/>
              </a:ext>
            </a:extLst>
          </p:cNvPr>
          <p:cNvSpPr>
            <a:spLocks xmlns:a="http://schemas.openxmlformats.org/drawingml/2006/main" noGrp="1"/>
          </p:cNvSpPr>
          <p:nvPr/>
        </p:nvSpPr>
        <p:spPr>
          <a:xfrm xmlns:a="http://schemas.openxmlformats.org/drawingml/2006/main">
            <a:off x="400050" y="2000250"/>
            <a:ext cx="238125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333333"/>
            </a:solidFill>
          </a:ln>
        </p:spPr>
        <p:txBody>
          <a:bodyPr xmlns:a="http://schemas.openxmlformats.org/drawingml/2006/main" lIns="95250" tIns="47625" rIns="95250" bIns="47625" anchor="ctr"/>
          <a:lstStyle xmlns:a="http://schemas.openxmlformats.org/drawingml/2006/main">
            <a:defPPr algn="ctr">
              <a:defRPr sz="1725">
                <a:solidFill>
                  <a:srgbClr val="000000"/>
                </a:solidFill>
                <a:latin typeface="Times New Roman"/>
                <a:ea typeface="Times New Roman"/>
                <a:cs typeface="Times New Roman"/>
              </a:defRPr>
            </a:defPPr>
            <a:lvl1pPr algn="ctr">
              <a:defRPr sz="1725">
                <a:solidFill>
                  <a:srgbClr val="000000"/>
                </a:solidFill>
                <a:latin typeface="Times New Roman"/>
                <a:ea typeface="Times New Roman"/>
                <a:cs typeface="Times New Roman"/>
              </a:defRPr>
            </a:lvl1pPr>
            <a:lvl2pPr algn="ctr">
              <a:defRPr sz="1725">
                <a:solidFill>
                  <a:srgbClr val="000000"/>
                </a:solidFill>
                <a:latin typeface="Times New Roman"/>
                <a:ea typeface="Times New Roman"/>
                <a:cs typeface="Times New Roman"/>
              </a:defRPr>
            </a:lvl2pPr>
            <a:lvl3pPr algn="ctr">
              <a:defRPr sz="1725">
                <a:solidFill>
                  <a:srgbClr val="000000"/>
                </a:solidFill>
                <a:latin typeface="Times New Roman"/>
                <a:ea typeface="Times New Roman"/>
                <a:cs typeface="Times New Roman"/>
              </a:defRPr>
            </a:lvl3pPr>
            <a:lvl4pPr algn="ctr">
              <a:defRPr sz="1725">
                <a:solidFill>
                  <a:srgbClr val="000000"/>
                </a:solidFill>
                <a:latin typeface="Times New Roman"/>
                <a:ea typeface="Times New Roman"/>
                <a:cs typeface="Times New Roman"/>
              </a:defRPr>
            </a:lvl4pPr>
            <a:lvl5pPr algn="ctr">
              <a:defRPr sz="1725">
                <a:solidFill>
                  <a:srgbClr val="000000"/>
                </a:solidFill>
                <a:latin typeface="Times New Roman"/>
                <a:ea typeface="Times New Roman"/>
                <a:cs typeface="Times New Roman"/>
              </a:defRPr>
            </a:lvl5pPr>
            <a:lvl6pPr algn="ctr">
              <a:defRPr sz="1725">
                <a:solidFill>
                  <a:srgbClr val="000000"/>
                </a:solidFill>
                <a:latin typeface="Times New Roman"/>
                <a:ea typeface="Times New Roman"/>
                <a:cs typeface="Times New Roman"/>
              </a:defRPr>
            </a:lvl6pPr>
            <a:lvl7pPr algn="ctr">
              <a:defRPr sz="1725">
                <a:solidFill>
                  <a:srgbClr val="000000"/>
                </a:solidFill>
                <a:latin typeface="Times New Roman"/>
                <a:ea typeface="Times New Roman"/>
                <a:cs typeface="Times New Roman"/>
              </a:defRPr>
            </a:lvl7pPr>
            <a:lvl8pPr algn="ctr">
              <a:defRPr sz="1725">
                <a:solidFill>
                  <a:srgbClr val="000000"/>
                </a:solidFill>
                <a:latin typeface="Times New Roman"/>
                <a:ea typeface="Times New Roman"/>
                <a:cs typeface="Times New Roman"/>
              </a:defRPr>
            </a:lvl8pPr>
            <a:lvl9pPr algn="ctr">
              <a:defRPr sz="1725">
                <a:solidFill>
                  <a:srgbClr val="000000"/>
                </a:solidFill>
                <a:latin typeface="Times New Roman"/>
                <a:ea typeface="Times New Roman"/>
                <a:cs typeface="Times New Roman"/>
              </a:defRPr>
            </a:lvl9pPr>
          </a:lstStyle>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Three inputs</a:t>
            </a:r>
          </a:p>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Vf, voids, angle</a:t>
            </a:r>
          </a:p>
        </p:txBody>
      </p:sp>
      <p:sp>
        <p:nvSpPr>
          <p:cNvPr id="5" name="">
            <a:extLst xmlns:a="http://schemas.openxmlformats.org/drawingml/2006/main">
              <a:ext uri="{FF2B5EF4-FFF2-40B4-BE49-F238E27FC236}">
                <a16:creationId xmlns:a16="http://schemas.microsoft.com/office/drawing/2014/main" id="{3996E94E-2ABB-49BA-B1BC-C7322A723110}"/>
              </a:ext>
            </a:extLst>
          </p:cNvPr>
          <p:cNvSpPr>
            <a:spLocks xmlns:a="http://schemas.openxmlformats.org/drawingml/2006/main" noGrp="1"/>
          </p:cNvSpPr>
          <p:nvPr/>
        </p:nvSpPr>
        <p:spPr>
          <a:xfrm xmlns:a="http://schemas.openxmlformats.org/drawingml/2006/main">
            <a:off x="3286125" y="2000250"/>
            <a:ext cx="238125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333333"/>
            </a:solidFill>
          </a:ln>
        </p:spPr>
        <p:txBody>
          <a:bodyPr xmlns:a="http://schemas.openxmlformats.org/drawingml/2006/main" lIns="95250" tIns="47625" rIns="95250" bIns="47625" anchor="ctr"/>
          <a:lstStyle xmlns:a="http://schemas.openxmlformats.org/drawingml/2006/main">
            <a:defPPr algn="ctr">
              <a:defRPr sz="1725">
                <a:solidFill>
                  <a:srgbClr val="000000"/>
                </a:solidFill>
                <a:latin typeface="Times New Roman"/>
                <a:ea typeface="Times New Roman"/>
                <a:cs typeface="Times New Roman"/>
              </a:defRPr>
            </a:defPPr>
            <a:lvl1pPr algn="ctr">
              <a:defRPr sz="1725">
                <a:solidFill>
                  <a:srgbClr val="000000"/>
                </a:solidFill>
                <a:latin typeface="Times New Roman"/>
                <a:ea typeface="Times New Roman"/>
                <a:cs typeface="Times New Roman"/>
              </a:defRPr>
            </a:lvl1pPr>
            <a:lvl2pPr algn="ctr">
              <a:defRPr sz="1725">
                <a:solidFill>
                  <a:srgbClr val="000000"/>
                </a:solidFill>
                <a:latin typeface="Times New Roman"/>
                <a:ea typeface="Times New Roman"/>
                <a:cs typeface="Times New Roman"/>
              </a:defRPr>
            </a:lvl2pPr>
            <a:lvl3pPr algn="ctr">
              <a:defRPr sz="1725">
                <a:solidFill>
                  <a:srgbClr val="000000"/>
                </a:solidFill>
                <a:latin typeface="Times New Roman"/>
                <a:ea typeface="Times New Roman"/>
                <a:cs typeface="Times New Roman"/>
              </a:defRPr>
            </a:lvl3pPr>
            <a:lvl4pPr algn="ctr">
              <a:defRPr sz="1725">
                <a:solidFill>
                  <a:srgbClr val="000000"/>
                </a:solidFill>
                <a:latin typeface="Times New Roman"/>
                <a:ea typeface="Times New Roman"/>
                <a:cs typeface="Times New Roman"/>
              </a:defRPr>
            </a:lvl4pPr>
            <a:lvl5pPr algn="ctr">
              <a:defRPr sz="1725">
                <a:solidFill>
                  <a:srgbClr val="000000"/>
                </a:solidFill>
                <a:latin typeface="Times New Roman"/>
                <a:ea typeface="Times New Roman"/>
                <a:cs typeface="Times New Roman"/>
              </a:defRPr>
            </a:lvl5pPr>
            <a:lvl6pPr algn="ctr">
              <a:defRPr sz="1725">
                <a:solidFill>
                  <a:srgbClr val="000000"/>
                </a:solidFill>
                <a:latin typeface="Times New Roman"/>
                <a:ea typeface="Times New Roman"/>
                <a:cs typeface="Times New Roman"/>
              </a:defRPr>
            </a:lvl6pPr>
            <a:lvl7pPr algn="ctr">
              <a:defRPr sz="1725">
                <a:solidFill>
                  <a:srgbClr val="000000"/>
                </a:solidFill>
                <a:latin typeface="Times New Roman"/>
                <a:ea typeface="Times New Roman"/>
                <a:cs typeface="Times New Roman"/>
              </a:defRPr>
            </a:lvl7pPr>
            <a:lvl8pPr algn="ctr">
              <a:defRPr sz="1725">
                <a:solidFill>
                  <a:srgbClr val="000000"/>
                </a:solidFill>
                <a:latin typeface="Times New Roman"/>
                <a:ea typeface="Times New Roman"/>
                <a:cs typeface="Times New Roman"/>
              </a:defRPr>
            </a:lvl8pPr>
            <a:lvl9pPr algn="ctr">
              <a:defRPr sz="1725">
                <a:solidFill>
                  <a:srgbClr val="000000"/>
                </a:solidFill>
                <a:latin typeface="Times New Roman"/>
                <a:ea typeface="Times New Roman"/>
                <a:cs typeface="Times New Roman"/>
              </a:defRPr>
            </a:lvl9pPr>
          </a:lstStyle>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Unit and</a:t>
            </a:r>
          </a:p>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domain checks</a:t>
            </a:r>
          </a:p>
        </p:txBody>
      </p:sp>
      <p:sp>
        <p:nvSpPr>
          <p:cNvPr id="6" name="">
            <a:extLst xmlns:a="http://schemas.openxmlformats.org/drawingml/2006/main">
              <a:ext uri="{FF2B5EF4-FFF2-40B4-BE49-F238E27FC236}">
                <a16:creationId xmlns:a16="http://schemas.microsoft.com/office/drawing/2014/main" id="{C11394D7-9BE5-41BB-8C5B-2A704BB8B97D}"/>
              </a:ext>
            </a:extLst>
          </p:cNvPr>
          <p:cNvSpPr>
            <a:spLocks xmlns:a="http://schemas.openxmlformats.org/drawingml/2006/main" noGrp="1"/>
          </p:cNvSpPr>
          <p:nvPr/>
        </p:nvSpPr>
        <p:spPr>
          <a:xfrm xmlns:a="http://schemas.openxmlformats.org/drawingml/2006/main">
            <a:off x="6172200" y="2000250"/>
            <a:ext cx="238125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333333"/>
            </a:solidFill>
          </a:ln>
        </p:spPr>
        <p:txBody>
          <a:bodyPr xmlns:a="http://schemas.openxmlformats.org/drawingml/2006/main" lIns="95250" tIns="47625" rIns="95250" bIns="47625" anchor="ctr"/>
          <a:lstStyle xmlns:a="http://schemas.openxmlformats.org/drawingml/2006/main">
            <a:defPPr algn="ctr">
              <a:defRPr sz="1725">
                <a:solidFill>
                  <a:srgbClr val="000000"/>
                </a:solidFill>
                <a:latin typeface="Times New Roman"/>
                <a:ea typeface="Times New Roman"/>
                <a:cs typeface="Times New Roman"/>
              </a:defRPr>
            </a:defPPr>
            <a:lvl1pPr algn="ctr">
              <a:defRPr sz="1725">
                <a:solidFill>
                  <a:srgbClr val="000000"/>
                </a:solidFill>
                <a:latin typeface="Times New Roman"/>
                <a:ea typeface="Times New Roman"/>
                <a:cs typeface="Times New Roman"/>
              </a:defRPr>
            </a:lvl1pPr>
            <a:lvl2pPr algn="ctr">
              <a:defRPr sz="1725">
                <a:solidFill>
                  <a:srgbClr val="000000"/>
                </a:solidFill>
                <a:latin typeface="Times New Roman"/>
                <a:ea typeface="Times New Roman"/>
                <a:cs typeface="Times New Roman"/>
              </a:defRPr>
            </a:lvl2pPr>
            <a:lvl3pPr algn="ctr">
              <a:defRPr sz="1725">
                <a:solidFill>
                  <a:srgbClr val="000000"/>
                </a:solidFill>
                <a:latin typeface="Times New Roman"/>
                <a:ea typeface="Times New Roman"/>
                <a:cs typeface="Times New Roman"/>
              </a:defRPr>
            </a:lvl3pPr>
            <a:lvl4pPr algn="ctr">
              <a:defRPr sz="1725">
                <a:solidFill>
                  <a:srgbClr val="000000"/>
                </a:solidFill>
                <a:latin typeface="Times New Roman"/>
                <a:ea typeface="Times New Roman"/>
                <a:cs typeface="Times New Roman"/>
              </a:defRPr>
            </a:lvl4pPr>
            <a:lvl5pPr algn="ctr">
              <a:defRPr sz="1725">
                <a:solidFill>
                  <a:srgbClr val="000000"/>
                </a:solidFill>
                <a:latin typeface="Times New Roman"/>
                <a:ea typeface="Times New Roman"/>
                <a:cs typeface="Times New Roman"/>
              </a:defRPr>
            </a:lvl5pPr>
            <a:lvl6pPr algn="ctr">
              <a:defRPr sz="1725">
                <a:solidFill>
                  <a:srgbClr val="000000"/>
                </a:solidFill>
                <a:latin typeface="Times New Roman"/>
                <a:ea typeface="Times New Roman"/>
                <a:cs typeface="Times New Roman"/>
              </a:defRPr>
            </a:lvl6pPr>
            <a:lvl7pPr algn="ctr">
              <a:defRPr sz="1725">
                <a:solidFill>
                  <a:srgbClr val="000000"/>
                </a:solidFill>
                <a:latin typeface="Times New Roman"/>
                <a:ea typeface="Times New Roman"/>
                <a:cs typeface="Times New Roman"/>
              </a:defRPr>
            </a:lvl7pPr>
            <a:lvl8pPr algn="ctr">
              <a:defRPr sz="1725">
                <a:solidFill>
                  <a:srgbClr val="000000"/>
                </a:solidFill>
                <a:latin typeface="Times New Roman"/>
                <a:ea typeface="Times New Roman"/>
                <a:cs typeface="Times New Roman"/>
              </a:defRPr>
            </a:lvl8pPr>
            <a:lvl9pPr algn="ctr">
              <a:defRPr sz="1725">
                <a:solidFill>
                  <a:srgbClr val="000000"/>
                </a:solidFill>
                <a:latin typeface="Times New Roman"/>
                <a:ea typeface="Times New Roman"/>
                <a:cs typeface="Times New Roman"/>
              </a:defRPr>
            </a:lvl9pPr>
          </a:lstStyle>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Saved forest</a:t>
            </a:r>
          </a:p>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and metadata</a:t>
            </a:r>
          </a:p>
        </p:txBody>
      </p:sp>
      <p:sp>
        <p:nvSpPr>
          <p:cNvPr id="7" name="">
            <a:extLst xmlns:a="http://schemas.openxmlformats.org/drawingml/2006/main">
              <a:ext uri="{FF2B5EF4-FFF2-40B4-BE49-F238E27FC236}">
                <a16:creationId xmlns:a16="http://schemas.microsoft.com/office/drawing/2014/main" id="{1D3934A0-1717-4713-9653-51C753250188}"/>
              </a:ext>
            </a:extLst>
          </p:cNvPr>
          <p:cNvSpPr>
            <a:spLocks xmlns:a="http://schemas.openxmlformats.org/drawingml/2006/main" noGrp="1"/>
          </p:cNvSpPr>
          <p:nvPr/>
        </p:nvSpPr>
        <p:spPr>
          <a:xfrm xmlns:a="http://schemas.openxmlformats.org/drawingml/2006/main">
            <a:off x="9058275" y="2000250"/>
            <a:ext cx="271462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333333"/>
            </a:solidFill>
          </a:ln>
        </p:spPr>
        <p:txBody>
          <a:bodyPr xmlns:a="http://schemas.openxmlformats.org/drawingml/2006/main" lIns="95250" tIns="47625" rIns="95250" bIns="47625" anchor="ctr"/>
          <a:lstStyle xmlns:a="http://schemas.openxmlformats.org/drawingml/2006/main">
            <a:defPPr algn="ctr">
              <a:defRPr sz="1725">
                <a:solidFill>
                  <a:srgbClr val="000000"/>
                </a:solidFill>
                <a:latin typeface="Times New Roman"/>
                <a:ea typeface="Times New Roman"/>
                <a:cs typeface="Times New Roman"/>
              </a:defRPr>
            </a:defPPr>
            <a:lvl1pPr algn="ctr">
              <a:defRPr sz="1725">
                <a:solidFill>
                  <a:srgbClr val="000000"/>
                </a:solidFill>
                <a:latin typeface="Times New Roman"/>
                <a:ea typeface="Times New Roman"/>
                <a:cs typeface="Times New Roman"/>
              </a:defRPr>
            </a:lvl1pPr>
            <a:lvl2pPr algn="ctr">
              <a:defRPr sz="1725">
                <a:solidFill>
                  <a:srgbClr val="000000"/>
                </a:solidFill>
                <a:latin typeface="Times New Roman"/>
                <a:ea typeface="Times New Roman"/>
                <a:cs typeface="Times New Roman"/>
              </a:defRPr>
            </a:lvl2pPr>
            <a:lvl3pPr algn="ctr">
              <a:defRPr sz="1725">
                <a:solidFill>
                  <a:srgbClr val="000000"/>
                </a:solidFill>
                <a:latin typeface="Times New Roman"/>
                <a:ea typeface="Times New Roman"/>
                <a:cs typeface="Times New Roman"/>
              </a:defRPr>
            </a:lvl3pPr>
            <a:lvl4pPr algn="ctr">
              <a:defRPr sz="1725">
                <a:solidFill>
                  <a:srgbClr val="000000"/>
                </a:solidFill>
                <a:latin typeface="Times New Roman"/>
                <a:ea typeface="Times New Roman"/>
                <a:cs typeface="Times New Roman"/>
              </a:defRPr>
            </a:lvl4pPr>
            <a:lvl5pPr algn="ctr">
              <a:defRPr sz="1725">
                <a:solidFill>
                  <a:srgbClr val="000000"/>
                </a:solidFill>
                <a:latin typeface="Times New Roman"/>
                <a:ea typeface="Times New Roman"/>
                <a:cs typeface="Times New Roman"/>
              </a:defRPr>
            </a:lvl5pPr>
            <a:lvl6pPr algn="ctr">
              <a:defRPr sz="1725">
                <a:solidFill>
                  <a:srgbClr val="000000"/>
                </a:solidFill>
                <a:latin typeface="Times New Roman"/>
                <a:ea typeface="Times New Roman"/>
                <a:cs typeface="Times New Roman"/>
              </a:defRPr>
            </a:lvl6pPr>
            <a:lvl7pPr algn="ctr">
              <a:defRPr sz="1725">
                <a:solidFill>
                  <a:srgbClr val="000000"/>
                </a:solidFill>
                <a:latin typeface="Times New Roman"/>
                <a:ea typeface="Times New Roman"/>
                <a:cs typeface="Times New Roman"/>
              </a:defRPr>
            </a:lvl7pPr>
            <a:lvl8pPr algn="ctr">
              <a:defRPr sz="1725">
                <a:solidFill>
                  <a:srgbClr val="000000"/>
                </a:solidFill>
                <a:latin typeface="Times New Roman"/>
                <a:ea typeface="Times New Roman"/>
                <a:cs typeface="Times New Roman"/>
              </a:defRPr>
            </a:lvl8pPr>
            <a:lvl9pPr algn="ctr">
              <a:defRPr sz="1725">
                <a:solidFill>
                  <a:srgbClr val="000000"/>
                </a:solidFill>
                <a:latin typeface="Times New Roman"/>
                <a:ea typeface="Times New Roman"/>
                <a:cs typeface="Times New Roman"/>
              </a:defRPr>
            </a:lvl9pPr>
          </a:lstStyle>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Labelled estimate</a:t>
            </a:r>
          </a:p>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Scenarios and sensitivity</a:t>
            </a:r>
          </a:p>
        </p:txBody>
      </p:sp>
      <p:sp>
        <p:nvSpPr>
          <p:cNvPr id="11" name="">
            <a:extLst xmlns:a="http://schemas.openxmlformats.org/drawingml/2006/main">
              <a:ext uri="{FF2B5EF4-FFF2-40B4-BE49-F238E27FC236}">
                <a16:creationId xmlns:a16="http://schemas.microsoft.com/office/drawing/2014/main" id="{B2A64239-1ABE-4E64-A3C8-A3300D0E8556}"/>
              </a:ext>
            </a:extLst>
          </p:cNvPr>
          <p:cNvSpPr>
            <a:spLocks xmlns:a="http://schemas.openxmlformats.org/drawingml/2006/main" noGrp="1"/>
          </p:cNvSpPr>
          <p:nvPr/>
        </p:nvSpPr>
        <p:spPr>
          <a:xfrm xmlns:a="http://schemas.openxmlformats.org/drawingml/2006/main">
            <a:off x="400050" y="3619500"/>
            <a:ext cx="11372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1">
                <a:solidFill>
                  <a:srgbClr val="0070C0"/>
                </a:solidFill>
                <a:latin typeface="Times New Roman"/>
                <a:ea typeface="Times New Roman"/>
                <a:cs typeface="Times New Roman"/>
              </a:defRPr>
            </a:defPPr>
            <a:lvl1pPr algn="l">
              <a:defRPr sz="1950" b="1">
                <a:solidFill>
                  <a:srgbClr val="0070C0"/>
                </a:solidFill>
                <a:latin typeface="Times New Roman"/>
                <a:ea typeface="Times New Roman"/>
                <a:cs typeface="Times New Roman"/>
              </a:defRPr>
            </a:lvl1pPr>
            <a:lvl2pPr algn="l">
              <a:defRPr sz="1950" b="1">
                <a:solidFill>
                  <a:srgbClr val="0070C0"/>
                </a:solidFill>
                <a:latin typeface="Times New Roman"/>
                <a:ea typeface="Times New Roman"/>
                <a:cs typeface="Times New Roman"/>
              </a:defRPr>
            </a:lvl2pPr>
            <a:lvl3pPr algn="l">
              <a:defRPr sz="1950" b="1">
                <a:solidFill>
                  <a:srgbClr val="0070C0"/>
                </a:solidFill>
                <a:latin typeface="Times New Roman"/>
                <a:ea typeface="Times New Roman"/>
                <a:cs typeface="Times New Roman"/>
              </a:defRPr>
            </a:lvl3pPr>
            <a:lvl4pPr algn="l">
              <a:defRPr sz="1950" b="1">
                <a:solidFill>
                  <a:srgbClr val="0070C0"/>
                </a:solidFill>
                <a:latin typeface="Times New Roman"/>
                <a:ea typeface="Times New Roman"/>
                <a:cs typeface="Times New Roman"/>
              </a:defRPr>
            </a:lvl4pPr>
            <a:lvl5pPr algn="l">
              <a:defRPr sz="1950" b="1">
                <a:solidFill>
                  <a:srgbClr val="0070C0"/>
                </a:solidFill>
                <a:latin typeface="Times New Roman"/>
                <a:ea typeface="Times New Roman"/>
                <a:cs typeface="Times New Roman"/>
              </a:defRPr>
            </a:lvl5pPr>
            <a:lvl6pPr algn="l">
              <a:defRPr sz="1950" b="1">
                <a:solidFill>
                  <a:srgbClr val="0070C0"/>
                </a:solidFill>
                <a:latin typeface="Times New Roman"/>
                <a:ea typeface="Times New Roman"/>
                <a:cs typeface="Times New Roman"/>
              </a:defRPr>
            </a:lvl6pPr>
            <a:lvl7pPr algn="l">
              <a:defRPr sz="1950" b="1">
                <a:solidFill>
                  <a:srgbClr val="0070C0"/>
                </a:solidFill>
                <a:latin typeface="Times New Roman"/>
                <a:ea typeface="Times New Roman"/>
                <a:cs typeface="Times New Roman"/>
              </a:defRPr>
            </a:lvl7pPr>
            <a:lvl8pPr algn="l">
              <a:defRPr sz="1950" b="1">
                <a:solidFill>
                  <a:srgbClr val="0070C0"/>
                </a:solidFill>
                <a:latin typeface="Times New Roman"/>
                <a:ea typeface="Times New Roman"/>
                <a:cs typeface="Times New Roman"/>
              </a:defRPr>
            </a:lvl8pPr>
            <a:lvl9pPr algn="l">
              <a:defRPr sz="1950" b="1">
                <a:solidFill>
                  <a:srgbClr val="0070C0"/>
                </a:solidFill>
                <a:latin typeface="Times New Roman"/>
                <a:ea typeface="Times New Roman"/>
                <a:cs typeface="Times New Roman"/>
              </a:defRPr>
            </a:lvl9pPr>
          </a:lstStyle>
          <a:p xmlns:a="http://schemas.openxmlformats.org/drawingml/2006/main">
            <a:pPr algn="l">
              <a:defRPr sz="1950" b="1">
                <a:solidFill>
                  <a:srgbClr val="0070C0"/>
                </a:solidFill>
                <a:latin typeface="Times New Roman"/>
                <a:ea typeface="Times New Roman"/>
                <a:cs typeface="Times New Roman"/>
              </a:defRPr>
            </a:pPr>
            <a:r>
              <a:rPr sz="1950" b="1">
                <a:solidFill>
                  <a:srgbClr val="0070C0"/>
                </a:solidFill>
                <a:latin typeface="Times New Roman"/>
                <a:ea typeface="Times New Roman"/>
                <a:cs typeface="Times New Roman"/>
              </a:rPr>
              <a:t>Separate direct simulator experiment</a:t>
            </a:r>
          </a:p>
        </p:txBody>
      </p:sp>
      <p:sp>
        <p:nvSpPr>
          <p:cNvPr id="12" name="">
            <a:extLst xmlns:a="http://schemas.openxmlformats.org/drawingml/2006/main">
              <a:ext uri="{FF2B5EF4-FFF2-40B4-BE49-F238E27FC236}">
                <a16:creationId xmlns:a16="http://schemas.microsoft.com/office/drawing/2014/main" id="{1AD7AC99-0F34-49D0-ABE9-016BA568EFE9}"/>
              </a:ext>
            </a:extLst>
          </p:cNvPr>
          <p:cNvSpPr>
            <a:spLocks xmlns:a="http://schemas.openxmlformats.org/drawingml/2006/main" noGrp="1"/>
          </p:cNvSpPr>
          <p:nvPr/>
        </p:nvSpPr>
        <p:spPr>
          <a:xfrm xmlns:a="http://schemas.openxmlformats.org/drawingml/2006/main">
            <a:off x="400050" y="4286250"/>
            <a:ext cx="3333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333333"/>
            </a:solidFill>
          </a:ln>
        </p:spPr>
        <p:txBody>
          <a:bodyPr xmlns:a="http://schemas.openxmlformats.org/drawingml/2006/main" lIns="95250" tIns="47625" rIns="95250" bIns="47625" anchor="ctr"/>
          <a:lstStyle xmlns:a="http://schemas.openxmlformats.org/drawingml/2006/main">
            <a:defPPr algn="ctr">
              <a:defRPr sz="1725">
                <a:solidFill>
                  <a:srgbClr val="000000"/>
                </a:solidFill>
                <a:latin typeface="Times New Roman"/>
                <a:ea typeface="Times New Roman"/>
                <a:cs typeface="Times New Roman"/>
              </a:defRPr>
            </a:defPPr>
            <a:lvl1pPr algn="ctr">
              <a:defRPr sz="1725">
                <a:solidFill>
                  <a:srgbClr val="000000"/>
                </a:solidFill>
                <a:latin typeface="Times New Roman"/>
                <a:ea typeface="Times New Roman"/>
                <a:cs typeface="Times New Roman"/>
              </a:defRPr>
            </a:lvl1pPr>
            <a:lvl2pPr algn="ctr">
              <a:defRPr sz="1725">
                <a:solidFill>
                  <a:srgbClr val="000000"/>
                </a:solidFill>
                <a:latin typeface="Times New Roman"/>
                <a:ea typeface="Times New Roman"/>
                <a:cs typeface="Times New Roman"/>
              </a:defRPr>
            </a:lvl2pPr>
            <a:lvl3pPr algn="ctr">
              <a:defRPr sz="1725">
                <a:solidFill>
                  <a:srgbClr val="000000"/>
                </a:solidFill>
                <a:latin typeface="Times New Roman"/>
                <a:ea typeface="Times New Roman"/>
                <a:cs typeface="Times New Roman"/>
              </a:defRPr>
            </a:lvl3pPr>
            <a:lvl4pPr algn="ctr">
              <a:defRPr sz="1725">
                <a:solidFill>
                  <a:srgbClr val="000000"/>
                </a:solidFill>
                <a:latin typeface="Times New Roman"/>
                <a:ea typeface="Times New Roman"/>
                <a:cs typeface="Times New Roman"/>
              </a:defRPr>
            </a:lvl4pPr>
            <a:lvl5pPr algn="ctr">
              <a:defRPr sz="1725">
                <a:solidFill>
                  <a:srgbClr val="000000"/>
                </a:solidFill>
                <a:latin typeface="Times New Roman"/>
                <a:ea typeface="Times New Roman"/>
                <a:cs typeface="Times New Roman"/>
              </a:defRPr>
            </a:lvl5pPr>
            <a:lvl6pPr algn="ctr">
              <a:defRPr sz="1725">
                <a:solidFill>
                  <a:srgbClr val="000000"/>
                </a:solidFill>
                <a:latin typeface="Times New Roman"/>
                <a:ea typeface="Times New Roman"/>
                <a:cs typeface="Times New Roman"/>
              </a:defRPr>
            </a:lvl6pPr>
            <a:lvl7pPr algn="ctr">
              <a:defRPr sz="1725">
                <a:solidFill>
                  <a:srgbClr val="000000"/>
                </a:solidFill>
                <a:latin typeface="Times New Roman"/>
                <a:ea typeface="Times New Roman"/>
                <a:cs typeface="Times New Roman"/>
              </a:defRPr>
            </a:lvl7pPr>
            <a:lvl8pPr algn="ctr">
              <a:defRPr sz="1725">
                <a:solidFill>
                  <a:srgbClr val="000000"/>
                </a:solidFill>
                <a:latin typeface="Times New Roman"/>
                <a:ea typeface="Times New Roman"/>
                <a:cs typeface="Times New Roman"/>
              </a:defRPr>
            </a:lvl8pPr>
            <a:lvl9pPr algn="ctr">
              <a:defRPr sz="1725">
                <a:solidFill>
                  <a:srgbClr val="000000"/>
                </a:solidFill>
                <a:latin typeface="Times New Roman"/>
                <a:ea typeface="Times New Roman"/>
                <a:cs typeface="Times New Roman"/>
              </a:defRPr>
            </a:lvl9pPr>
          </a:lstStyle>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Three geometry inputs</a:t>
            </a:r>
          </a:p>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Six material properties</a:t>
            </a:r>
          </a:p>
        </p:txBody>
      </p:sp>
      <p:sp>
        <p:nvSpPr>
          <p:cNvPr id="13" name="">
            <a:extLst xmlns:a="http://schemas.openxmlformats.org/drawingml/2006/main">
              <a:ext uri="{FF2B5EF4-FFF2-40B4-BE49-F238E27FC236}">
                <a16:creationId xmlns:a16="http://schemas.microsoft.com/office/drawing/2014/main" id="{0BDF4ECB-FE1B-45E4-9D41-15C5DA480DDE}"/>
              </a:ext>
            </a:extLst>
          </p:cNvPr>
          <p:cNvSpPr>
            <a:spLocks xmlns:a="http://schemas.openxmlformats.org/drawingml/2006/main" noGrp="1"/>
          </p:cNvSpPr>
          <p:nvPr/>
        </p:nvSpPr>
        <p:spPr>
          <a:xfrm xmlns:a="http://schemas.openxmlformats.org/drawingml/2006/main">
            <a:off x="4429125" y="4286250"/>
            <a:ext cx="3333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333333"/>
            </a:solidFill>
          </a:ln>
        </p:spPr>
        <p:txBody>
          <a:bodyPr xmlns:a="http://schemas.openxmlformats.org/drawingml/2006/main" lIns="95250" tIns="47625" rIns="95250" bIns="47625" anchor="ctr"/>
          <a:lstStyle xmlns:a="http://schemas.openxmlformats.org/drawingml/2006/main">
            <a:defPPr algn="ctr">
              <a:defRPr sz="1725">
                <a:solidFill>
                  <a:srgbClr val="000000"/>
                </a:solidFill>
                <a:latin typeface="Times New Roman"/>
                <a:ea typeface="Times New Roman"/>
                <a:cs typeface="Times New Roman"/>
              </a:defRPr>
            </a:defPPr>
            <a:lvl1pPr algn="ctr">
              <a:defRPr sz="1725">
                <a:solidFill>
                  <a:srgbClr val="000000"/>
                </a:solidFill>
                <a:latin typeface="Times New Roman"/>
                <a:ea typeface="Times New Roman"/>
                <a:cs typeface="Times New Roman"/>
              </a:defRPr>
            </a:lvl1pPr>
            <a:lvl2pPr algn="ctr">
              <a:defRPr sz="1725">
                <a:solidFill>
                  <a:srgbClr val="000000"/>
                </a:solidFill>
                <a:latin typeface="Times New Roman"/>
                <a:ea typeface="Times New Roman"/>
                <a:cs typeface="Times New Roman"/>
              </a:defRPr>
            </a:lvl2pPr>
            <a:lvl3pPr algn="ctr">
              <a:defRPr sz="1725">
                <a:solidFill>
                  <a:srgbClr val="000000"/>
                </a:solidFill>
                <a:latin typeface="Times New Roman"/>
                <a:ea typeface="Times New Roman"/>
                <a:cs typeface="Times New Roman"/>
              </a:defRPr>
            </a:lvl3pPr>
            <a:lvl4pPr algn="ctr">
              <a:defRPr sz="1725">
                <a:solidFill>
                  <a:srgbClr val="000000"/>
                </a:solidFill>
                <a:latin typeface="Times New Roman"/>
                <a:ea typeface="Times New Roman"/>
                <a:cs typeface="Times New Roman"/>
              </a:defRPr>
            </a:lvl4pPr>
            <a:lvl5pPr algn="ctr">
              <a:defRPr sz="1725">
                <a:solidFill>
                  <a:srgbClr val="000000"/>
                </a:solidFill>
                <a:latin typeface="Times New Roman"/>
                <a:ea typeface="Times New Roman"/>
                <a:cs typeface="Times New Roman"/>
              </a:defRPr>
            </a:lvl5pPr>
            <a:lvl6pPr algn="ctr">
              <a:defRPr sz="1725">
                <a:solidFill>
                  <a:srgbClr val="000000"/>
                </a:solidFill>
                <a:latin typeface="Times New Roman"/>
                <a:ea typeface="Times New Roman"/>
                <a:cs typeface="Times New Roman"/>
              </a:defRPr>
            </a:lvl6pPr>
            <a:lvl7pPr algn="ctr">
              <a:defRPr sz="1725">
                <a:solidFill>
                  <a:srgbClr val="000000"/>
                </a:solidFill>
                <a:latin typeface="Times New Roman"/>
                <a:ea typeface="Times New Roman"/>
                <a:cs typeface="Times New Roman"/>
              </a:defRPr>
            </a:lvl7pPr>
            <a:lvl8pPr algn="ctr">
              <a:defRPr sz="1725">
                <a:solidFill>
                  <a:srgbClr val="000000"/>
                </a:solidFill>
                <a:latin typeface="Times New Roman"/>
                <a:ea typeface="Times New Roman"/>
                <a:cs typeface="Times New Roman"/>
              </a:defRPr>
            </a:lvl8pPr>
            <a:lvl9pPr algn="ctr">
              <a:defRPr sz="1725">
                <a:solidFill>
                  <a:srgbClr val="000000"/>
                </a:solidFill>
                <a:latin typeface="Times New Roman"/>
                <a:ea typeface="Times New Roman"/>
                <a:cs typeface="Times New Roman"/>
              </a:defRPr>
            </a:lvl9pPr>
          </a:lstStyle>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Nominal equations</a:t>
            </a:r>
          </a:p>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and parameter checks</a:t>
            </a:r>
          </a:p>
        </p:txBody>
      </p:sp>
      <p:sp>
        <p:nvSpPr>
          <p:cNvPr id="14" name="">
            <a:extLst xmlns:a="http://schemas.openxmlformats.org/drawingml/2006/main">
              <a:ext uri="{FF2B5EF4-FFF2-40B4-BE49-F238E27FC236}">
                <a16:creationId xmlns:a16="http://schemas.microsoft.com/office/drawing/2014/main" id="{14ABDA52-2702-438D-A131-6478AEBF7A59}"/>
              </a:ext>
            </a:extLst>
          </p:cNvPr>
          <p:cNvSpPr>
            <a:spLocks xmlns:a="http://schemas.openxmlformats.org/drawingml/2006/main" noGrp="1"/>
          </p:cNvSpPr>
          <p:nvPr/>
        </p:nvSpPr>
        <p:spPr>
          <a:xfrm xmlns:a="http://schemas.openxmlformats.org/drawingml/2006/main">
            <a:off x="8458200" y="4286250"/>
            <a:ext cx="331470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333333"/>
            </a:solidFill>
          </a:ln>
        </p:spPr>
        <p:txBody>
          <a:bodyPr xmlns:a="http://schemas.openxmlformats.org/drawingml/2006/main" lIns="95250" tIns="47625" rIns="95250" bIns="47625" anchor="ctr"/>
          <a:lstStyle xmlns:a="http://schemas.openxmlformats.org/drawingml/2006/main">
            <a:defPPr algn="ctr">
              <a:defRPr sz="1725">
                <a:solidFill>
                  <a:srgbClr val="000000"/>
                </a:solidFill>
                <a:latin typeface="Times New Roman"/>
                <a:ea typeface="Times New Roman"/>
                <a:cs typeface="Times New Roman"/>
              </a:defRPr>
            </a:defPPr>
            <a:lvl1pPr algn="ctr">
              <a:defRPr sz="1725">
                <a:solidFill>
                  <a:srgbClr val="000000"/>
                </a:solidFill>
                <a:latin typeface="Times New Roman"/>
                <a:ea typeface="Times New Roman"/>
                <a:cs typeface="Times New Roman"/>
              </a:defRPr>
            </a:lvl1pPr>
            <a:lvl2pPr algn="ctr">
              <a:defRPr sz="1725">
                <a:solidFill>
                  <a:srgbClr val="000000"/>
                </a:solidFill>
                <a:latin typeface="Times New Roman"/>
                <a:ea typeface="Times New Roman"/>
                <a:cs typeface="Times New Roman"/>
              </a:defRPr>
            </a:lvl2pPr>
            <a:lvl3pPr algn="ctr">
              <a:defRPr sz="1725">
                <a:solidFill>
                  <a:srgbClr val="000000"/>
                </a:solidFill>
                <a:latin typeface="Times New Roman"/>
                <a:ea typeface="Times New Roman"/>
                <a:cs typeface="Times New Roman"/>
              </a:defRPr>
            </a:lvl3pPr>
            <a:lvl4pPr algn="ctr">
              <a:defRPr sz="1725">
                <a:solidFill>
                  <a:srgbClr val="000000"/>
                </a:solidFill>
                <a:latin typeface="Times New Roman"/>
                <a:ea typeface="Times New Roman"/>
                <a:cs typeface="Times New Roman"/>
              </a:defRPr>
            </a:lvl4pPr>
            <a:lvl5pPr algn="ctr">
              <a:defRPr sz="1725">
                <a:solidFill>
                  <a:srgbClr val="000000"/>
                </a:solidFill>
                <a:latin typeface="Times New Roman"/>
                <a:ea typeface="Times New Roman"/>
                <a:cs typeface="Times New Roman"/>
              </a:defRPr>
            </a:lvl5pPr>
            <a:lvl6pPr algn="ctr">
              <a:defRPr sz="1725">
                <a:solidFill>
                  <a:srgbClr val="000000"/>
                </a:solidFill>
                <a:latin typeface="Times New Roman"/>
                <a:ea typeface="Times New Roman"/>
                <a:cs typeface="Times New Roman"/>
              </a:defRPr>
            </a:lvl6pPr>
            <a:lvl7pPr algn="ctr">
              <a:defRPr sz="1725">
                <a:solidFill>
                  <a:srgbClr val="000000"/>
                </a:solidFill>
                <a:latin typeface="Times New Roman"/>
                <a:ea typeface="Times New Roman"/>
                <a:cs typeface="Times New Roman"/>
              </a:defRPr>
            </a:lvl7pPr>
            <a:lvl8pPr algn="ctr">
              <a:defRPr sz="1725">
                <a:solidFill>
                  <a:srgbClr val="000000"/>
                </a:solidFill>
                <a:latin typeface="Times New Roman"/>
                <a:ea typeface="Times New Roman"/>
                <a:cs typeface="Times New Roman"/>
              </a:defRPr>
            </a:lvl8pPr>
            <a:lvl9pPr algn="ctr">
              <a:defRPr sz="1725">
                <a:solidFill>
                  <a:srgbClr val="000000"/>
                </a:solidFill>
                <a:latin typeface="Times New Roman"/>
                <a:ea typeface="Times New Roman"/>
                <a:cs typeface="Times New Roman"/>
              </a:defRPr>
            </a:lvl9pPr>
          </a:lstStyle>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Direct simulator result</a:t>
            </a:r>
          </a:p>
          <a:p xmlns:a="http://schemas.openxmlformats.org/drawingml/2006/main">
            <a:pPr algn="ctr">
              <a:defRPr sz="1725">
                <a:solidFill>
                  <a:srgbClr val="000000"/>
                </a:solidFill>
                <a:latin typeface="Times New Roman"/>
                <a:ea typeface="Times New Roman"/>
                <a:cs typeface="Times New Roman"/>
              </a:defRPr>
            </a:pPr>
            <a:r>
              <a:rPr sz="1725">
                <a:solidFill>
                  <a:srgbClr val="000000"/>
                </a:solidFill>
                <a:latin typeface="Times New Roman"/>
                <a:ea typeface="Times New Roman"/>
                <a:cs typeface="Times New Roman"/>
              </a:rPr>
              <a:t>No saved-model update</a:t>
            </a:r>
          </a:p>
        </p:txBody>
      </p:sp>
      <p:sp>
        <p:nvSpPr>
          <p:cNvPr id="17" name="">
            <a:extLst xmlns:a="http://schemas.openxmlformats.org/drawingml/2006/main">
              <a:ext uri="{FF2B5EF4-FFF2-40B4-BE49-F238E27FC236}">
                <a16:creationId xmlns:a16="http://schemas.microsoft.com/office/drawing/2014/main" id="{3B8AB045-0298-4970-B2E3-78C1D024E9E9}"/>
              </a:ext>
            </a:extLst>
          </p:cNvPr>
          <p:cNvSpPr>
            <a:spLocks xmlns:a="http://schemas.openxmlformats.org/drawingml/2006/main" noGrp="1"/>
          </p:cNvSpPr>
          <p:nvPr/>
        </p:nvSpPr>
        <p:spPr>
          <a:xfrm xmlns:a="http://schemas.openxmlformats.org/drawingml/2006/main">
            <a:off x="400050" y="5810250"/>
            <a:ext cx="11372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000000"/>
                </a:solidFill>
                <a:latin typeface="Times New Roman"/>
                <a:ea typeface="Times New Roman"/>
                <a:cs typeface="Times New Roman"/>
              </a:defRPr>
            </a:defPPr>
            <a:lvl1pPr algn="l">
              <a:defRPr sz="1875" b="0">
                <a:solidFill>
                  <a:srgbClr val="000000"/>
                </a:solidFill>
                <a:latin typeface="Times New Roman"/>
                <a:ea typeface="Times New Roman"/>
                <a:cs typeface="Times New Roman"/>
              </a:defRPr>
            </a:lvl1pPr>
            <a:lvl2pPr algn="l">
              <a:defRPr sz="1875" b="0">
                <a:solidFill>
                  <a:srgbClr val="000000"/>
                </a:solidFill>
                <a:latin typeface="Times New Roman"/>
                <a:ea typeface="Times New Roman"/>
                <a:cs typeface="Times New Roman"/>
              </a:defRPr>
            </a:lvl2pPr>
            <a:lvl3pPr algn="l">
              <a:defRPr sz="1875" b="0">
                <a:solidFill>
                  <a:srgbClr val="000000"/>
                </a:solidFill>
                <a:latin typeface="Times New Roman"/>
                <a:ea typeface="Times New Roman"/>
                <a:cs typeface="Times New Roman"/>
              </a:defRPr>
            </a:lvl3pPr>
            <a:lvl4pPr algn="l">
              <a:defRPr sz="1875" b="0">
                <a:solidFill>
                  <a:srgbClr val="000000"/>
                </a:solidFill>
                <a:latin typeface="Times New Roman"/>
                <a:ea typeface="Times New Roman"/>
                <a:cs typeface="Times New Roman"/>
              </a:defRPr>
            </a:lvl4pPr>
            <a:lvl5pPr algn="l">
              <a:defRPr sz="1875" b="0">
                <a:solidFill>
                  <a:srgbClr val="000000"/>
                </a:solidFill>
                <a:latin typeface="Times New Roman"/>
                <a:ea typeface="Times New Roman"/>
                <a:cs typeface="Times New Roman"/>
              </a:defRPr>
            </a:lvl5pPr>
            <a:lvl6pPr algn="l">
              <a:defRPr sz="1875" b="0">
                <a:solidFill>
                  <a:srgbClr val="000000"/>
                </a:solidFill>
                <a:latin typeface="Times New Roman"/>
                <a:ea typeface="Times New Roman"/>
                <a:cs typeface="Times New Roman"/>
              </a:defRPr>
            </a:lvl6pPr>
            <a:lvl7pPr algn="l">
              <a:defRPr sz="1875" b="0">
                <a:solidFill>
                  <a:srgbClr val="000000"/>
                </a:solidFill>
                <a:latin typeface="Times New Roman"/>
                <a:ea typeface="Times New Roman"/>
                <a:cs typeface="Times New Roman"/>
              </a:defRPr>
            </a:lvl7pPr>
            <a:lvl8pPr algn="l">
              <a:defRPr sz="1875" b="0">
                <a:solidFill>
                  <a:srgbClr val="000000"/>
                </a:solidFill>
                <a:latin typeface="Times New Roman"/>
                <a:ea typeface="Times New Roman"/>
                <a:cs typeface="Times New Roman"/>
              </a:defRPr>
            </a:lvl8pPr>
            <a:lvl9pPr algn="l">
              <a:defRPr sz="1875" b="0">
                <a:solidFill>
                  <a:srgbClr val="000000"/>
                </a:solidFill>
                <a:latin typeface="Times New Roman"/>
                <a:ea typeface="Times New Roman"/>
                <a:cs typeface="Times New Roman"/>
              </a:defRPr>
            </a:lvl9pPr>
          </a:lstStyle>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Nine dashboard tabs. 21 recorded software tests passed. Independent experimental validation remains outstanding.</a:t>
            </a:r>
          </a:p>
        </p:txBody>
      </p:sp>
    </p:spTree>
    <p:extLst>
      <p:ext uri="{BB962C8B-B14F-4D97-AF65-F5344CB8AC3E}">
        <p14:creationId xmlns:p14="http://schemas.microsoft.com/office/powerpoint/2010/main" val="144106105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Demonstration cases and expected outputs</a:t>
            </a:r>
            <a:endParaRPr/>
          </a:p>
        </p:txBody>
      </p:sp>
      <p:graphicFrame>
        <p:nvGraphicFramePr>
          <p:cNvPr id="3" name="">
            <a:extLst xmlns:a="http://schemas.openxmlformats.org/drawingml/2006/main">
              <a:ext uri="{FF2B5EF4-FFF2-40B4-BE49-F238E27FC236}">
                <a16:creationId xmlns:a16="http://schemas.microsoft.com/office/drawing/2014/main" id="{BA01849B-E29F-48AA-9419-D33F0C9C5BF0}"/>
              </a:ext>
            </a:extLst>
          </p:cNvPr>
          <p:cNvGraphicFramePr/>
          <p:nvPr/>
        </p:nvGraphicFramePr>
        <p:xfrm>
          <a:off xmlns:a="http://schemas.openxmlformats.org/drawingml/2006/main" x="400050" y="1381125"/>
          <a:ext xmlns:a="http://schemas.openxmlformats.org/drawingml/2006/main" cx="11372850" cy="2190750"/>
        </p:xfrm>
        <a:graphic xmlns:a="http://schemas.openxmlformats.org/drawingml/2006/main">
          <a:graphicData uri="http://schemas.openxmlformats.org/drawingml/2006/table">
            <a:tbl>
              <a:tblPr firstRow="1" bandRow="0"/>
              <a:tblGrid>
                <a:gridCol w="2571750"/>
                <a:gridCol w="1428750"/>
                <a:gridCol w="1524000"/>
                <a:gridCol w="1619250"/>
                <a:gridCol w="2000250"/>
                <a:gridCol w="2228850"/>
              </a:tblGrid>
              <a:tr h="547688">
                <a:tc>
                  <a:txBody>
                    <a:bodyPr/>
                    <a:lstStyle/>
                    <a:p>
                      <a:pPr algn="l"/>
                      <a:r>
                        <a:rPr sz="1875" b="1">
                          <a:solidFill>
                            <a:srgbClr val="000000"/>
                          </a:solidFill>
                          <a:latin typeface="Times New Roman"/>
                          <a:ea typeface="Times New Roman"/>
                          <a:cs typeface="Times New Roman"/>
                        </a:rPr>
                        <a:t>Case</a:t>
                      </a:r>
                    </a:p>
                  </a:txBody>
                  <a:tcPr marL="91440" marR="91440" marT="45720" marB="45720">
                    <a:lnL w="6668">
                      <a:solidFill>
                        <a:srgbClr val="AAAAAA"/>
                      </a:solidFill>
                      <a:prstDash val="solid"/>
                    </a:lnL>
                    <a:lnR w="6668">
                      <a:solidFill>
                        <a:srgbClr val="AAAAAA"/>
                      </a:solidFill>
                      <a:prstDash val="solid"/>
                    </a:lnR>
                    <a:lnT w="6668">
                      <a:solidFill>
                        <a:srgbClr val="AAAAAA"/>
                      </a:solidFill>
                      <a:prstDash val="solid"/>
                    </a:lnT>
                    <a:lnB w="6668">
                      <a:solidFill>
                        <a:srgbClr val="AAAAAA"/>
                      </a:solidFill>
                      <a:prstDash val="solid"/>
                    </a:lnB>
                    <a:solidFill>
                      <a:srgbClr val="EFF5FA"/>
                    </a:solidFill>
                  </a:tcPr>
                </a:tc>
                <a:tc>
                  <a:txBody>
                    <a:bodyPr/>
                    <a:lstStyle/>
                    <a:p>
                      <a:pPr algn="ctr"/>
                      <a:r>
                        <a:rPr sz="1875" b="1">
                          <a:solidFill>
                            <a:srgbClr val="000000"/>
                          </a:solidFill>
                          <a:latin typeface="Times New Roman"/>
                          <a:ea typeface="Times New Roman"/>
                          <a:cs typeface="Times New Roman"/>
                        </a:rPr>
                        <a:t>Vf %</a:t>
                      </a:r>
                    </a:p>
                  </a:txBody>
                  <a:tcPr marL="91440" marR="91440" marT="45720" marB="45720">
                    <a:lnR w="6668">
                      <a:solidFill>
                        <a:srgbClr val="AAAAAA"/>
                      </a:solidFill>
                      <a:prstDash val="solid"/>
                    </a:lnR>
                    <a:lnT w="6668">
                      <a:solidFill>
                        <a:srgbClr val="AAAAAA"/>
                      </a:solidFill>
                      <a:prstDash val="solid"/>
                    </a:lnT>
                    <a:lnB w="6668">
                      <a:solidFill>
                        <a:srgbClr val="AAAAAA"/>
                      </a:solidFill>
                      <a:prstDash val="solid"/>
                    </a:lnB>
                    <a:solidFill>
                      <a:srgbClr val="EFF5FA"/>
                    </a:solidFill>
                  </a:tcPr>
                </a:tc>
                <a:tc>
                  <a:txBody>
                    <a:bodyPr/>
                    <a:lstStyle/>
                    <a:p>
                      <a:pPr algn="ctr"/>
                      <a:r>
                        <a:rPr sz="1875" b="1">
                          <a:solidFill>
                            <a:srgbClr val="000000"/>
                          </a:solidFill>
                          <a:latin typeface="Times New Roman"/>
                          <a:ea typeface="Times New Roman"/>
                          <a:cs typeface="Times New Roman"/>
                        </a:rPr>
                        <a:t>Voids %</a:t>
                      </a:r>
                    </a:p>
                  </a:txBody>
                  <a:tcPr marL="91440" marR="91440" marT="45720" marB="45720">
                    <a:lnR w="6668">
                      <a:solidFill>
                        <a:srgbClr val="AAAAAA"/>
                      </a:solidFill>
                      <a:prstDash val="solid"/>
                    </a:lnR>
                    <a:lnT w="6668">
                      <a:solidFill>
                        <a:srgbClr val="AAAAAA"/>
                      </a:solidFill>
                      <a:prstDash val="solid"/>
                    </a:lnT>
                    <a:lnB w="6668">
                      <a:solidFill>
                        <a:srgbClr val="AAAAAA"/>
                      </a:solidFill>
                      <a:prstDash val="solid"/>
                    </a:lnB>
                    <a:solidFill>
                      <a:srgbClr val="EFF5FA"/>
                    </a:solidFill>
                  </a:tcPr>
                </a:tc>
                <a:tc>
                  <a:txBody>
                    <a:bodyPr/>
                    <a:lstStyle/>
                    <a:p>
                      <a:pPr algn="ctr"/>
                      <a:r>
                        <a:rPr sz="1875" b="1">
                          <a:solidFill>
                            <a:srgbClr val="000000"/>
                          </a:solidFill>
                          <a:latin typeface="Times New Roman"/>
                          <a:ea typeface="Times New Roman"/>
                          <a:cs typeface="Times New Roman"/>
                        </a:rPr>
                        <a:t>Angle deg</a:t>
                      </a:r>
                    </a:p>
                  </a:txBody>
                  <a:tcPr marL="91440" marR="91440" marT="45720" marB="45720">
                    <a:lnR w="6668">
                      <a:solidFill>
                        <a:srgbClr val="AAAAAA"/>
                      </a:solidFill>
                      <a:prstDash val="solid"/>
                    </a:lnR>
                    <a:lnT w="6668">
                      <a:solidFill>
                        <a:srgbClr val="AAAAAA"/>
                      </a:solidFill>
                      <a:prstDash val="solid"/>
                    </a:lnT>
                    <a:lnB w="6668">
                      <a:solidFill>
                        <a:srgbClr val="AAAAAA"/>
                      </a:solidFill>
                      <a:prstDash val="solid"/>
                    </a:lnB>
                    <a:solidFill>
                      <a:srgbClr val="EFF5FA"/>
                    </a:solidFill>
                  </a:tcPr>
                </a:tc>
                <a:tc>
                  <a:txBody>
                    <a:bodyPr/>
                    <a:lstStyle/>
                    <a:p>
                      <a:pPr algn="ctr"/>
                      <a:r>
                        <a:rPr sz="1875" b="1">
                          <a:solidFill>
                            <a:srgbClr val="000000"/>
                          </a:solidFill>
                          <a:latin typeface="Times New Roman"/>
                          <a:ea typeface="Times New Roman"/>
                          <a:cs typeface="Times New Roman"/>
                        </a:rPr>
                        <a:t>RF MPa</a:t>
                      </a:r>
                    </a:p>
                  </a:txBody>
                  <a:tcPr marL="91440" marR="91440" marT="45720" marB="45720">
                    <a:lnR w="6668">
                      <a:solidFill>
                        <a:srgbClr val="AAAAAA"/>
                      </a:solidFill>
                      <a:prstDash val="solid"/>
                    </a:lnR>
                    <a:lnT w="6668">
                      <a:solidFill>
                        <a:srgbClr val="AAAAAA"/>
                      </a:solidFill>
                      <a:prstDash val="solid"/>
                    </a:lnT>
                    <a:lnB w="6668">
                      <a:solidFill>
                        <a:srgbClr val="AAAAAA"/>
                      </a:solidFill>
                      <a:prstDash val="solid"/>
                    </a:lnB>
                    <a:solidFill>
                      <a:srgbClr val="EFF5FA"/>
                    </a:solidFill>
                  </a:tcPr>
                </a:tc>
                <a:tc>
                  <a:txBody>
                    <a:bodyPr/>
                    <a:lstStyle/>
                    <a:p>
                      <a:pPr algn="ctr"/>
                      <a:r>
                        <a:rPr sz="1875" b="1">
                          <a:solidFill>
                            <a:srgbClr val="000000"/>
                          </a:solidFill>
                          <a:latin typeface="Times New Roman"/>
                          <a:ea typeface="Times New Roman"/>
                          <a:cs typeface="Times New Roman"/>
                        </a:rPr>
                        <a:t>Direct MPa</a:t>
                      </a:r>
                    </a:p>
                  </a:txBody>
                  <a:tcPr marL="91440" marR="91440" marT="45720" marB="45720">
                    <a:lnR w="6668">
                      <a:solidFill>
                        <a:srgbClr val="AAAAAA"/>
                      </a:solidFill>
                      <a:prstDash val="solid"/>
                    </a:lnR>
                    <a:lnT w="6668">
                      <a:solidFill>
                        <a:srgbClr val="AAAAAA"/>
                      </a:solidFill>
                      <a:prstDash val="solid"/>
                    </a:lnT>
                    <a:lnB w="6668">
                      <a:solidFill>
                        <a:srgbClr val="AAAAAA"/>
                      </a:solidFill>
                      <a:prstDash val="solid"/>
                    </a:lnB>
                    <a:solidFill>
                      <a:srgbClr val="EFF5FA"/>
                    </a:solidFill>
                  </a:tcPr>
                </a:tc>
              </a:tr>
              <a:tr h="547688">
                <a:tc>
                  <a:txBody>
                    <a:bodyPr/>
                    <a:lstStyle/>
                    <a:p>
                      <a:pPr algn="l"/>
                      <a:r>
                        <a:rPr sz="1875" b="0">
                          <a:solidFill>
                            <a:srgbClr val="000000"/>
                          </a:solidFill>
                          <a:latin typeface="Times New Roman"/>
                          <a:ea typeface="Times New Roman"/>
                          <a:cs typeface="Times New Roman"/>
                        </a:rPr>
                        <a:t>Baseline</a:t>
                      </a:r>
                    </a:p>
                  </a:txBody>
                  <a:tcPr marL="91440" marR="91440" marT="45720" marB="45720">
                    <a:lnL w="6668">
                      <a:solidFill>
                        <a:srgbClr val="AAAAAA"/>
                      </a:solidFill>
                      <a:prstDash val="solid"/>
                    </a:lnL>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45</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2</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5</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481.20</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498.70</a:t>
                      </a:r>
                    </a:p>
                  </a:txBody>
                  <a:tcPr marL="91440" marR="91440" marT="45720" marB="45720">
                    <a:lnR w="6668">
                      <a:solidFill>
                        <a:srgbClr val="AAAAAA"/>
                      </a:solidFill>
                      <a:prstDash val="solid"/>
                    </a:lnR>
                    <a:lnB w="6668">
                      <a:solidFill>
                        <a:srgbClr val="AAAAAA"/>
                      </a:solidFill>
                      <a:prstDash val="solid"/>
                    </a:lnB>
                    <a:solidFill>
                      <a:srgbClr val="FFFFFF"/>
                    </a:solidFill>
                  </a:tcPr>
                </a:tc>
              </a:tr>
              <a:tr h="547688">
                <a:tc>
                  <a:txBody>
                    <a:bodyPr/>
                    <a:lstStyle/>
                    <a:p>
                      <a:pPr algn="l"/>
                      <a:r>
                        <a:rPr sz="1875" b="0">
                          <a:solidFill>
                            <a:srgbClr val="000000"/>
                          </a:solidFill>
                          <a:latin typeface="Times New Roman"/>
                          <a:ea typeface="Times New Roman"/>
                          <a:cs typeface="Times New Roman"/>
                        </a:rPr>
                        <a:t>More voids</a:t>
                      </a:r>
                    </a:p>
                  </a:txBody>
                  <a:tcPr marL="91440" marR="91440" marT="45720" marB="45720">
                    <a:lnL w="6668">
                      <a:solidFill>
                        <a:srgbClr val="AAAAAA"/>
                      </a:solidFill>
                      <a:prstDash val="solid"/>
                    </a:lnL>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45</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6</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5</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457.37</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443.23</a:t>
                      </a:r>
                    </a:p>
                  </a:txBody>
                  <a:tcPr marL="91440" marR="91440" marT="45720" marB="45720">
                    <a:lnR w="6668">
                      <a:solidFill>
                        <a:srgbClr val="AAAAAA"/>
                      </a:solidFill>
                      <a:prstDash val="solid"/>
                    </a:lnR>
                    <a:lnB w="6668">
                      <a:solidFill>
                        <a:srgbClr val="AAAAAA"/>
                      </a:solidFill>
                      <a:prstDash val="solid"/>
                    </a:lnB>
                    <a:solidFill>
                      <a:srgbClr val="FFFFFF"/>
                    </a:solidFill>
                  </a:tcPr>
                </a:tc>
              </a:tr>
              <a:tr h="547688">
                <a:tc>
                  <a:txBody>
                    <a:bodyPr/>
                    <a:lstStyle/>
                    <a:p>
                      <a:pPr algn="l"/>
                      <a:r>
                        <a:rPr sz="1875" b="0">
                          <a:solidFill>
                            <a:srgbClr val="000000"/>
                          </a:solidFill>
                          <a:latin typeface="Times New Roman"/>
                          <a:ea typeface="Times New Roman"/>
                          <a:cs typeface="Times New Roman"/>
                        </a:rPr>
                        <a:t>Larger angle</a:t>
                      </a:r>
                    </a:p>
                  </a:txBody>
                  <a:tcPr marL="91440" marR="91440" marT="45720" marB="45720">
                    <a:lnL w="6668">
                      <a:solidFill>
                        <a:srgbClr val="AAAAAA"/>
                      </a:solidFill>
                      <a:prstDash val="solid"/>
                    </a:lnL>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45</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2</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20</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148.68</a:t>
                      </a:r>
                    </a:p>
                  </a:txBody>
                  <a:tcPr marL="91440" marR="91440" marT="45720" marB="45720">
                    <a:lnR w="6668">
                      <a:solidFill>
                        <a:srgbClr val="AAAAAA"/>
                      </a:solidFill>
                      <a:prstDash val="solid"/>
                    </a:lnR>
                    <a:lnB w="6668">
                      <a:solidFill>
                        <a:srgbClr val="AAAAAA"/>
                      </a:solidFill>
                      <a:prstDash val="solid"/>
                    </a:lnB>
                    <a:solidFill>
                      <a:srgbClr val="FFFFFF"/>
                    </a:solidFill>
                  </a:tcPr>
                </a:tc>
                <a:tc>
                  <a:txBody>
                    <a:bodyPr/>
                    <a:lstStyle/>
                    <a:p>
                      <a:pPr algn="ctr"/>
                      <a:r>
                        <a:rPr sz="1875" b="0">
                          <a:solidFill>
                            <a:srgbClr val="000000"/>
                          </a:solidFill>
                          <a:latin typeface="Times New Roman"/>
                          <a:ea typeface="Times New Roman"/>
                          <a:cs typeface="Times New Roman"/>
                        </a:rPr>
                        <a:t>149.47</a:t>
                      </a:r>
                    </a:p>
                  </a:txBody>
                  <a:tcPr marL="91440" marR="91440" marT="45720" marB="45720">
                    <a:lnR w="6668">
                      <a:solidFill>
                        <a:srgbClr val="AAAAAA"/>
                      </a:solidFill>
                      <a:prstDash val="solid"/>
                    </a:lnR>
                    <a:lnB w="6668">
                      <a:solidFill>
                        <a:srgbClr val="AAAAA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0C99AA3-FC58-40E9-96A8-17DFA2C9AEB7}"/>
              </a:ext>
            </a:extLst>
          </p:cNvPr>
          <p:cNvSpPr>
            <a:spLocks xmlns:a="http://schemas.openxmlformats.org/drawingml/2006/main" noGrp="1"/>
          </p:cNvSpPr>
          <p:nvPr/>
        </p:nvSpPr>
        <p:spPr>
          <a:xfrm xmlns:a="http://schemas.openxmlformats.org/drawingml/2006/main">
            <a:off x="400050" y="3952875"/>
            <a:ext cx="11372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Show the SIMULATED label, run the baseline, then change one feature at a time.</a:t>
            </a:r>
          </a:p>
        </p:txBody>
      </p:sp>
      <p:sp>
        <p:nvSpPr>
          <p:cNvPr id="5" name="">
            <a:extLst xmlns:a="http://schemas.openxmlformats.org/drawingml/2006/main">
              <a:ext uri="{FF2B5EF4-FFF2-40B4-BE49-F238E27FC236}">
                <a16:creationId xmlns:a16="http://schemas.microsoft.com/office/drawing/2014/main" id="{1EBA1ECC-D569-497B-AEAF-6BC2AD32EA55}"/>
              </a:ext>
            </a:extLst>
          </p:cNvPr>
          <p:cNvSpPr>
            <a:spLocks xmlns:a="http://schemas.openxmlformats.org/drawingml/2006/main" noGrp="1"/>
          </p:cNvSpPr>
          <p:nvPr/>
        </p:nvSpPr>
        <p:spPr>
          <a:xfrm xmlns:a="http://schemas.openxmlformats.org/drawingml/2006/main">
            <a:off x="400050" y="4848225"/>
            <a:ext cx="11372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Finally show domain rejection and a six-property direct simulator calculation.</a:t>
            </a:r>
          </a:p>
        </p:txBody>
      </p:sp>
      <p:sp>
        <p:nvSpPr>
          <p:cNvPr id="6" name="">
            <a:extLst xmlns:a="http://schemas.openxmlformats.org/drawingml/2006/main">
              <a:ext uri="{FF2B5EF4-FFF2-40B4-BE49-F238E27FC236}">
                <a16:creationId xmlns:a16="http://schemas.microsoft.com/office/drawing/2014/main" id="{1DB38A32-55FA-42E1-959F-0F46F3F93439}"/>
              </a:ext>
            </a:extLst>
          </p:cNvPr>
          <p:cNvSpPr>
            <a:spLocks xmlns:a="http://schemas.openxmlformats.org/drawingml/2006/main" noGrp="1"/>
          </p:cNvSpPr>
          <p:nvPr/>
        </p:nvSpPr>
        <p:spPr>
          <a:xfrm xmlns:a="http://schemas.openxmlformats.org/drawingml/2006/main">
            <a:off x="400050" y="5743575"/>
            <a:ext cx="11372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RF output is a surrogate-model estimate of the simulator. Direct values also come from assumed equations.</a:t>
            </a:r>
          </a:p>
        </p:txBody>
      </p:sp>
    </p:spTree>
    <p:extLst>
      <p:ext uri="{BB962C8B-B14F-4D97-AF65-F5344CB8AC3E}">
        <p14:creationId xmlns:p14="http://schemas.microsoft.com/office/powerpoint/2010/main" val="144106105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Literature comparison and validation plan</a:t>
            </a:r>
            <a:endParaRPr/>
          </a:p>
        </p:txBody>
      </p:sp>
      <p:sp>
        <p:nvSpPr>
          <p:cNvPr id="3" name="">
            <a:extLst xmlns:a="http://schemas.openxmlformats.org/drawingml/2006/main">
              <a:ext uri="{FF2B5EF4-FFF2-40B4-BE49-F238E27FC236}">
                <a16:creationId xmlns:a16="http://schemas.microsoft.com/office/drawing/2014/main" id="{453F64D4-5793-42DD-A7A7-B4FD97A80E4E}"/>
              </a:ext>
            </a:extLst>
          </p:cNvPr>
          <p:cNvSpPr>
            <a:spLocks xmlns:a="http://schemas.openxmlformats.org/drawingml/2006/main" noGrp="1"/>
          </p:cNvSpPr>
          <p:nvPr/>
        </p:nvSpPr>
        <p:spPr>
          <a:xfrm xmlns:a="http://schemas.openxmlformats.org/drawingml/2006/main">
            <a:off x="400050" y="13335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Four supplied PDFs audited. Eight printed mean-strength rows transcribed from Gopalakrishnan (2016) [28].</a:t>
            </a:r>
          </a:p>
        </p:txBody>
      </p:sp>
      <p:sp>
        <p:nvSpPr>
          <p:cNvPr id="4" name="">
            <a:extLst xmlns:a="http://schemas.openxmlformats.org/drawingml/2006/main">
              <a:ext uri="{FF2B5EF4-FFF2-40B4-BE49-F238E27FC236}">
                <a16:creationId xmlns:a16="http://schemas.microsoft.com/office/drawing/2014/main" id="{8328764B-F707-4E41-B7D4-CCABC62CCC06}"/>
              </a:ext>
            </a:extLst>
          </p:cNvPr>
          <p:cNvSpPr>
            <a:spLocks xmlns:a="http://schemas.openxmlformats.org/drawingml/2006/main" noGrp="1"/>
          </p:cNvSpPr>
          <p:nvPr/>
        </p:nvSpPr>
        <p:spPr>
          <a:xfrm xmlns:a="http://schemas.openxmlformats.org/drawingml/2006/main">
            <a:off x="400050" y="234315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All eight remain reviewed = no and lack matched void content. Some also fall outside the supported angle or architecture.</a:t>
            </a:r>
          </a:p>
        </p:txBody>
      </p:sp>
      <p:sp>
        <p:nvSpPr>
          <p:cNvPr id="5" name="">
            <a:extLst xmlns:a="http://schemas.openxmlformats.org/drawingml/2006/main">
              <a:ext uri="{FF2B5EF4-FFF2-40B4-BE49-F238E27FC236}">
                <a16:creationId xmlns:a16="http://schemas.microsoft.com/office/drawing/2014/main" id="{F768721B-C209-4E5E-818A-6F5FC01E180A}"/>
              </a:ext>
            </a:extLst>
          </p:cNvPr>
          <p:cNvSpPr>
            <a:spLocks xmlns:a="http://schemas.openxmlformats.org/drawingml/2006/main" noGrp="1"/>
          </p:cNvSpPr>
          <p:nvPr/>
        </p:nvSpPr>
        <p:spPr>
          <a:xfrm xmlns:a="http://schemas.openxmlformats.org/drawingml/2006/main">
            <a:off x="400050" y="33528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Eligible reviewed comparison rows: n = 0. No experimental-comparison error is reported.</a:t>
            </a:r>
          </a:p>
        </p:txBody>
      </p:sp>
      <p:sp>
        <p:nvSpPr>
          <p:cNvPr id="6" name="">
            <a:extLst xmlns:a="http://schemas.openxmlformats.org/drawingml/2006/main">
              <a:ext uri="{FF2B5EF4-FFF2-40B4-BE49-F238E27FC236}">
                <a16:creationId xmlns:a16="http://schemas.microsoft.com/office/drawing/2014/main" id="{A75B14D4-EE28-41B2-93C5-14E033A41A0D}"/>
              </a:ext>
            </a:extLst>
          </p:cNvPr>
          <p:cNvSpPr>
            <a:spLocks xmlns:a="http://schemas.openxmlformats.org/drawingml/2006/main" noGrp="1"/>
          </p:cNvSpPr>
          <p:nvPr/>
        </p:nvSpPr>
        <p:spPr>
          <a:xfrm xmlns:a="http://schemas.openxmlformats.org/drawingml/2006/main">
            <a:off x="400050" y="436245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Next: obtain complete matched UD E-glass/epoxy inputs, review each extraction and record test conditions.</a:t>
            </a:r>
          </a:p>
        </p:txBody>
      </p:sp>
      <p:sp>
        <p:nvSpPr>
          <p:cNvPr id="7" name="">
            <a:extLst xmlns:a="http://schemas.openxmlformats.org/drawingml/2006/main">
              <a:ext uri="{FF2B5EF4-FFF2-40B4-BE49-F238E27FC236}">
                <a16:creationId xmlns:a16="http://schemas.microsoft.com/office/drawing/2014/main" id="{747F8B06-2389-4EE7-9E08-CF15AB5B4310}"/>
              </a:ext>
            </a:extLst>
          </p:cNvPr>
          <p:cNvSpPr>
            <a:spLocks xmlns:a="http://schemas.openxmlformats.org/drawingml/2006/main" noGrp="1"/>
          </p:cNvSpPr>
          <p:nvPr/>
        </p:nvSpPr>
        <p:spPr>
          <a:xfrm xmlns:a="http://schemas.openxmlformats.org/drawingml/2006/main">
            <a:off x="400050" y="53721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Calibrate on designated data, then evaluate separate independent studies with sample counts and MPa errors.</a:t>
            </a:r>
          </a:p>
        </p:txBody>
      </p:sp>
    </p:spTree>
    <p:extLst>
      <p:ext uri="{BB962C8B-B14F-4D97-AF65-F5344CB8AC3E}">
        <p14:creationId xmlns:p14="http://schemas.microsoft.com/office/powerpoint/2010/main" val="144106105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Conclusion limitations and future enhancement</a:t>
            </a:r>
            <a:endParaRPr/>
          </a:p>
        </p:txBody>
      </p:sp>
      <p:sp>
        <p:nvSpPr>
          <p:cNvPr id="3" name="">
            <a:extLst xmlns:a="http://schemas.openxmlformats.org/drawingml/2006/main">
              <a:ext uri="{FF2B5EF4-FFF2-40B4-BE49-F238E27FC236}">
                <a16:creationId xmlns:a16="http://schemas.microsoft.com/office/drawing/2014/main" id="{8C378BC2-9C4E-40E0-A85D-ADEC7ADAEA00}"/>
              </a:ext>
            </a:extLst>
          </p:cNvPr>
          <p:cNvSpPr>
            <a:spLocks xmlns:a="http://schemas.openxmlformats.org/drawingml/2006/main" noGrp="1"/>
          </p:cNvSpPr>
          <p:nvPr/>
        </p:nvSpPr>
        <p:spPr>
          <a:xfrm xmlns:a="http://schemas.openxmlformats.org/drawingml/2006/main">
            <a:off x="400050" y="13335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Delivered: explicit simulator, 2000 labelled samples, two-model comparison, saved forest and working dashboard.</a:t>
            </a:r>
          </a:p>
        </p:txBody>
      </p:sp>
      <p:sp>
        <p:nvSpPr>
          <p:cNvPr id="4" name="">
            <a:extLst xmlns:a="http://schemas.openxmlformats.org/drawingml/2006/main">
              <a:ext uri="{FF2B5EF4-FFF2-40B4-BE49-F238E27FC236}">
                <a16:creationId xmlns:a16="http://schemas.microsoft.com/office/drawing/2014/main" id="{240FEA7E-F4B4-441F-A901-07A26A84F05F}"/>
              </a:ext>
            </a:extLst>
          </p:cNvPr>
          <p:cNvSpPr>
            <a:spLocks xmlns:a="http://schemas.openxmlformats.org/drawingml/2006/main" noGrp="1"/>
          </p:cNvSpPr>
          <p:nvPr/>
        </p:nvSpPr>
        <p:spPr>
          <a:xfrm xmlns:a="http://schemas.openxmlformats.org/drawingml/2006/main">
            <a:off x="400050" y="234315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Finding: the forest approximates this configured simulator better than the linear baseline under both splits.</a:t>
            </a:r>
          </a:p>
        </p:txBody>
      </p:sp>
      <p:sp>
        <p:nvSpPr>
          <p:cNvPr id="5" name="">
            <a:extLst xmlns:a="http://schemas.openxmlformats.org/drawingml/2006/main">
              <a:ext uri="{FF2B5EF4-FFF2-40B4-BE49-F238E27FC236}">
                <a16:creationId xmlns:a16="http://schemas.microsoft.com/office/drawing/2014/main" id="{EAE74EB4-8717-4CA7-9FCA-71394F4F1E52}"/>
              </a:ext>
            </a:extLst>
          </p:cNvPr>
          <p:cNvSpPr>
            <a:spLocks xmlns:a="http://schemas.openxmlformats.org/drawingml/2006/main" noGrp="1"/>
          </p:cNvSpPr>
          <p:nvPr/>
        </p:nvSpPr>
        <p:spPr>
          <a:xfrm xmlns:a="http://schemas.openxmlformats.org/drawingml/2006/main">
            <a:off x="400050" y="33528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Limits: nominal parameters, one uniform angle, scalar void content, assumed scatter and no independent experimental validation.</a:t>
            </a:r>
          </a:p>
        </p:txBody>
      </p:sp>
      <p:sp>
        <p:nvSpPr>
          <p:cNvPr id="6" name="">
            <a:extLst xmlns:a="http://schemas.openxmlformats.org/drawingml/2006/main">
              <a:ext uri="{FF2B5EF4-FFF2-40B4-BE49-F238E27FC236}">
                <a16:creationId xmlns:a16="http://schemas.microsoft.com/office/drawing/2014/main" id="{BFBCAE13-BA28-41D7-B6A1-2332CBA6A82E}"/>
              </a:ext>
            </a:extLst>
          </p:cNvPr>
          <p:cNvSpPr>
            <a:spLocks xmlns:a="http://schemas.openxmlformats.org/drawingml/2006/main" noGrp="1"/>
          </p:cNvSpPr>
          <p:nvPr/>
        </p:nvSpPr>
        <p:spPr>
          <a:xfrm xmlns:a="http://schemas.openxmlformats.org/drawingml/2006/main">
            <a:off x="400050" y="436245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Future inputs may include cure conditions, moisture, fibre length, layup and void morphology after obtaining supported relationships or matched data.</a:t>
            </a:r>
          </a:p>
        </p:txBody>
      </p:sp>
      <p:sp>
        <p:nvSpPr>
          <p:cNvPr id="7" name="">
            <a:extLst xmlns:a="http://schemas.openxmlformats.org/drawingml/2006/main">
              <a:ext uri="{FF2B5EF4-FFF2-40B4-BE49-F238E27FC236}">
                <a16:creationId xmlns:a16="http://schemas.microsoft.com/office/drawing/2014/main" id="{7A88FF46-4084-41EE-AC91-9F6C997133DF}"/>
              </a:ext>
            </a:extLst>
          </p:cNvPr>
          <p:cNvSpPr>
            <a:spLocks xmlns:a="http://schemas.openxmlformats.org/drawingml/2006/main" noGrp="1"/>
          </p:cNvSpPr>
          <p:nvPr/>
        </p:nvSpPr>
        <p:spPr>
          <a:xfrm xmlns:a="http://schemas.openxmlformats.org/drawingml/2006/main">
            <a:off x="400050" y="53721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Adding interface fields alone cannot make the current three-feature forest use new variables.</a:t>
            </a:r>
          </a:p>
        </p:txBody>
      </p:sp>
    </p:spTree>
    <p:extLst>
      <p:ext uri="{BB962C8B-B14F-4D97-AF65-F5344CB8AC3E}">
        <p14:creationId xmlns:p14="http://schemas.microsoft.com/office/powerpoint/2010/main" val="144106105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Publication and work in progress</a:t>
            </a:r>
            <a:endParaRPr/>
          </a:p>
        </p:txBody>
      </p:sp>
      <p:sp>
        <p:nvSpPr>
          <p:cNvPr id="3" name="">
            <a:extLst xmlns:a="http://schemas.openxmlformats.org/drawingml/2006/main">
              <a:ext uri="{FF2B5EF4-FFF2-40B4-BE49-F238E27FC236}">
                <a16:creationId xmlns:a16="http://schemas.microsoft.com/office/drawing/2014/main" id="{B1399A3B-ED9A-47F4-A7A9-BD2B5856CD35}"/>
              </a:ext>
            </a:extLst>
          </p:cNvPr>
          <p:cNvSpPr>
            <a:spLocks xmlns:a="http://schemas.openxmlformats.org/drawingml/2006/main" noGrp="1"/>
          </p:cNvSpPr>
          <p:nvPr/>
        </p:nvSpPr>
        <p:spPr>
          <a:xfrm xmlns:a="http://schemas.openxmlformats.org/drawingml/2006/main">
            <a:off x="400050" y="13335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Completed: simulation workflow, trained model, evaluation, dashboard, documentation and software checks.</a:t>
            </a:r>
          </a:p>
        </p:txBody>
      </p:sp>
      <p:sp>
        <p:nvSpPr>
          <p:cNvPr id="4" name="">
            <a:extLst xmlns:a="http://schemas.openxmlformats.org/drawingml/2006/main">
              <a:ext uri="{FF2B5EF4-FFF2-40B4-BE49-F238E27FC236}">
                <a16:creationId xmlns:a16="http://schemas.microsoft.com/office/drawing/2014/main" id="{C5F0F468-2FD2-4058-8EB9-2F638DDA4D75}"/>
              </a:ext>
            </a:extLst>
          </p:cNvPr>
          <p:cNvSpPr>
            <a:spLocks xmlns:a="http://schemas.openxmlformats.org/drawingml/2006/main" noGrp="1"/>
          </p:cNvSpPr>
          <p:nvPr/>
        </p:nvSpPr>
        <p:spPr>
          <a:xfrm xmlns:a="http://schemas.openxmlformats.org/drawingml/2006/main">
            <a:off x="400050" y="234315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Available for review: source code, parameter file, model metadata, report and separate speaking guide.</a:t>
            </a:r>
          </a:p>
        </p:txBody>
      </p:sp>
      <p:sp>
        <p:nvSpPr>
          <p:cNvPr id="5" name="">
            <a:extLst xmlns:a="http://schemas.openxmlformats.org/drawingml/2006/main">
              <a:ext uri="{FF2B5EF4-FFF2-40B4-BE49-F238E27FC236}">
                <a16:creationId xmlns:a16="http://schemas.microsoft.com/office/drawing/2014/main" id="{10F88F60-8FF3-4A50-856A-9CFE51228296}"/>
              </a:ext>
            </a:extLst>
          </p:cNvPr>
          <p:cNvSpPr>
            <a:spLocks xmlns:a="http://schemas.openxmlformats.org/drawingml/2006/main" noGrp="1"/>
          </p:cNvSpPr>
          <p:nvPr/>
        </p:nvSpPr>
        <p:spPr>
          <a:xfrm xmlns:a="http://schemas.openxmlformats.org/drawingml/2006/main">
            <a:off x="400050" y="33528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In progress: human review of literature extracts and collection of complete compatible measurement rows.</a:t>
            </a:r>
          </a:p>
        </p:txBody>
      </p:sp>
      <p:sp>
        <p:nvSpPr>
          <p:cNvPr id="6" name="">
            <a:extLst xmlns:a="http://schemas.openxmlformats.org/drawingml/2006/main">
              <a:ext uri="{FF2B5EF4-FFF2-40B4-BE49-F238E27FC236}">
                <a16:creationId xmlns:a16="http://schemas.microsoft.com/office/drawing/2014/main" id="{E0AA5FA5-A130-45F2-B211-84B2B31F2EAC}"/>
              </a:ext>
            </a:extLst>
          </p:cNvPr>
          <p:cNvSpPr>
            <a:spLocks xmlns:a="http://schemas.openxmlformats.org/drawingml/2006/main" noGrp="1"/>
          </p:cNvSpPr>
          <p:nvPr/>
        </p:nvSpPr>
        <p:spPr>
          <a:xfrm xmlns:a="http://schemas.openxmlformats.org/drawingml/2006/main">
            <a:off x="400050" y="436245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Next research stage: calibration on separate evidence and evaluation on independent studies.</a:t>
            </a:r>
          </a:p>
        </p:txBody>
      </p:sp>
      <p:sp>
        <p:nvSpPr>
          <p:cNvPr id="7" name="">
            <a:extLst xmlns:a="http://schemas.openxmlformats.org/drawingml/2006/main">
              <a:ext uri="{FF2B5EF4-FFF2-40B4-BE49-F238E27FC236}">
                <a16:creationId xmlns:a16="http://schemas.microsoft.com/office/drawing/2014/main" id="{1CB50E32-0B01-4979-808F-42A811613B60}"/>
              </a:ext>
            </a:extLst>
          </p:cNvPr>
          <p:cNvSpPr>
            <a:spLocks xmlns:a="http://schemas.openxmlformats.org/drawingml/2006/main" noGrp="1"/>
          </p:cNvSpPr>
          <p:nvPr/>
        </p:nvSpPr>
        <p:spPr>
          <a:xfrm xmlns:a="http://schemas.openxmlformats.org/drawingml/2006/main">
            <a:off x="400050" y="5372100"/>
            <a:ext cx="113728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000000"/>
                </a:solidFill>
                <a:latin typeface="Times New Roman"/>
                <a:ea typeface="Times New Roman"/>
                <a:cs typeface="Times New Roman"/>
              </a:defRPr>
            </a:defPPr>
            <a:lvl1pPr algn="l">
              <a:defRPr sz="1950" b="0">
                <a:solidFill>
                  <a:srgbClr val="000000"/>
                </a:solidFill>
                <a:latin typeface="Times New Roman"/>
                <a:ea typeface="Times New Roman"/>
                <a:cs typeface="Times New Roman"/>
              </a:defRPr>
            </a:lvl1pPr>
            <a:lvl2pPr algn="l">
              <a:defRPr sz="1950" b="0">
                <a:solidFill>
                  <a:srgbClr val="000000"/>
                </a:solidFill>
                <a:latin typeface="Times New Roman"/>
                <a:ea typeface="Times New Roman"/>
                <a:cs typeface="Times New Roman"/>
              </a:defRPr>
            </a:lvl2pPr>
            <a:lvl3pPr algn="l">
              <a:defRPr sz="1950" b="0">
                <a:solidFill>
                  <a:srgbClr val="000000"/>
                </a:solidFill>
                <a:latin typeface="Times New Roman"/>
                <a:ea typeface="Times New Roman"/>
                <a:cs typeface="Times New Roman"/>
              </a:defRPr>
            </a:lvl3pPr>
            <a:lvl4pPr algn="l">
              <a:defRPr sz="1950" b="0">
                <a:solidFill>
                  <a:srgbClr val="000000"/>
                </a:solidFill>
                <a:latin typeface="Times New Roman"/>
                <a:ea typeface="Times New Roman"/>
                <a:cs typeface="Times New Roman"/>
              </a:defRPr>
            </a:lvl4pPr>
            <a:lvl5pPr algn="l">
              <a:defRPr sz="1950" b="0">
                <a:solidFill>
                  <a:srgbClr val="000000"/>
                </a:solidFill>
                <a:latin typeface="Times New Roman"/>
                <a:ea typeface="Times New Roman"/>
                <a:cs typeface="Times New Roman"/>
              </a:defRPr>
            </a:lvl5pPr>
            <a:lvl6pPr algn="l">
              <a:defRPr sz="1950" b="0">
                <a:solidFill>
                  <a:srgbClr val="000000"/>
                </a:solidFill>
                <a:latin typeface="Times New Roman"/>
                <a:ea typeface="Times New Roman"/>
                <a:cs typeface="Times New Roman"/>
              </a:defRPr>
            </a:lvl6pPr>
            <a:lvl7pPr algn="l">
              <a:defRPr sz="1950" b="0">
                <a:solidFill>
                  <a:srgbClr val="000000"/>
                </a:solidFill>
                <a:latin typeface="Times New Roman"/>
                <a:ea typeface="Times New Roman"/>
                <a:cs typeface="Times New Roman"/>
              </a:defRPr>
            </a:lvl7pPr>
            <a:lvl8pPr algn="l">
              <a:defRPr sz="1950" b="0">
                <a:solidFill>
                  <a:srgbClr val="000000"/>
                </a:solidFill>
                <a:latin typeface="Times New Roman"/>
                <a:ea typeface="Times New Roman"/>
                <a:cs typeface="Times New Roman"/>
              </a:defRPr>
            </a:lvl8pPr>
            <a:lvl9pPr algn="l">
              <a:defRPr sz="1950" b="0">
                <a:solidFill>
                  <a:srgbClr val="000000"/>
                </a:solidFill>
                <a:latin typeface="Times New Roman"/>
                <a:ea typeface="Times New Roman"/>
                <a:cs typeface="Times New Roman"/>
              </a:defRPr>
            </a:lvl9pPr>
          </a:lstStyle>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No research paper has been submitted or published as an outcome of this project.</a:t>
            </a:r>
          </a:p>
        </p:txBody>
      </p:sp>
    </p:spTree>
    <p:extLst>
      <p:ext uri="{BB962C8B-B14F-4D97-AF65-F5344CB8AC3E}">
        <p14:creationId xmlns:p14="http://schemas.microsoft.com/office/powerpoint/2010/main" val="144106105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Selected references</a:t>
            </a:r>
            <a:endParaRPr/>
          </a:p>
        </p:txBody>
      </p:sp>
      <p:sp>
        <p:nvSpPr>
          <p:cNvPr id="3" name="">
            <a:extLst xmlns:a="http://schemas.openxmlformats.org/drawingml/2006/main">
              <a:ext uri="{FF2B5EF4-FFF2-40B4-BE49-F238E27FC236}">
                <a16:creationId xmlns:a16="http://schemas.microsoft.com/office/drawing/2014/main" id="{7C071F96-664D-4BA5-82E4-A921C2705E74}"/>
              </a:ext>
            </a:extLst>
          </p:cNvPr>
          <p:cNvSpPr>
            <a:spLocks xmlns:a="http://schemas.openxmlformats.org/drawingml/2006/main" noGrp="1"/>
          </p:cNvSpPr>
          <p:nvPr/>
        </p:nvSpPr>
        <p:spPr>
          <a:xfrm xmlns:a="http://schemas.openxmlformats.org/drawingml/2006/main">
            <a:off x="400050" y="1333500"/>
            <a:ext cx="11372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63" b="0">
                <a:solidFill>
                  <a:srgbClr val="000000"/>
                </a:solidFill>
                <a:latin typeface="Times New Roman"/>
                <a:ea typeface="Times New Roman"/>
                <a:cs typeface="Times New Roman"/>
              </a:defRPr>
            </a:defPPr>
            <a:lvl1pPr algn="l">
              <a:defRPr sz="1463" b="0">
                <a:solidFill>
                  <a:srgbClr val="000000"/>
                </a:solidFill>
                <a:latin typeface="Times New Roman"/>
                <a:ea typeface="Times New Roman"/>
                <a:cs typeface="Times New Roman"/>
              </a:defRPr>
            </a:lvl1pPr>
            <a:lvl2pPr algn="l">
              <a:defRPr sz="1463" b="0">
                <a:solidFill>
                  <a:srgbClr val="000000"/>
                </a:solidFill>
                <a:latin typeface="Times New Roman"/>
                <a:ea typeface="Times New Roman"/>
                <a:cs typeface="Times New Roman"/>
              </a:defRPr>
            </a:lvl2pPr>
            <a:lvl3pPr algn="l">
              <a:defRPr sz="1463" b="0">
                <a:solidFill>
                  <a:srgbClr val="000000"/>
                </a:solidFill>
                <a:latin typeface="Times New Roman"/>
                <a:ea typeface="Times New Roman"/>
                <a:cs typeface="Times New Roman"/>
              </a:defRPr>
            </a:lvl3pPr>
            <a:lvl4pPr algn="l">
              <a:defRPr sz="1463" b="0">
                <a:solidFill>
                  <a:srgbClr val="000000"/>
                </a:solidFill>
                <a:latin typeface="Times New Roman"/>
                <a:ea typeface="Times New Roman"/>
                <a:cs typeface="Times New Roman"/>
              </a:defRPr>
            </a:lvl4pPr>
            <a:lvl5pPr algn="l">
              <a:defRPr sz="1463" b="0">
                <a:solidFill>
                  <a:srgbClr val="000000"/>
                </a:solidFill>
                <a:latin typeface="Times New Roman"/>
                <a:ea typeface="Times New Roman"/>
                <a:cs typeface="Times New Roman"/>
              </a:defRPr>
            </a:lvl5pPr>
            <a:lvl6pPr algn="l">
              <a:defRPr sz="1463" b="0">
                <a:solidFill>
                  <a:srgbClr val="000000"/>
                </a:solidFill>
                <a:latin typeface="Times New Roman"/>
                <a:ea typeface="Times New Roman"/>
                <a:cs typeface="Times New Roman"/>
              </a:defRPr>
            </a:lvl6pPr>
            <a:lvl7pPr algn="l">
              <a:defRPr sz="1463" b="0">
                <a:solidFill>
                  <a:srgbClr val="000000"/>
                </a:solidFill>
                <a:latin typeface="Times New Roman"/>
                <a:ea typeface="Times New Roman"/>
                <a:cs typeface="Times New Roman"/>
              </a:defRPr>
            </a:lvl7pPr>
            <a:lvl8pPr algn="l">
              <a:defRPr sz="1463" b="0">
                <a:solidFill>
                  <a:srgbClr val="000000"/>
                </a:solidFill>
                <a:latin typeface="Times New Roman"/>
                <a:ea typeface="Times New Roman"/>
                <a:cs typeface="Times New Roman"/>
              </a:defRPr>
            </a:lvl8pPr>
            <a:lvl9pPr algn="l">
              <a:defRPr sz="1463" b="0">
                <a:solidFill>
                  <a:srgbClr val="000000"/>
                </a:solidFill>
                <a:latin typeface="Times New Roman"/>
                <a:ea typeface="Times New Roman"/>
                <a:cs typeface="Times New Roman"/>
              </a:defRPr>
            </a:lvl9pPr>
          </a:lstStyle>
          <a:p xmlns:a="http://schemas.openxmlformats.org/drawingml/2006/main">
            <a:pPr algn="l">
              <a:defRPr sz="1463" b="0">
                <a:solidFill>
                  <a:srgbClr val="000000"/>
                </a:solidFill>
                <a:latin typeface="Times New Roman"/>
                <a:ea typeface="Times New Roman"/>
                <a:cs typeface="Times New Roman"/>
              </a:defRPr>
            </a:pPr>
            <a:r>
              <a:rPr sz="1463" b="0">
                <a:solidFill>
                  <a:srgbClr val="000000"/>
                </a:solidFill>
                <a:latin typeface="Times New Roman"/>
                <a:ea typeface="Times New Roman"/>
                <a:cs typeface="Times New Roman"/>
              </a:rPr>
              <a:t>[1] S. Turaka, R. Chintalapudi, N. Kannaiyan Geetha, B. Pappula, S. Makgato, “Experimental and numerical analysis of the Microstructure and mechanical properties of unidirectional glass fiber reinforced epoxy composites”, Composite Structures, vol. 331, Art. no. 117887, 2024, doi: 10.1016/j.compstruct.2024.117887.</a:t>
            </a:r>
          </a:p>
        </p:txBody>
      </p:sp>
      <p:sp>
        <p:nvSpPr>
          <p:cNvPr id="4" name="">
            <a:extLst xmlns:a="http://schemas.openxmlformats.org/drawingml/2006/main">
              <a:ext uri="{FF2B5EF4-FFF2-40B4-BE49-F238E27FC236}">
                <a16:creationId xmlns:a16="http://schemas.microsoft.com/office/drawing/2014/main" id="{9E758390-6B16-4834-8757-700C487E3D18}"/>
              </a:ext>
            </a:extLst>
          </p:cNvPr>
          <p:cNvSpPr>
            <a:spLocks xmlns:a="http://schemas.openxmlformats.org/drawingml/2006/main" noGrp="1"/>
          </p:cNvSpPr>
          <p:nvPr/>
        </p:nvSpPr>
        <p:spPr>
          <a:xfrm xmlns:a="http://schemas.openxmlformats.org/drawingml/2006/main">
            <a:off x="400050" y="2286000"/>
            <a:ext cx="11372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63" b="0">
                <a:solidFill>
                  <a:srgbClr val="000000"/>
                </a:solidFill>
                <a:latin typeface="Times New Roman"/>
                <a:ea typeface="Times New Roman"/>
                <a:cs typeface="Times New Roman"/>
              </a:defRPr>
            </a:defPPr>
            <a:lvl1pPr algn="l">
              <a:defRPr sz="1463" b="0">
                <a:solidFill>
                  <a:srgbClr val="000000"/>
                </a:solidFill>
                <a:latin typeface="Times New Roman"/>
                <a:ea typeface="Times New Roman"/>
                <a:cs typeface="Times New Roman"/>
              </a:defRPr>
            </a:lvl1pPr>
            <a:lvl2pPr algn="l">
              <a:defRPr sz="1463" b="0">
                <a:solidFill>
                  <a:srgbClr val="000000"/>
                </a:solidFill>
                <a:latin typeface="Times New Roman"/>
                <a:ea typeface="Times New Roman"/>
                <a:cs typeface="Times New Roman"/>
              </a:defRPr>
            </a:lvl2pPr>
            <a:lvl3pPr algn="l">
              <a:defRPr sz="1463" b="0">
                <a:solidFill>
                  <a:srgbClr val="000000"/>
                </a:solidFill>
                <a:latin typeface="Times New Roman"/>
                <a:ea typeface="Times New Roman"/>
                <a:cs typeface="Times New Roman"/>
              </a:defRPr>
            </a:lvl3pPr>
            <a:lvl4pPr algn="l">
              <a:defRPr sz="1463" b="0">
                <a:solidFill>
                  <a:srgbClr val="000000"/>
                </a:solidFill>
                <a:latin typeface="Times New Roman"/>
                <a:ea typeface="Times New Roman"/>
                <a:cs typeface="Times New Roman"/>
              </a:defRPr>
            </a:lvl4pPr>
            <a:lvl5pPr algn="l">
              <a:defRPr sz="1463" b="0">
                <a:solidFill>
                  <a:srgbClr val="000000"/>
                </a:solidFill>
                <a:latin typeface="Times New Roman"/>
                <a:ea typeface="Times New Roman"/>
                <a:cs typeface="Times New Roman"/>
              </a:defRPr>
            </a:lvl5pPr>
            <a:lvl6pPr algn="l">
              <a:defRPr sz="1463" b="0">
                <a:solidFill>
                  <a:srgbClr val="000000"/>
                </a:solidFill>
                <a:latin typeface="Times New Roman"/>
                <a:ea typeface="Times New Roman"/>
                <a:cs typeface="Times New Roman"/>
              </a:defRPr>
            </a:lvl6pPr>
            <a:lvl7pPr algn="l">
              <a:defRPr sz="1463" b="0">
                <a:solidFill>
                  <a:srgbClr val="000000"/>
                </a:solidFill>
                <a:latin typeface="Times New Roman"/>
                <a:ea typeface="Times New Roman"/>
                <a:cs typeface="Times New Roman"/>
              </a:defRPr>
            </a:lvl7pPr>
            <a:lvl8pPr algn="l">
              <a:defRPr sz="1463" b="0">
                <a:solidFill>
                  <a:srgbClr val="000000"/>
                </a:solidFill>
                <a:latin typeface="Times New Roman"/>
                <a:ea typeface="Times New Roman"/>
                <a:cs typeface="Times New Roman"/>
              </a:defRPr>
            </a:lvl8pPr>
            <a:lvl9pPr algn="l">
              <a:defRPr sz="1463" b="0">
                <a:solidFill>
                  <a:srgbClr val="000000"/>
                </a:solidFill>
                <a:latin typeface="Times New Roman"/>
                <a:ea typeface="Times New Roman"/>
                <a:cs typeface="Times New Roman"/>
              </a:defRPr>
            </a:lvl9pPr>
          </a:lstStyle>
          <a:p xmlns:a="http://schemas.openxmlformats.org/drawingml/2006/main">
            <a:pPr algn="l">
              <a:defRPr sz="1463" b="0">
                <a:solidFill>
                  <a:srgbClr val="000000"/>
                </a:solidFill>
                <a:latin typeface="Times New Roman"/>
                <a:ea typeface="Times New Roman"/>
                <a:cs typeface="Times New Roman"/>
              </a:defRPr>
            </a:pPr>
            <a:r>
              <a:rPr sz="1463" b="0">
                <a:solidFill>
                  <a:srgbClr val="000000"/>
                </a:solidFill>
                <a:latin typeface="Times New Roman"/>
                <a:ea typeface="Times New Roman"/>
                <a:cs typeface="Times New Roman"/>
              </a:rPr>
              <a:t>[3] M. O. Ayanoglu, L. A. Carlsson, E. Du, “Effects of void content on the moisture uptake and mechanical strength of a glass/epoxy composite”, Journal of Composite Materials, vol. 57, no. 2, pp. 325-336, 2023, doi: 10.1177/00219983221144500.</a:t>
            </a:r>
          </a:p>
        </p:txBody>
      </p:sp>
      <p:sp>
        <p:nvSpPr>
          <p:cNvPr id="5" name="">
            <a:extLst xmlns:a="http://schemas.openxmlformats.org/drawingml/2006/main">
              <a:ext uri="{FF2B5EF4-FFF2-40B4-BE49-F238E27FC236}">
                <a16:creationId xmlns:a16="http://schemas.microsoft.com/office/drawing/2014/main" id="{C0B6AFCA-447F-43DC-BF90-25FE2418E658}"/>
              </a:ext>
            </a:extLst>
          </p:cNvPr>
          <p:cNvSpPr>
            <a:spLocks xmlns:a="http://schemas.openxmlformats.org/drawingml/2006/main" noGrp="1"/>
          </p:cNvSpPr>
          <p:nvPr/>
        </p:nvSpPr>
        <p:spPr>
          <a:xfrm xmlns:a="http://schemas.openxmlformats.org/drawingml/2006/main">
            <a:off x="400050" y="3238500"/>
            <a:ext cx="11372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63" b="0">
                <a:solidFill>
                  <a:srgbClr val="000000"/>
                </a:solidFill>
                <a:latin typeface="Times New Roman"/>
                <a:ea typeface="Times New Roman"/>
                <a:cs typeface="Times New Roman"/>
              </a:defRPr>
            </a:defPPr>
            <a:lvl1pPr algn="l">
              <a:defRPr sz="1463" b="0">
                <a:solidFill>
                  <a:srgbClr val="000000"/>
                </a:solidFill>
                <a:latin typeface="Times New Roman"/>
                <a:ea typeface="Times New Roman"/>
                <a:cs typeface="Times New Roman"/>
              </a:defRPr>
            </a:lvl1pPr>
            <a:lvl2pPr algn="l">
              <a:defRPr sz="1463" b="0">
                <a:solidFill>
                  <a:srgbClr val="000000"/>
                </a:solidFill>
                <a:latin typeface="Times New Roman"/>
                <a:ea typeface="Times New Roman"/>
                <a:cs typeface="Times New Roman"/>
              </a:defRPr>
            </a:lvl2pPr>
            <a:lvl3pPr algn="l">
              <a:defRPr sz="1463" b="0">
                <a:solidFill>
                  <a:srgbClr val="000000"/>
                </a:solidFill>
                <a:latin typeface="Times New Roman"/>
                <a:ea typeface="Times New Roman"/>
                <a:cs typeface="Times New Roman"/>
              </a:defRPr>
            </a:lvl3pPr>
            <a:lvl4pPr algn="l">
              <a:defRPr sz="1463" b="0">
                <a:solidFill>
                  <a:srgbClr val="000000"/>
                </a:solidFill>
                <a:latin typeface="Times New Roman"/>
                <a:ea typeface="Times New Roman"/>
                <a:cs typeface="Times New Roman"/>
              </a:defRPr>
            </a:lvl4pPr>
            <a:lvl5pPr algn="l">
              <a:defRPr sz="1463" b="0">
                <a:solidFill>
                  <a:srgbClr val="000000"/>
                </a:solidFill>
                <a:latin typeface="Times New Roman"/>
                <a:ea typeface="Times New Roman"/>
                <a:cs typeface="Times New Roman"/>
              </a:defRPr>
            </a:lvl5pPr>
            <a:lvl6pPr algn="l">
              <a:defRPr sz="1463" b="0">
                <a:solidFill>
                  <a:srgbClr val="000000"/>
                </a:solidFill>
                <a:latin typeface="Times New Roman"/>
                <a:ea typeface="Times New Roman"/>
                <a:cs typeface="Times New Roman"/>
              </a:defRPr>
            </a:lvl6pPr>
            <a:lvl7pPr algn="l">
              <a:defRPr sz="1463" b="0">
                <a:solidFill>
                  <a:srgbClr val="000000"/>
                </a:solidFill>
                <a:latin typeface="Times New Roman"/>
                <a:ea typeface="Times New Roman"/>
                <a:cs typeface="Times New Roman"/>
              </a:defRPr>
            </a:lvl7pPr>
            <a:lvl8pPr algn="l">
              <a:defRPr sz="1463" b="0">
                <a:solidFill>
                  <a:srgbClr val="000000"/>
                </a:solidFill>
                <a:latin typeface="Times New Roman"/>
                <a:ea typeface="Times New Roman"/>
                <a:cs typeface="Times New Roman"/>
              </a:defRPr>
            </a:lvl8pPr>
            <a:lvl9pPr algn="l">
              <a:defRPr sz="1463" b="0">
                <a:solidFill>
                  <a:srgbClr val="000000"/>
                </a:solidFill>
                <a:latin typeface="Times New Roman"/>
                <a:ea typeface="Times New Roman"/>
                <a:cs typeface="Times New Roman"/>
              </a:defRPr>
            </a:lvl9pPr>
          </a:lstStyle>
          <a:p xmlns:a="http://schemas.openxmlformats.org/drawingml/2006/main">
            <a:pPr algn="l">
              <a:defRPr sz="1463" b="0">
                <a:solidFill>
                  <a:srgbClr val="000000"/>
                </a:solidFill>
                <a:latin typeface="Times New Roman"/>
                <a:ea typeface="Times New Roman"/>
                <a:cs typeface="Times New Roman"/>
              </a:defRPr>
            </a:pPr>
            <a:r>
              <a:rPr sz="1463" b="0">
                <a:solidFill>
                  <a:srgbClr val="000000"/>
                </a:solidFill>
                <a:latin typeface="Times New Roman"/>
                <a:ea typeface="Times New Roman"/>
                <a:cs typeface="Times New Roman"/>
              </a:rPr>
              <a:t>[5] N. Siddgonde, V. Kaushik, A. Ghosh, “Experimental and numerical characterization of E-glass/epoxy plain woven fabric composites containing void defects”, Aerospace Science and Technology, vol. 155, Art. no. 109731, 2024, doi: 10.1016/j.ast.2024.109731.</a:t>
            </a:r>
          </a:p>
        </p:txBody>
      </p:sp>
      <p:sp>
        <p:nvSpPr>
          <p:cNvPr id="6" name="">
            <a:extLst xmlns:a="http://schemas.openxmlformats.org/drawingml/2006/main">
              <a:ext uri="{FF2B5EF4-FFF2-40B4-BE49-F238E27FC236}">
                <a16:creationId xmlns:a16="http://schemas.microsoft.com/office/drawing/2014/main" id="{23405DA3-31FF-482F-B636-0CE271F9A00E}"/>
              </a:ext>
            </a:extLst>
          </p:cNvPr>
          <p:cNvSpPr>
            <a:spLocks xmlns:a="http://schemas.openxmlformats.org/drawingml/2006/main" noGrp="1"/>
          </p:cNvSpPr>
          <p:nvPr/>
        </p:nvSpPr>
        <p:spPr>
          <a:xfrm xmlns:a="http://schemas.openxmlformats.org/drawingml/2006/main">
            <a:off x="400050" y="4191000"/>
            <a:ext cx="11372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63" b="0">
                <a:solidFill>
                  <a:srgbClr val="000000"/>
                </a:solidFill>
                <a:latin typeface="Times New Roman"/>
                <a:ea typeface="Times New Roman"/>
                <a:cs typeface="Times New Roman"/>
              </a:defRPr>
            </a:defPPr>
            <a:lvl1pPr algn="l">
              <a:defRPr sz="1463" b="0">
                <a:solidFill>
                  <a:srgbClr val="000000"/>
                </a:solidFill>
                <a:latin typeface="Times New Roman"/>
                <a:ea typeface="Times New Roman"/>
                <a:cs typeface="Times New Roman"/>
              </a:defRPr>
            </a:lvl1pPr>
            <a:lvl2pPr algn="l">
              <a:defRPr sz="1463" b="0">
                <a:solidFill>
                  <a:srgbClr val="000000"/>
                </a:solidFill>
                <a:latin typeface="Times New Roman"/>
                <a:ea typeface="Times New Roman"/>
                <a:cs typeface="Times New Roman"/>
              </a:defRPr>
            </a:lvl2pPr>
            <a:lvl3pPr algn="l">
              <a:defRPr sz="1463" b="0">
                <a:solidFill>
                  <a:srgbClr val="000000"/>
                </a:solidFill>
                <a:latin typeface="Times New Roman"/>
                <a:ea typeface="Times New Roman"/>
                <a:cs typeface="Times New Roman"/>
              </a:defRPr>
            </a:lvl3pPr>
            <a:lvl4pPr algn="l">
              <a:defRPr sz="1463" b="0">
                <a:solidFill>
                  <a:srgbClr val="000000"/>
                </a:solidFill>
                <a:latin typeface="Times New Roman"/>
                <a:ea typeface="Times New Roman"/>
                <a:cs typeface="Times New Roman"/>
              </a:defRPr>
            </a:lvl4pPr>
            <a:lvl5pPr algn="l">
              <a:defRPr sz="1463" b="0">
                <a:solidFill>
                  <a:srgbClr val="000000"/>
                </a:solidFill>
                <a:latin typeface="Times New Roman"/>
                <a:ea typeface="Times New Roman"/>
                <a:cs typeface="Times New Roman"/>
              </a:defRPr>
            </a:lvl5pPr>
            <a:lvl6pPr algn="l">
              <a:defRPr sz="1463" b="0">
                <a:solidFill>
                  <a:srgbClr val="000000"/>
                </a:solidFill>
                <a:latin typeface="Times New Roman"/>
                <a:ea typeface="Times New Roman"/>
                <a:cs typeface="Times New Roman"/>
              </a:defRPr>
            </a:lvl6pPr>
            <a:lvl7pPr algn="l">
              <a:defRPr sz="1463" b="0">
                <a:solidFill>
                  <a:srgbClr val="000000"/>
                </a:solidFill>
                <a:latin typeface="Times New Roman"/>
                <a:ea typeface="Times New Roman"/>
                <a:cs typeface="Times New Roman"/>
              </a:defRPr>
            </a:lvl7pPr>
            <a:lvl8pPr algn="l">
              <a:defRPr sz="1463" b="0">
                <a:solidFill>
                  <a:srgbClr val="000000"/>
                </a:solidFill>
                <a:latin typeface="Times New Roman"/>
                <a:ea typeface="Times New Roman"/>
                <a:cs typeface="Times New Roman"/>
              </a:defRPr>
            </a:lvl8pPr>
            <a:lvl9pPr algn="l">
              <a:defRPr sz="1463" b="0">
                <a:solidFill>
                  <a:srgbClr val="000000"/>
                </a:solidFill>
                <a:latin typeface="Times New Roman"/>
                <a:ea typeface="Times New Roman"/>
                <a:cs typeface="Times New Roman"/>
              </a:defRPr>
            </a:lvl9pPr>
          </a:lstStyle>
          <a:p xmlns:a="http://schemas.openxmlformats.org/drawingml/2006/main">
            <a:pPr algn="l">
              <a:defRPr sz="1463" b="0">
                <a:solidFill>
                  <a:srgbClr val="000000"/>
                </a:solidFill>
                <a:latin typeface="Times New Roman"/>
                <a:ea typeface="Times New Roman"/>
                <a:cs typeface="Times New Roman"/>
              </a:defRPr>
            </a:pPr>
            <a:r>
              <a:rPr sz="1463" b="0">
                <a:solidFill>
                  <a:srgbClr val="000000"/>
                </a:solidFill>
                <a:latin typeface="Times New Roman"/>
                <a:ea typeface="Times New Roman"/>
                <a:cs typeface="Times New Roman"/>
              </a:rPr>
              <a:t>[7] Nur Hafzareen Md Hanafiah, Abdul Rahim Othman, Mark Ovinis, “Significant Effect of Vacuum Bagging Processing on Inter-Laminar Shear Strength and Voids of Composite in Oven Cure”, Journal of Advanced Research in Applied Sciences and Engineering Technology, vol. 37, no. 1, pp. 69-81, 2024, doi: 10.37934/araset.37.1.6981.</a:t>
            </a:r>
          </a:p>
        </p:txBody>
      </p:sp>
      <p:sp>
        <p:nvSpPr>
          <p:cNvPr id="7" name="">
            <a:extLst xmlns:a="http://schemas.openxmlformats.org/drawingml/2006/main">
              <a:ext uri="{FF2B5EF4-FFF2-40B4-BE49-F238E27FC236}">
                <a16:creationId xmlns:a16="http://schemas.microsoft.com/office/drawing/2014/main" id="{212904B2-D471-4655-A7A5-FB28135DB424}"/>
              </a:ext>
            </a:extLst>
          </p:cNvPr>
          <p:cNvSpPr>
            <a:spLocks xmlns:a="http://schemas.openxmlformats.org/drawingml/2006/main" noGrp="1"/>
          </p:cNvSpPr>
          <p:nvPr/>
        </p:nvSpPr>
        <p:spPr>
          <a:xfrm xmlns:a="http://schemas.openxmlformats.org/drawingml/2006/main">
            <a:off x="400050" y="5143500"/>
            <a:ext cx="11372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63" b="0">
                <a:solidFill>
                  <a:srgbClr val="000000"/>
                </a:solidFill>
                <a:latin typeface="Times New Roman"/>
                <a:ea typeface="Times New Roman"/>
                <a:cs typeface="Times New Roman"/>
              </a:defRPr>
            </a:defPPr>
            <a:lvl1pPr algn="l">
              <a:defRPr sz="1463" b="0">
                <a:solidFill>
                  <a:srgbClr val="000000"/>
                </a:solidFill>
                <a:latin typeface="Times New Roman"/>
                <a:ea typeface="Times New Roman"/>
                <a:cs typeface="Times New Roman"/>
              </a:defRPr>
            </a:lvl1pPr>
            <a:lvl2pPr algn="l">
              <a:defRPr sz="1463" b="0">
                <a:solidFill>
                  <a:srgbClr val="000000"/>
                </a:solidFill>
                <a:latin typeface="Times New Roman"/>
                <a:ea typeface="Times New Roman"/>
                <a:cs typeface="Times New Roman"/>
              </a:defRPr>
            </a:lvl2pPr>
            <a:lvl3pPr algn="l">
              <a:defRPr sz="1463" b="0">
                <a:solidFill>
                  <a:srgbClr val="000000"/>
                </a:solidFill>
                <a:latin typeface="Times New Roman"/>
                <a:ea typeface="Times New Roman"/>
                <a:cs typeface="Times New Roman"/>
              </a:defRPr>
            </a:lvl3pPr>
            <a:lvl4pPr algn="l">
              <a:defRPr sz="1463" b="0">
                <a:solidFill>
                  <a:srgbClr val="000000"/>
                </a:solidFill>
                <a:latin typeface="Times New Roman"/>
                <a:ea typeface="Times New Roman"/>
                <a:cs typeface="Times New Roman"/>
              </a:defRPr>
            </a:lvl4pPr>
            <a:lvl5pPr algn="l">
              <a:defRPr sz="1463" b="0">
                <a:solidFill>
                  <a:srgbClr val="000000"/>
                </a:solidFill>
                <a:latin typeface="Times New Roman"/>
                <a:ea typeface="Times New Roman"/>
                <a:cs typeface="Times New Roman"/>
              </a:defRPr>
            </a:lvl5pPr>
            <a:lvl6pPr algn="l">
              <a:defRPr sz="1463" b="0">
                <a:solidFill>
                  <a:srgbClr val="000000"/>
                </a:solidFill>
                <a:latin typeface="Times New Roman"/>
                <a:ea typeface="Times New Roman"/>
                <a:cs typeface="Times New Roman"/>
              </a:defRPr>
            </a:lvl6pPr>
            <a:lvl7pPr algn="l">
              <a:defRPr sz="1463" b="0">
                <a:solidFill>
                  <a:srgbClr val="000000"/>
                </a:solidFill>
                <a:latin typeface="Times New Roman"/>
                <a:ea typeface="Times New Roman"/>
                <a:cs typeface="Times New Roman"/>
              </a:defRPr>
            </a:lvl7pPr>
            <a:lvl8pPr algn="l">
              <a:defRPr sz="1463" b="0">
                <a:solidFill>
                  <a:srgbClr val="000000"/>
                </a:solidFill>
                <a:latin typeface="Times New Roman"/>
                <a:ea typeface="Times New Roman"/>
                <a:cs typeface="Times New Roman"/>
              </a:defRPr>
            </a:lvl8pPr>
            <a:lvl9pPr algn="l">
              <a:defRPr sz="1463" b="0">
                <a:solidFill>
                  <a:srgbClr val="000000"/>
                </a:solidFill>
                <a:latin typeface="Times New Roman"/>
                <a:ea typeface="Times New Roman"/>
                <a:cs typeface="Times New Roman"/>
              </a:defRPr>
            </a:lvl9pPr>
          </a:lstStyle>
          <a:p xmlns:a="http://schemas.openxmlformats.org/drawingml/2006/main">
            <a:pPr algn="l">
              <a:defRPr sz="1463" b="0">
                <a:solidFill>
                  <a:srgbClr val="000000"/>
                </a:solidFill>
                <a:latin typeface="Times New Roman"/>
                <a:ea typeface="Times New Roman"/>
                <a:cs typeface="Times New Roman"/>
              </a:defRPr>
            </a:pPr>
            <a:r>
              <a:rPr sz="1463" b="0">
                <a:solidFill>
                  <a:srgbClr val="000000"/>
                </a:solidFill>
                <a:latin typeface="Times New Roman"/>
                <a:ea typeface="Times New Roman"/>
                <a:cs typeface="Times New Roman"/>
              </a:rPr>
              <a:t>[11] J. Mendikute, M. Baskaran, I. Llavori, E. Zugasti, L. Aretxabaleta, J. Aurrekoetxea, “Predicting the effect of voids generated during RTM on the low-velocity impact behaviour by machine learning-based surrogate models”, Composites Part B: Engineering, vol. 260, Art. no. 110790, 2023, doi: 10.1016/j.compositesb.2023.110790.</a:t>
            </a:r>
          </a:p>
        </p:txBody>
      </p:sp>
      <p:sp>
        <p:nvSpPr>
          <p:cNvPr id="8" name="">
            <a:extLst xmlns:a="http://schemas.openxmlformats.org/drawingml/2006/main">
              <a:ext uri="{FF2B5EF4-FFF2-40B4-BE49-F238E27FC236}">
                <a16:creationId xmlns:a16="http://schemas.microsoft.com/office/drawing/2014/main" id="{7E48D196-3421-4D38-A0A0-875BB2E74DC7}"/>
              </a:ext>
            </a:extLst>
          </p:cNvPr>
          <p:cNvSpPr>
            <a:spLocks xmlns:a="http://schemas.openxmlformats.org/drawingml/2006/main" noGrp="1"/>
          </p:cNvSpPr>
          <p:nvPr/>
        </p:nvSpPr>
        <p:spPr>
          <a:xfrm xmlns:a="http://schemas.openxmlformats.org/drawingml/2006/main">
            <a:off x="400050" y="6191250"/>
            <a:ext cx="11372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0">
                <a:solidFill>
                  <a:srgbClr val="000000"/>
                </a:solidFill>
                <a:latin typeface="Times New Roman"/>
                <a:ea typeface="Times New Roman"/>
                <a:cs typeface="Times New Roman"/>
              </a:defRPr>
            </a:defPPr>
            <a:lvl1pPr algn="l">
              <a:defRPr sz="1275" b="0">
                <a:solidFill>
                  <a:srgbClr val="000000"/>
                </a:solidFill>
                <a:latin typeface="Times New Roman"/>
                <a:ea typeface="Times New Roman"/>
                <a:cs typeface="Times New Roman"/>
              </a:defRPr>
            </a:lvl1pPr>
            <a:lvl2pPr algn="l">
              <a:defRPr sz="1275" b="0">
                <a:solidFill>
                  <a:srgbClr val="000000"/>
                </a:solidFill>
                <a:latin typeface="Times New Roman"/>
                <a:ea typeface="Times New Roman"/>
                <a:cs typeface="Times New Roman"/>
              </a:defRPr>
            </a:lvl2pPr>
            <a:lvl3pPr algn="l">
              <a:defRPr sz="1275" b="0">
                <a:solidFill>
                  <a:srgbClr val="000000"/>
                </a:solidFill>
                <a:latin typeface="Times New Roman"/>
                <a:ea typeface="Times New Roman"/>
                <a:cs typeface="Times New Roman"/>
              </a:defRPr>
            </a:lvl3pPr>
            <a:lvl4pPr algn="l">
              <a:defRPr sz="1275" b="0">
                <a:solidFill>
                  <a:srgbClr val="000000"/>
                </a:solidFill>
                <a:latin typeface="Times New Roman"/>
                <a:ea typeface="Times New Roman"/>
                <a:cs typeface="Times New Roman"/>
              </a:defRPr>
            </a:lvl4pPr>
            <a:lvl5pPr algn="l">
              <a:defRPr sz="1275" b="0">
                <a:solidFill>
                  <a:srgbClr val="000000"/>
                </a:solidFill>
                <a:latin typeface="Times New Roman"/>
                <a:ea typeface="Times New Roman"/>
                <a:cs typeface="Times New Roman"/>
              </a:defRPr>
            </a:lvl5pPr>
            <a:lvl6pPr algn="l">
              <a:defRPr sz="1275" b="0">
                <a:solidFill>
                  <a:srgbClr val="000000"/>
                </a:solidFill>
                <a:latin typeface="Times New Roman"/>
                <a:ea typeface="Times New Roman"/>
                <a:cs typeface="Times New Roman"/>
              </a:defRPr>
            </a:lvl6pPr>
            <a:lvl7pPr algn="l">
              <a:defRPr sz="1275" b="0">
                <a:solidFill>
                  <a:srgbClr val="000000"/>
                </a:solidFill>
                <a:latin typeface="Times New Roman"/>
                <a:ea typeface="Times New Roman"/>
                <a:cs typeface="Times New Roman"/>
              </a:defRPr>
            </a:lvl7pPr>
            <a:lvl8pPr algn="l">
              <a:defRPr sz="1275" b="0">
                <a:solidFill>
                  <a:srgbClr val="000000"/>
                </a:solidFill>
                <a:latin typeface="Times New Roman"/>
                <a:ea typeface="Times New Roman"/>
                <a:cs typeface="Times New Roman"/>
              </a:defRPr>
            </a:lvl8pPr>
            <a:lvl9pPr algn="l">
              <a:defRPr sz="1275" b="0">
                <a:solidFill>
                  <a:srgbClr val="000000"/>
                </a:solidFill>
                <a:latin typeface="Times New Roman"/>
                <a:ea typeface="Times New Roman"/>
                <a:cs typeface="Times New Roman"/>
              </a:defRPr>
            </a:lvl9pPr>
          </a:lstStyle>
          <a:p xmlns:a="http://schemas.openxmlformats.org/drawingml/2006/main">
            <a:pPr algn="l">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Full 35-source IEEE bibliography and review matrix: project report Chapter 2 and References. Numbering matches that report.</a:t>
            </a:r>
          </a:p>
        </p:txBody>
      </p:sp>
    </p:spTree>
    <p:extLst>
      <p:ext uri="{BB962C8B-B14F-4D97-AF65-F5344CB8AC3E}">
        <p14:creationId xmlns:p14="http://schemas.microsoft.com/office/powerpoint/2010/main" val="144106105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49B18F-8DA4-6A41-C7DC-4C63732685FD}"/>
              </a:ext>
            </a:extLst>
          </p:cNvPr>
          <p:cNvSpPr>
            <a:spLocks xmlns:a="http://schemas.openxmlformats.org/drawingml/2006/main" noGrp="1"/>
          </p:cNvSpPr>
          <p:nvPr>
            <p:ph type="title" idx="0"/>
          </p:nvPr>
        </p:nvSpPr>
        <p:spPr>
          <a:xfrm xmlns:a="http://schemas.openxmlformats.org/drawingml/2006/main">
            <a:off x="400050" y="276225"/>
            <a:ext cx="11372850" cy="904875"/>
          </a:xfrm>
        </p:spPr>
        <p:txBody>
          <a:bodyPr xmlns:a="http://schemas.openxmlformats.org/drawingml/2006/main"/>
          <a:lstStyle xmlns:a="http://schemas.openxmlformats.org/drawingml/2006/main">
            <a:defPPr algn="l">
              <a:defRPr sz="2400" b="1">
                <a:solidFill>
                  <a:srgbClr val="0070C0"/>
                </a:solidFill>
                <a:latin typeface="Bookman Old Style"/>
                <a:ea typeface="Bookman Old Style"/>
                <a:cs typeface="Bookman Old Style"/>
              </a:defRPr>
            </a:defPPr>
            <a:lvl1pPr algn="l">
              <a:defRPr sz="2400" b="1">
                <a:solidFill>
                  <a:srgbClr val="0070C0"/>
                </a:solidFill>
                <a:latin typeface="Bookman Old Style"/>
                <a:ea typeface="Bookman Old Style"/>
                <a:cs typeface="Bookman Old Style"/>
              </a:defRPr>
            </a:lvl1pPr>
            <a:lvl2pPr algn="l">
              <a:defRPr sz="2400" b="1">
                <a:solidFill>
                  <a:srgbClr val="0070C0"/>
                </a:solidFill>
                <a:latin typeface="Bookman Old Style"/>
                <a:ea typeface="Bookman Old Style"/>
                <a:cs typeface="Bookman Old Style"/>
              </a:defRPr>
            </a:lvl2pPr>
            <a:lvl3pPr algn="l">
              <a:defRPr sz="2400" b="1">
                <a:solidFill>
                  <a:srgbClr val="0070C0"/>
                </a:solidFill>
                <a:latin typeface="Bookman Old Style"/>
                <a:ea typeface="Bookman Old Style"/>
                <a:cs typeface="Bookman Old Style"/>
              </a:defRPr>
            </a:lvl3pPr>
            <a:lvl4pPr algn="l">
              <a:defRPr sz="2400" b="1">
                <a:solidFill>
                  <a:srgbClr val="0070C0"/>
                </a:solidFill>
                <a:latin typeface="Bookman Old Style"/>
                <a:ea typeface="Bookman Old Style"/>
                <a:cs typeface="Bookman Old Style"/>
              </a:defRPr>
            </a:lvl4pPr>
            <a:lvl5pPr algn="l">
              <a:defRPr sz="2400" b="1">
                <a:solidFill>
                  <a:srgbClr val="0070C0"/>
                </a:solidFill>
                <a:latin typeface="Bookman Old Style"/>
                <a:ea typeface="Bookman Old Style"/>
                <a:cs typeface="Bookman Old Style"/>
              </a:defRPr>
            </a:lvl5pPr>
            <a:lvl6pPr algn="l">
              <a:defRPr sz="2400" b="1">
                <a:solidFill>
                  <a:srgbClr val="0070C0"/>
                </a:solidFill>
                <a:latin typeface="Bookman Old Style"/>
                <a:ea typeface="Bookman Old Style"/>
                <a:cs typeface="Bookman Old Style"/>
              </a:defRPr>
            </a:lvl6pPr>
            <a:lvl7pPr algn="l">
              <a:defRPr sz="2400" b="1">
                <a:solidFill>
                  <a:srgbClr val="0070C0"/>
                </a:solidFill>
                <a:latin typeface="Bookman Old Style"/>
                <a:ea typeface="Bookman Old Style"/>
                <a:cs typeface="Bookman Old Style"/>
              </a:defRPr>
            </a:lvl7pPr>
            <a:lvl8pPr algn="l">
              <a:defRPr sz="2400" b="1">
                <a:solidFill>
                  <a:srgbClr val="0070C0"/>
                </a:solidFill>
                <a:latin typeface="Bookman Old Style"/>
                <a:ea typeface="Bookman Old Style"/>
                <a:cs typeface="Bookman Old Style"/>
              </a:defRPr>
            </a:lvl8pPr>
            <a:lvl9pPr algn="l">
              <a:defRPr sz="2400" b="1">
                <a:solidFill>
                  <a:srgbClr val="0070C0"/>
                </a:solidFill>
                <a:latin typeface="Bookman Old Style"/>
                <a:ea typeface="Bookman Old Style"/>
                <a:cs typeface="Bookman Old Style"/>
              </a:defRPr>
            </a:lvl9pPr>
          </a:lstStyle>
          <a:p xmlns:a="http://schemas.openxmlformats.org/drawingml/2006/main">
            <a:pPr algn="l">
              <a:defRPr sz="2400" b="1">
                <a:solidFill>
                  <a:srgbClr val="0070C0"/>
                </a:solidFill>
                <a:latin typeface="Bookman Old Style"/>
                <a:ea typeface="Bookman Old Style"/>
                <a:cs typeface="Bookman Old Style"/>
              </a:defRPr>
            </a:pPr>
            <a:r>
              <a:rPr sz="2400" b="1">
                <a:solidFill>
                  <a:srgbClr val="0070C0"/>
                </a:solidFill>
                <a:latin typeface="Bookman Old Style"/>
                <a:ea typeface="Bookman Old Style"/>
                <a:cs typeface="Bookman Old Style"/>
              </a:rPr>
              <a:t>Selected references and full bibliography</a:t>
            </a:r>
            <a:endParaRPr/>
          </a:p>
        </p:txBody>
      </p:sp>
      <p:sp>
        <p:nvSpPr>
          <p:cNvPr id="3" name="">
            <a:extLst xmlns:a="http://schemas.openxmlformats.org/drawingml/2006/main">
              <a:ext uri="{FF2B5EF4-FFF2-40B4-BE49-F238E27FC236}">
                <a16:creationId xmlns:a16="http://schemas.microsoft.com/office/drawing/2014/main" id="{4AA312C6-FE4B-408C-B216-1C04537B9A69}"/>
              </a:ext>
            </a:extLst>
          </p:cNvPr>
          <p:cNvSpPr>
            <a:spLocks xmlns:a="http://schemas.openxmlformats.org/drawingml/2006/main" noGrp="1"/>
          </p:cNvSpPr>
          <p:nvPr/>
        </p:nvSpPr>
        <p:spPr>
          <a:xfrm xmlns:a="http://schemas.openxmlformats.org/drawingml/2006/main">
            <a:off x="400050" y="1333500"/>
            <a:ext cx="11372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63" b="0">
                <a:solidFill>
                  <a:srgbClr val="000000"/>
                </a:solidFill>
                <a:latin typeface="Times New Roman"/>
                <a:ea typeface="Times New Roman"/>
                <a:cs typeface="Times New Roman"/>
              </a:defRPr>
            </a:defPPr>
            <a:lvl1pPr algn="l">
              <a:defRPr sz="1463" b="0">
                <a:solidFill>
                  <a:srgbClr val="000000"/>
                </a:solidFill>
                <a:latin typeface="Times New Roman"/>
                <a:ea typeface="Times New Roman"/>
                <a:cs typeface="Times New Roman"/>
              </a:defRPr>
            </a:lvl1pPr>
            <a:lvl2pPr algn="l">
              <a:defRPr sz="1463" b="0">
                <a:solidFill>
                  <a:srgbClr val="000000"/>
                </a:solidFill>
                <a:latin typeface="Times New Roman"/>
                <a:ea typeface="Times New Roman"/>
                <a:cs typeface="Times New Roman"/>
              </a:defRPr>
            </a:lvl2pPr>
            <a:lvl3pPr algn="l">
              <a:defRPr sz="1463" b="0">
                <a:solidFill>
                  <a:srgbClr val="000000"/>
                </a:solidFill>
                <a:latin typeface="Times New Roman"/>
                <a:ea typeface="Times New Roman"/>
                <a:cs typeface="Times New Roman"/>
              </a:defRPr>
            </a:lvl3pPr>
            <a:lvl4pPr algn="l">
              <a:defRPr sz="1463" b="0">
                <a:solidFill>
                  <a:srgbClr val="000000"/>
                </a:solidFill>
                <a:latin typeface="Times New Roman"/>
                <a:ea typeface="Times New Roman"/>
                <a:cs typeface="Times New Roman"/>
              </a:defRPr>
            </a:lvl4pPr>
            <a:lvl5pPr algn="l">
              <a:defRPr sz="1463" b="0">
                <a:solidFill>
                  <a:srgbClr val="000000"/>
                </a:solidFill>
                <a:latin typeface="Times New Roman"/>
                <a:ea typeface="Times New Roman"/>
                <a:cs typeface="Times New Roman"/>
              </a:defRPr>
            </a:lvl5pPr>
            <a:lvl6pPr algn="l">
              <a:defRPr sz="1463" b="0">
                <a:solidFill>
                  <a:srgbClr val="000000"/>
                </a:solidFill>
                <a:latin typeface="Times New Roman"/>
                <a:ea typeface="Times New Roman"/>
                <a:cs typeface="Times New Roman"/>
              </a:defRPr>
            </a:lvl6pPr>
            <a:lvl7pPr algn="l">
              <a:defRPr sz="1463" b="0">
                <a:solidFill>
                  <a:srgbClr val="000000"/>
                </a:solidFill>
                <a:latin typeface="Times New Roman"/>
                <a:ea typeface="Times New Roman"/>
                <a:cs typeface="Times New Roman"/>
              </a:defRPr>
            </a:lvl7pPr>
            <a:lvl8pPr algn="l">
              <a:defRPr sz="1463" b="0">
                <a:solidFill>
                  <a:srgbClr val="000000"/>
                </a:solidFill>
                <a:latin typeface="Times New Roman"/>
                <a:ea typeface="Times New Roman"/>
                <a:cs typeface="Times New Roman"/>
              </a:defRPr>
            </a:lvl8pPr>
            <a:lvl9pPr algn="l">
              <a:defRPr sz="1463" b="0">
                <a:solidFill>
                  <a:srgbClr val="000000"/>
                </a:solidFill>
                <a:latin typeface="Times New Roman"/>
                <a:ea typeface="Times New Roman"/>
                <a:cs typeface="Times New Roman"/>
              </a:defRPr>
            </a:lvl9pPr>
          </a:lstStyle>
          <a:p xmlns:a="http://schemas.openxmlformats.org/drawingml/2006/main">
            <a:pPr algn="l">
              <a:defRPr sz="1463" b="0">
                <a:solidFill>
                  <a:srgbClr val="000000"/>
                </a:solidFill>
                <a:latin typeface="Times New Roman"/>
                <a:ea typeface="Times New Roman"/>
                <a:cs typeface="Times New Roman"/>
              </a:defRPr>
            </a:pPr>
            <a:r>
              <a:rPr sz="1463" b="0">
                <a:solidFill>
                  <a:srgbClr val="000000"/>
                </a:solidFill>
                <a:latin typeface="Times New Roman"/>
                <a:ea typeface="Times New Roman"/>
                <a:cs typeface="Times New Roman"/>
              </a:rPr>
              <a:t>[16] M. Li, H. Zhang, S. Li, W. Zhu, Y. Ke, “Machine learning and materials informatics approaches for predicting transverse mechanical properties of unidirectional CFRP composites with microvoids”, Materials &amp; Design, vol. 224, Art. no. 111340, 2022, doi: 10.1016/j.matdes.2022.111340.</a:t>
            </a:r>
          </a:p>
        </p:txBody>
      </p:sp>
      <p:sp>
        <p:nvSpPr>
          <p:cNvPr id="4" name="">
            <a:extLst xmlns:a="http://schemas.openxmlformats.org/drawingml/2006/main">
              <a:ext uri="{FF2B5EF4-FFF2-40B4-BE49-F238E27FC236}">
                <a16:creationId xmlns:a16="http://schemas.microsoft.com/office/drawing/2014/main" id="{28302A08-8C58-40F2-90D5-FDEAB6107350}"/>
              </a:ext>
            </a:extLst>
          </p:cNvPr>
          <p:cNvSpPr>
            <a:spLocks xmlns:a="http://schemas.openxmlformats.org/drawingml/2006/main" noGrp="1"/>
          </p:cNvSpPr>
          <p:nvPr/>
        </p:nvSpPr>
        <p:spPr>
          <a:xfrm xmlns:a="http://schemas.openxmlformats.org/drawingml/2006/main">
            <a:off x="400050" y="2286000"/>
            <a:ext cx="11372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63" b="0">
                <a:solidFill>
                  <a:srgbClr val="000000"/>
                </a:solidFill>
                <a:latin typeface="Times New Roman"/>
                <a:ea typeface="Times New Roman"/>
                <a:cs typeface="Times New Roman"/>
              </a:defRPr>
            </a:defPPr>
            <a:lvl1pPr algn="l">
              <a:defRPr sz="1463" b="0">
                <a:solidFill>
                  <a:srgbClr val="000000"/>
                </a:solidFill>
                <a:latin typeface="Times New Roman"/>
                <a:ea typeface="Times New Roman"/>
                <a:cs typeface="Times New Roman"/>
              </a:defRPr>
            </a:lvl1pPr>
            <a:lvl2pPr algn="l">
              <a:defRPr sz="1463" b="0">
                <a:solidFill>
                  <a:srgbClr val="000000"/>
                </a:solidFill>
                <a:latin typeface="Times New Roman"/>
                <a:ea typeface="Times New Roman"/>
                <a:cs typeface="Times New Roman"/>
              </a:defRPr>
            </a:lvl2pPr>
            <a:lvl3pPr algn="l">
              <a:defRPr sz="1463" b="0">
                <a:solidFill>
                  <a:srgbClr val="000000"/>
                </a:solidFill>
                <a:latin typeface="Times New Roman"/>
                <a:ea typeface="Times New Roman"/>
                <a:cs typeface="Times New Roman"/>
              </a:defRPr>
            </a:lvl3pPr>
            <a:lvl4pPr algn="l">
              <a:defRPr sz="1463" b="0">
                <a:solidFill>
                  <a:srgbClr val="000000"/>
                </a:solidFill>
                <a:latin typeface="Times New Roman"/>
                <a:ea typeface="Times New Roman"/>
                <a:cs typeface="Times New Roman"/>
              </a:defRPr>
            </a:lvl4pPr>
            <a:lvl5pPr algn="l">
              <a:defRPr sz="1463" b="0">
                <a:solidFill>
                  <a:srgbClr val="000000"/>
                </a:solidFill>
                <a:latin typeface="Times New Roman"/>
                <a:ea typeface="Times New Roman"/>
                <a:cs typeface="Times New Roman"/>
              </a:defRPr>
            </a:lvl5pPr>
            <a:lvl6pPr algn="l">
              <a:defRPr sz="1463" b="0">
                <a:solidFill>
                  <a:srgbClr val="000000"/>
                </a:solidFill>
                <a:latin typeface="Times New Roman"/>
                <a:ea typeface="Times New Roman"/>
                <a:cs typeface="Times New Roman"/>
              </a:defRPr>
            </a:lvl6pPr>
            <a:lvl7pPr algn="l">
              <a:defRPr sz="1463" b="0">
                <a:solidFill>
                  <a:srgbClr val="000000"/>
                </a:solidFill>
                <a:latin typeface="Times New Roman"/>
                <a:ea typeface="Times New Roman"/>
                <a:cs typeface="Times New Roman"/>
              </a:defRPr>
            </a:lvl7pPr>
            <a:lvl8pPr algn="l">
              <a:defRPr sz="1463" b="0">
                <a:solidFill>
                  <a:srgbClr val="000000"/>
                </a:solidFill>
                <a:latin typeface="Times New Roman"/>
                <a:ea typeface="Times New Roman"/>
                <a:cs typeface="Times New Roman"/>
              </a:defRPr>
            </a:lvl8pPr>
            <a:lvl9pPr algn="l">
              <a:defRPr sz="1463" b="0">
                <a:solidFill>
                  <a:srgbClr val="000000"/>
                </a:solidFill>
                <a:latin typeface="Times New Roman"/>
                <a:ea typeface="Times New Roman"/>
                <a:cs typeface="Times New Roman"/>
              </a:defRPr>
            </a:lvl9pPr>
          </a:lstStyle>
          <a:p xmlns:a="http://schemas.openxmlformats.org/drawingml/2006/main">
            <a:pPr algn="l">
              <a:defRPr sz="1463" b="0">
                <a:solidFill>
                  <a:srgbClr val="000000"/>
                </a:solidFill>
                <a:latin typeface="Times New Roman"/>
                <a:ea typeface="Times New Roman"/>
                <a:cs typeface="Times New Roman"/>
              </a:defRPr>
            </a:pPr>
            <a:r>
              <a:rPr sz="1463" b="0">
                <a:solidFill>
                  <a:srgbClr val="000000"/>
                </a:solidFill>
                <a:latin typeface="Times New Roman"/>
                <a:ea typeface="Times New Roman"/>
                <a:cs typeface="Times New Roman"/>
              </a:rPr>
              <a:t>[20] A. Alsheghri, A. Alhammadi, V. Drakonakis, H. Doumanidis, I. Barsoum, M. Maalouf, “Predicting mechanical properties of CFRP composites using data-driven models with comparative analysis”, PLOS ONE, vol. 20, no. 4, pp. e0319787, 2025, doi: 10.1371/journal.pone.0319787.</a:t>
            </a:r>
          </a:p>
        </p:txBody>
      </p:sp>
      <p:sp>
        <p:nvSpPr>
          <p:cNvPr id="5" name="">
            <a:extLst xmlns:a="http://schemas.openxmlformats.org/drawingml/2006/main">
              <a:ext uri="{FF2B5EF4-FFF2-40B4-BE49-F238E27FC236}">
                <a16:creationId xmlns:a16="http://schemas.microsoft.com/office/drawing/2014/main" id="{55D9626F-5847-4306-B69E-3BB141055224}"/>
              </a:ext>
            </a:extLst>
          </p:cNvPr>
          <p:cNvSpPr>
            <a:spLocks xmlns:a="http://schemas.openxmlformats.org/drawingml/2006/main" noGrp="1"/>
          </p:cNvSpPr>
          <p:nvPr/>
        </p:nvSpPr>
        <p:spPr>
          <a:xfrm xmlns:a="http://schemas.openxmlformats.org/drawingml/2006/main">
            <a:off x="400050" y="3238500"/>
            <a:ext cx="11372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63" b="0">
                <a:solidFill>
                  <a:srgbClr val="000000"/>
                </a:solidFill>
                <a:latin typeface="Times New Roman"/>
                <a:ea typeface="Times New Roman"/>
                <a:cs typeface="Times New Roman"/>
              </a:defRPr>
            </a:defPPr>
            <a:lvl1pPr algn="l">
              <a:defRPr sz="1463" b="0">
                <a:solidFill>
                  <a:srgbClr val="000000"/>
                </a:solidFill>
                <a:latin typeface="Times New Roman"/>
                <a:ea typeface="Times New Roman"/>
                <a:cs typeface="Times New Roman"/>
              </a:defRPr>
            </a:lvl1pPr>
            <a:lvl2pPr algn="l">
              <a:defRPr sz="1463" b="0">
                <a:solidFill>
                  <a:srgbClr val="000000"/>
                </a:solidFill>
                <a:latin typeface="Times New Roman"/>
                <a:ea typeface="Times New Roman"/>
                <a:cs typeface="Times New Roman"/>
              </a:defRPr>
            </a:lvl2pPr>
            <a:lvl3pPr algn="l">
              <a:defRPr sz="1463" b="0">
                <a:solidFill>
                  <a:srgbClr val="000000"/>
                </a:solidFill>
                <a:latin typeface="Times New Roman"/>
                <a:ea typeface="Times New Roman"/>
                <a:cs typeface="Times New Roman"/>
              </a:defRPr>
            </a:lvl3pPr>
            <a:lvl4pPr algn="l">
              <a:defRPr sz="1463" b="0">
                <a:solidFill>
                  <a:srgbClr val="000000"/>
                </a:solidFill>
                <a:latin typeface="Times New Roman"/>
                <a:ea typeface="Times New Roman"/>
                <a:cs typeface="Times New Roman"/>
              </a:defRPr>
            </a:lvl4pPr>
            <a:lvl5pPr algn="l">
              <a:defRPr sz="1463" b="0">
                <a:solidFill>
                  <a:srgbClr val="000000"/>
                </a:solidFill>
                <a:latin typeface="Times New Roman"/>
                <a:ea typeface="Times New Roman"/>
                <a:cs typeface="Times New Roman"/>
              </a:defRPr>
            </a:lvl5pPr>
            <a:lvl6pPr algn="l">
              <a:defRPr sz="1463" b="0">
                <a:solidFill>
                  <a:srgbClr val="000000"/>
                </a:solidFill>
                <a:latin typeface="Times New Roman"/>
                <a:ea typeface="Times New Roman"/>
                <a:cs typeface="Times New Roman"/>
              </a:defRPr>
            </a:lvl6pPr>
            <a:lvl7pPr algn="l">
              <a:defRPr sz="1463" b="0">
                <a:solidFill>
                  <a:srgbClr val="000000"/>
                </a:solidFill>
                <a:latin typeface="Times New Roman"/>
                <a:ea typeface="Times New Roman"/>
                <a:cs typeface="Times New Roman"/>
              </a:defRPr>
            </a:lvl7pPr>
            <a:lvl8pPr algn="l">
              <a:defRPr sz="1463" b="0">
                <a:solidFill>
                  <a:srgbClr val="000000"/>
                </a:solidFill>
                <a:latin typeface="Times New Roman"/>
                <a:ea typeface="Times New Roman"/>
                <a:cs typeface="Times New Roman"/>
              </a:defRPr>
            </a:lvl8pPr>
            <a:lvl9pPr algn="l">
              <a:defRPr sz="1463" b="0">
                <a:solidFill>
                  <a:srgbClr val="000000"/>
                </a:solidFill>
                <a:latin typeface="Times New Roman"/>
                <a:ea typeface="Times New Roman"/>
                <a:cs typeface="Times New Roman"/>
              </a:defRPr>
            </a:lvl9pPr>
          </a:lstStyle>
          <a:p xmlns:a="http://schemas.openxmlformats.org/drawingml/2006/main">
            <a:pPr algn="l">
              <a:defRPr sz="1463" b="0">
                <a:solidFill>
                  <a:srgbClr val="000000"/>
                </a:solidFill>
                <a:latin typeface="Times New Roman"/>
                <a:ea typeface="Times New Roman"/>
                <a:cs typeface="Times New Roman"/>
              </a:defRPr>
            </a:pPr>
            <a:r>
              <a:rPr sz="1463" b="0">
                <a:solidFill>
                  <a:srgbClr val="000000"/>
                </a:solidFill>
                <a:latin typeface="Times New Roman"/>
                <a:ea typeface="Times New Roman"/>
                <a:cs typeface="Times New Roman"/>
              </a:rPr>
              <a:t>[24] K. Zhou, H. Sun, R. Enos, D. Zhang, J. Tang, “Harnessing deep learning for physics-informed prediction of composite strength with microstructural uncertainties”, Computational Materials Science, vol. 197, Art. no. 110663, 2021, doi: 10.1016/j.commatsci.2021.110663.</a:t>
            </a:r>
          </a:p>
        </p:txBody>
      </p:sp>
      <p:sp>
        <p:nvSpPr>
          <p:cNvPr id="6" name="">
            <a:extLst xmlns:a="http://schemas.openxmlformats.org/drawingml/2006/main">
              <a:ext uri="{FF2B5EF4-FFF2-40B4-BE49-F238E27FC236}">
                <a16:creationId xmlns:a16="http://schemas.microsoft.com/office/drawing/2014/main" id="{329E00D5-B901-49EE-80B3-994E2CADEEF0}"/>
              </a:ext>
            </a:extLst>
          </p:cNvPr>
          <p:cNvSpPr>
            <a:spLocks xmlns:a="http://schemas.openxmlformats.org/drawingml/2006/main" noGrp="1"/>
          </p:cNvSpPr>
          <p:nvPr/>
        </p:nvSpPr>
        <p:spPr>
          <a:xfrm xmlns:a="http://schemas.openxmlformats.org/drawingml/2006/main">
            <a:off x="400050" y="4191000"/>
            <a:ext cx="11372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63" b="0">
                <a:solidFill>
                  <a:srgbClr val="000000"/>
                </a:solidFill>
                <a:latin typeface="Times New Roman"/>
                <a:ea typeface="Times New Roman"/>
                <a:cs typeface="Times New Roman"/>
              </a:defRPr>
            </a:defPPr>
            <a:lvl1pPr algn="l">
              <a:defRPr sz="1463" b="0">
                <a:solidFill>
                  <a:srgbClr val="000000"/>
                </a:solidFill>
                <a:latin typeface="Times New Roman"/>
                <a:ea typeface="Times New Roman"/>
                <a:cs typeface="Times New Roman"/>
              </a:defRPr>
            </a:lvl1pPr>
            <a:lvl2pPr algn="l">
              <a:defRPr sz="1463" b="0">
                <a:solidFill>
                  <a:srgbClr val="000000"/>
                </a:solidFill>
                <a:latin typeface="Times New Roman"/>
                <a:ea typeface="Times New Roman"/>
                <a:cs typeface="Times New Roman"/>
              </a:defRPr>
            </a:lvl2pPr>
            <a:lvl3pPr algn="l">
              <a:defRPr sz="1463" b="0">
                <a:solidFill>
                  <a:srgbClr val="000000"/>
                </a:solidFill>
                <a:latin typeface="Times New Roman"/>
                <a:ea typeface="Times New Roman"/>
                <a:cs typeface="Times New Roman"/>
              </a:defRPr>
            </a:lvl3pPr>
            <a:lvl4pPr algn="l">
              <a:defRPr sz="1463" b="0">
                <a:solidFill>
                  <a:srgbClr val="000000"/>
                </a:solidFill>
                <a:latin typeface="Times New Roman"/>
                <a:ea typeface="Times New Roman"/>
                <a:cs typeface="Times New Roman"/>
              </a:defRPr>
            </a:lvl4pPr>
            <a:lvl5pPr algn="l">
              <a:defRPr sz="1463" b="0">
                <a:solidFill>
                  <a:srgbClr val="000000"/>
                </a:solidFill>
                <a:latin typeface="Times New Roman"/>
                <a:ea typeface="Times New Roman"/>
                <a:cs typeface="Times New Roman"/>
              </a:defRPr>
            </a:lvl5pPr>
            <a:lvl6pPr algn="l">
              <a:defRPr sz="1463" b="0">
                <a:solidFill>
                  <a:srgbClr val="000000"/>
                </a:solidFill>
                <a:latin typeface="Times New Roman"/>
                <a:ea typeface="Times New Roman"/>
                <a:cs typeface="Times New Roman"/>
              </a:defRPr>
            </a:lvl6pPr>
            <a:lvl7pPr algn="l">
              <a:defRPr sz="1463" b="0">
                <a:solidFill>
                  <a:srgbClr val="000000"/>
                </a:solidFill>
                <a:latin typeface="Times New Roman"/>
                <a:ea typeface="Times New Roman"/>
                <a:cs typeface="Times New Roman"/>
              </a:defRPr>
            </a:lvl7pPr>
            <a:lvl8pPr algn="l">
              <a:defRPr sz="1463" b="0">
                <a:solidFill>
                  <a:srgbClr val="000000"/>
                </a:solidFill>
                <a:latin typeface="Times New Roman"/>
                <a:ea typeface="Times New Roman"/>
                <a:cs typeface="Times New Roman"/>
              </a:defRPr>
            </a:lvl8pPr>
            <a:lvl9pPr algn="l">
              <a:defRPr sz="1463" b="0">
                <a:solidFill>
                  <a:srgbClr val="000000"/>
                </a:solidFill>
                <a:latin typeface="Times New Roman"/>
                <a:ea typeface="Times New Roman"/>
                <a:cs typeface="Times New Roman"/>
              </a:defRPr>
            </a:lvl9pPr>
          </a:lstStyle>
          <a:p xmlns:a="http://schemas.openxmlformats.org/drawingml/2006/main">
            <a:pPr algn="l">
              <a:defRPr sz="1463" b="0">
                <a:solidFill>
                  <a:srgbClr val="000000"/>
                </a:solidFill>
                <a:latin typeface="Times New Roman"/>
                <a:ea typeface="Times New Roman"/>
                <a:cs typeface="Times New Roman"/>
              </a:defRPr>
            </a:pPr>
            <a:r>
              <a:rPr sz="1463" b="0">
                <a:solidFill>
                  <a:srgbClr val="000000"/>
                </a:solidFill>
                <a:latin typeface="Times New Roman"/>
                <a:ea typeface="Times New Roman"/>
                <a:cs typeface="Times New Roman"/>
              </a:rPr>
              <a:t>[25] M. Mehdikhani, C. Breite, Y. Swolfs, M. Wevers, S. V. Lomov, L. Gorbatikh, “A dataset of micro-scale tomograms of unidirectional glass fiber/epoxy and carbon fiber/epoxy composites acquired via synchrotron computed tomography during in-situ tensile loading”, Data in Brief, vol. 34, Art. no. 106672, 2021, doi: 10.1016/j.dib.2020.106672.</a:t>
            </a:r>
          </a:p>
        </p:txBody>
      </p:sp>
      <p:sp>
        <p:nvSpPr>
          <p:cNvPr id="7" name="">
            <a:extLst xmlns:a="http://schemas.openxmlformats.org/drawingml/2006/main">
              <a:ext uri="{FF2B5EF4-FFF2-40B4-BE49-F238E27FC236}">
                <a16:creationId xmlns:a16="http://schemas.microsoft.com/office/drawing/2014/main" id="{14B6D39A-1B42-45F4-9B79-C122080BB23D}"/>
              </a:ext>
            </a:extLst>
          </p:cNvPr>
          <p:cNvSpPr>
            <a:spLocks xmlns:a="http://schemas.openxmlformats.org/drawingml/2006/main" noGrp="1"/>
          </p:cNvSpPr>
          <p:nvPr/>
        </p:nvSpPr>
        <p:spPr>
          <a:xfrm xmlns:a="http://schemas.openxmlformats.org/drawingml/2006/main">
            <a:off x="400050" y="5143500"/>
            <a:ext cx="11372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63" b="0">
                <a:solidFill>
                  <a:srgbClr val="000000"/>
                </a:solidFill>
                <a:latin typeface="Times New Roman"/>
                <a:ea typeface="Times New Roman"/>
                <a:cs typeface="Times New Roman"/>
              </a:defRPr>
            </a:defPPr>
            <a:lvl1pPr algn="l">
              <a:defRPr sz="1463" b="0">
                <a:solidFill>
                  <a:srgbClr val="000000"/>
                </a:solidFill>
                <a:latin typeface="Times New Roman"/>
                <a:ea typeface="Times New Roman"/>
                <a:cs typeface="Times New Roman"/>
              </a:defRPr>
            </a:lvl1pPr>
            <a:lvl2pPr algn="l">
              <a:defRPr sz="1463" b="0">
                <a:solidFill>
                  <a:srgbClr val="000000"/>
                </a:solidFill>
                <a:latin typeface="Times New Roman"/>
                <a:ea typeface="Times New Roman"/>
                <a:cs typeface="Times New Roman"/>
              </a:defRPr>
            </a:lvl2pPr>
            <a:lvl3pPr algn="l">
              <a:defRPr sz="1463" b="0">
                <a:solidFill>
                  <a:srgbClr val="000000"/>
                </a:solidFill>
                <a:latin typeface="Times New Roman"/>
                <a:ea typeface="Times New Roman"/>
                <a:cs typeface="Times New Roman"/>
              </a:defRPr>
            </a:lvl3pPr>
            <a:lvl4pPr algn="l">
              <a:defRPr sz="1463" b="0">
                <a:solidFill>
                  <a:srgbClr val="000000"/>
                </a:solidFill>
                <a:latin typeface="Times New Roman"/>
                <a:ea typeface="Times New Roman"/>
                <a:cs typeface="Times New Roman"/>
              </a:defRPr>
            </a:lvl4pPr>
            <a:lvl5pPr algn="l">
              <a:defRPr sz="1463" b="0">
                <a:solidFill>
                  <a:srgbClr val="000000"/>
                </a:solidFill>
                <a:latin typeface="Times New Roman"/>
                <a:ea typeface="Times New Roman"/>
                <a:cs typeface="Times New Roman"/>
              </a:defRPr>
            </a:lvl5pPr>
            <a:lvl6pPr algn="l">
              <a:defRPr sz="1463" b="0">
                <a:solidFill>
                  <a:srgbClr val="000000"/>
                </a:solidFill>
                <a:latin typeface="Times New Roman"/>
                <a:ea typeface="Times New Roman"/>
                <a:cs typeface="Times New Roman"/>
              </a:defRPr>
            </a:lvl6pPr>
            <a:lvl7pPr algn="l">
              <a:defRPr sz="1463" b="0">
                <a:solidFill>
                  <a:srgbClr val="000000"/>
                </a:solidFill>
                <a:latin typeface="Times New Roman"/>
                <a:ea typeface="Times New Roman"/>
                <a:cs typeface="Times New Roman"/>
              </a:defRPr>
            </a:lvl7pPr>
            <a:lvl8pPr algn="l">
              <a:defRPr sz="1463" b="0">
                <a:solidFill>
                  <a:srgbClr val="000000"/>
                </a:solidFill>
                <a:latin typeface="Times New Roman"/>
                <a:ea typeface="Times New Roman"/>
                <a:cs typeface="Times New Roman"/>
              </a:defRPr>
            </a:lvl8pPr>
            <a:lvl9pPr algn="l">
              <a:defRPr sz="1463" b="0">
                <a:solidFill>
                  <a:srgbClr val="000000"/>
                </a:solidFill>
                <a:latin typeface="Times New Roman"/>
                <a:ea typeface="Times New Roman"/>
                <a:cs typeface="Times New Roman"/>
              </a:defRPr>
            </a:lvl9pPr>
          </a:lstStyle>
          <a:p xmlns:a="http://schemas.openxmlformats.org/drawingml/2006/main">
            <a:pPr algn="l">
              <a:defRPr sz="1463" b="0">
                <a:solidFill>
                  <a:srgbClr val="000000"/>
                </a:solidFill>
                <a:latin typeface="Times New Roman"/>
                <a:ea typeface="Times New Roman"/>
                <a:cs typeface="Times New Roman"/>
              </a:defRPr>
            </a:pPr>
            <a:r>
              <a:rPr sz="1463" b="0">
                <a:solidFill>
                  <a:srgbClr val="000000"/>
                </a:solidFill>
                <a:latin typeface="Times New Roman"/>
                <a:ea typeface="Times New Roman"/>
                <a:cs typeface="Times New Roman"/>
              </a:rPr>
              <a:t>[28] M. Gopalakrishnan, S. Muthu, R. Subramanian, R. Santhanakrishnan, L. Karthigeyan, “Tensile Properties Study of E-Glass/Epoxy Laminate and π/4 Quasi-Isotropic E-Glass/Epoxy Laminate”, Polymers and Polymer Composites, vol. 24, no. 6, pp. 429-446, 2016, doi: 10.1177/096739111602400606.</a:t>
            </a:r>
          </a:p>
        </p:txBody>
      </p:sp>
      <p:sp>
        <p:nvSpPr>
          <p:cNvPr id="8" name="">
            <a:extLst xmlns:a="http://schemas.openxmlformats.org/drawingml/2006/main">
              <a:ext uri="{FF2B5EF4-FFF2-40B4-BE49-F238E27FC236}">
                <a16:creationId xmlns:a16="http://schemas.microsoft.com/office/drawing/2014/main" id="{D548B7CC-C30A-415A-B45C-1FE6C8138D9D}"/>
              </a:ext>
            </a:extLst>
          </p:cNvPr>
          <p:cNvSpPr>
            <a:spLocks xmlns:a="http://schemas.openxmlformats.org/drawingml/2006/main" noGrp="1"/>
          </p:cNvSpPr>
          <p:nvPr/>
        </p:nvSpPr>
        <p:spPr>
          <a:xfrm xmlns:a="http://schemas.openxmlformats.org/drawingml/2006/main">
            <a:off x="400050" y="6191250"/>
            <a:ext cx="11372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0">
                <a:solidFill>
                  <a:srgbClr val="000000"/>
                </a:solidFill>
                <a:latin typeface="Times New Roman"/>
                <a:ea typeface="Times New Roman"/>
                <a:cs typeface="Times New Roman"/>
              </a:defRPr>
            </a:defPPr>
            <a:lvl1pPr algn="l">
              <a:defRPr sz="1275" b="0">
                <a:solidFill>
                  <a:srgbClr val="000000"/>
                </a:solidFill>
                <a:latin typeface="Times New Roman"/>
                <a:ea typeface="Times New Roman"/>
                <a:cs typeface="Times New Roman"/>
              </a:defRPr>
            </a:lvl1pPr>
            <a:lvl2pPr algn="l">
              <a:defRPr sz="1275" b="0">
                <a:solidFill>
                  <a:srgbClr val="000000"/>
                </a:solidFill>
                <a:latin typeface="Times New Roman"/>
                <a:ea typeface="Times New Roman"/>
                <a:cs typeface="Times New Roman"/>
              </a:defRPr>
            </a:lvl2pPr>
            <a:lvl3pPr algn="l">
              <a:defRPr sz="1275" b="0">
                <a:solidFill>
                  <a:srgbClr val="000000"/>
                </a:solidFill>
                <a:latin typeface="Times New Roman"/>
                <a:ea typeface="Times New Roman"/>
                <a:cs typeface="Times New Roman"/>
              </a:defRPr>
            </a:lvl3pPr>
            <a:lvl4pPr algn="l">
              <a:defRPr sz="1275" b="0">
                <a:solidFill>
                  <a:srgbClr val="000000"/>
                </a:solidFill>
                <a:latin typeface="Times New Roman"/>
                <a:ea typeface="Times New Roman"/>
                <a:cs typeface="Times New Roman"/>
              </a:defRPr>
            </a:lvl4pPr>
            <a:lvl5pPr algn="l">
              <a:defRPr sz="1275" b="0">
                <a:solidFill>
                  <a:srgbClr val="000000"/>
                </a:solidFill>
                <a:latin typeface="Times New Roman"/>
                <a:ea typeface="Times New Roman"/>
                <a:cs typeface="Times New Roman"/>
              </a:defRPr>
            </a:lvl5pPr>
            <a:lvl6pPr algn="l">
              <a:defRPr sz="1275" b="0">
                <a:solidFill>
                  <a:srgbClr val="000000"/>
                </a:solidFill>
                <a:latin typeface="Times New Roman"/>
                <a:ea typeface="Times New Roman"/>
                <a:cs typeface="Times New Roman"/>
              </a:defRPr>
            </a:lvl6pPr>
            <a:lvl7pPr algn="l">
              <a:defRPr sz="1275" b="0">
                <a:solidFill>
                  <a:srgbClr val="000000"/>
                </a:solidFill>
                <a:latin typeface="Times New Roman"/>
                <a:ea typeface="Times New Roman"/>
                <a:cs typeface="Times New Roman"/>
              </a:defRPr>
            </a:lvl7pPr>
            <a:lvl8pPr algn="l">
              <a:defRPr sz="1275" b="0">
                <a:solidFill>
                  <a:srgbClr val="000000"/>
                </a:solidFill>
                <a:latin typeface="Times New Roman"/>
                <a:ea typeface="Times New Roman"/>
                <a:cs typeface="Times New Roman"/>
              </a:defRPr>
            </a:lvl8pPr>
            <a:lvl9pPr algn="l">
              <a:defRPr sz="1275" b="0">
                <a:solidFill>
                  <a:srgbClr val="000000"/>
                </a:solidFill>
                <a:latin typeface="Times New Roman"/>
                <a:ea typeface="Times New Roman"/>
                <a:cs typeface="Times New Roman"/>
              </a:defRPr>
            </a:lvl9pPr>
          </a:lstStyle>
          <a:p xmlns:a="http://schemas.openxmlformats.org/drawingml/2006/main">
            <a:pPr algn="l">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Full 35-source IEEE bibliography and review matrix: project report Chapter 2 and References. Numbering matches that report.</a:t>
            </a:r>
          </a:p>
        </p:txBody>
      </p:sp>
    </p:spTree>
    <p:extLst>
      <p:ext uri="{BB962C8B-B14F-4D97-AF65-F5344CB8AC3E}">
        <p14:creationId xmlns:p14="http://schemas.microsoft.com/office/powerpoint/2010/main" val="144106105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2026-10-25T16:43:46.5700000Z</dcterms:created>
  <dcterms:modified xsi:type="dcterms:W3CDTF">2026-10-25T16:43:46.5700000Z</dcterms:modified>
</coreProperties>
</file>